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322" r:id="rId5"/>
    <p:sldId id="320" r:id="rId6"/>
    <p:sldId id="319" r:id="rId7"/>
    <p:sldId id="333" r:id="rId8"/>
    <p:sldId id="334" r:id="rId9"/>
    <p:sldId id="335" r:id="rId10"/>
    <p:sldId id="318" r:id="rId11"/>
    <p:sldId id="338" r:id="rId12"/>
    <p:sldId id="324" r:id="rId13"/>
    <p:sldId id="327" r:id="rId14"/>
    <p:sldId id="325" r:id="rId15"/>
    <p:sldId id="326" r:id="rId16"/>
    <p:sldId id="257" r:id="rId17"/>
    <p:sldId id="259" r:id="rId18"/>
    <p:sldId id="328" r:id="rId19"/>
    <p:sldId id="331" r:id="rId20"/>
    <p:sldId id="332" r:id="rId21"/>
    <p:sldId id="330" r:id="rId22"/>
    <p:sldId id="258" r:id="rId23"/>
    <p:sldId id="336" r:id="rId24"/>
    <p:sldId id="337" r:id="rId25"/>
    <p:sldId id="256" r:id="rId26"/>
    <p:sldId id="339" r:id="rId27"/>
    <p:sldId id="321" r:id="rId28"/>
    <p:sldId id="31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0" autoAdjust="0"/>
    <p:restoredTop sz="95388" autoAdjust="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4/29/2026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0939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  <p:sldLayoutId id="2147483695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878" y="1028713"/>
            <a:ext cx="5185821" cy="3681073"/>
          </a:xfrm>
        </p:spPr>
        <p:txBody>
          <a:bodyPr>
            <a:normAutofit/>
          </a:bodyPr>
          <a:lstStyle/>
          <a:p>
            <a:r>
              <a:rPr lang="pt-BR" sz="3000" dirty="0"/>
              <a:t>Modelagem matemática do impacto do crescimento bacteriano em ambientes costeiros e implicações para a saúde de surfistas</a:t>
            </a:r>
            <a:br>
              <a:rPr lang="pt-BR" sz="3000" dirty="0"/>
            </a:br>
            <a:br>
              <a:rPr lang="pt-BR" sz="3000" dirty="0"/>
            </a:br>
            <a:endParaRPr lang="en-US" sz="3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75AC1-0663-725B-B73B-4BA5C6334C32}"/>
              </a:ext>
            </a:extLst>
          </p:cNvPr>
          <p:cNvSpPr txBox="1"/>
          <p:nvPr/>
        </p:nvSpPr>
        <p:spPr>
          <a:xfrm>
            <a:off x="1396652" y="4089748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2"/>
                </a:solidFill>
              </a:rPr>
              <a:t>Bruno Cavalli</a:t>
            </a: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D0E47E-D228-15EB-5886-33E9AA18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302" y="357716"/>
            <a:ext cx="8784892" cy="5060722"/>
          </a:xfrm>
        </p:spPr>
        <p:txBody>
          <a:bodyPr>
            <a:normAutofit/>
          </a:bodyPr>
          <a:lstStyle/>
          <a:p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Motivação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Pergunta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0C84EAF-E8B9-933E-4EF1-ADA137224B34}"/>
              </a:ext>
            </a:extLst>
          </p:cNvPr>
          <p:cNvSpPr txBox="1"/>
          <p:nvPr/>
        </p:nvSpPr>
        <p:spPr>
          <a:xfrm>
            <a:off x="989302" y="1649627"/>
            <a:ext cx="10768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Calibri" panose="020F0502020204030204" pitchFamily="34" charset="0"/>
                <a:cs typeface="Calibri" panose="020F0502020204030204" pitchFamily="34" charset="0"/>
              </a:rPr>
              <a:t>Observação real: Pessoas ficando doentes após banhar em praias poluídas.</a:t>
            </a:r>
          </a:p>
          <a:p>
            <a:br>
              <a:rPr lang="pt-BR" dirty="0"/>
            </a:br>
            <a:endParaRPr lang="en-US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6A9C257-4D5A-946E-516F-E8929487DB06}"/>
              </a:ext>
            </a:extLst>
          </p:cNvPr>
          <p:cNvSpPr txBox="1"/>
          <p:nvPr/>
        </p:nvSpPr>
        <p:spPr>
          <a:xfrm>
            <a:off x="1056503" y="4677032"/>
            <a:ext cx="105526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cs typeface="Calibri" panose="020F0502020204030204" pitchFamily="34" charset="0"/>
              </a:rPr>
              <a:t>Mudanças climáticas podem influenciar a proliferação bacteriana em praias?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cs typeface="Calibri" panose="020F0502020204030204" pitchFamily="34" charset="0"/>
              </a:rPr>
              <a:t>Isso pode aumentar riscos à saúde para surfistas e banhistas? </a:t>
            </a:r>
          </a:p>
          <a:p>
            <a:br>
              <a:rPr lang="pt-BR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118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0FEFBF-60FD-0161-6F6E-89EE39389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15" y="-62792"/>
            <a:ext cx="9923770" cy="1438762"/>
          </a:xfrm>
        </p:spPr>
        <p:txBody>
          <a:bodyPr/>
          <a:lstStyle/>
          <a:p>
            <a:r>
              <a:rPr lang="en-US" b="1" dirty="0" err="1"/>
              <a:t>Modelagem</a:t>
            </a:r>
            <a:r>
              <a:rPr lang="en-US" b="1" dirty="0"/>
              <a:t>/</a:t>
            </a:r>
            <a:r>
              <a:rPr lang="en-US" b="1" dirty="0" err="1"/>
              <a:t>Objetivo</a:t>
            </a:r>
            <a:endParaRPr lang="en-ZA" b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D542008-8017-76E5-ABC0-3240106887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34115" y="2275224"/>
            <a:ext cx="9923770" cy="1368256"/>
          </a:xfrm>
        </p:spPr>
        <p:txBody>
          <a:bodyPr/>
          <a:lstStyle/>
          <a:p>
            <a:r>
              <a:rPr lang="pt-BR" dirty="0"/>
              <a:t>A proposta é utilizar modelos matemáticos para descrever como o aumento da temperatura pode influenciar o crescimento bacteriano em ambientes costeiros e, a partir disso, analisar possíveis implicações para o risco microbiológico em praias.</a:t>
            </a:r>
          </a:p>
          <a:p>
            <a:br>
              <a:rPr lang="pt-BR" dirty="0"/>
            </a:br>
            <a:endParaRPr lang="en-US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926D86C-0DB2-F77D-C7D7-31F938F38D0E}"/>
              </a:ext>
            </a:extLst>
          </p:cNvPr>
          <p:cNvSpPr txBox="1"/>
          <p:nvPr/>
        </p:nvSpPr>
        <p:spPr>
          <a:xfrm>
            <a:off x="1266568" y="4232189"/>
            <a:ext cx="35093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Crescimento</a:t>
            </a:r>
            <a:r>
              <a:rPr lang="en-US" dirty="0"/>
              <a:t> </a:t>
            </a:r>
            <a:r>
              <a:rPr lang="en-US" dirty="0" err="1"/>
              <a:t>Exponencial</a:t>
            </a:r>
            <a:endParaRPr lang="en-US" dirty="0"/>
          </a:p>
          <a:p>
            <a:br>
              <a:rPr lang="en-US" dirty="0"/>
            </a:br>
            <a:endParaRPr lang="en-US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2DFDED0-A64F-6F6E-4C3A-8E7DF33D17CF}"/>
              </a:ext>
            </a:extLst>
          </p:cNvPr>
          <p:cNvSpPr txBox="1"/>
          <p:nvPr/>
        </p:nvSpPr>
        <p:spPr>
          <a:xfrm>
            <a:off x="4510216" y="4232189"/>
            <a:ext cx="3583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Ratkowsky</a:t>
            </a:r>
            <a:endParaRPr lang="en-US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E789D78-1BF4-1801-7BAE-68F25A468862}"/>
              </a:ext>
            </a:extLst>
          </p:cNvPr>
          <p:cNvSpPr txBox="1"/>
          <p:nvPr/>
        </p:nvSpPr>
        <p:spPr>
          <a:xfrm>
            <a:off x="6576502" y="4232189"/>
            <a:ext cx="4481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Distribuição</a:t>
            </a:r>
            <a:r>
              <a:rPr lang="en-US" dirty="0"/>
              <a:t> de Poisson</a:t>
            </a:r>
          </a:p>
        </p:txBody>
      </p:sp>
    </p:spTree>
    <p:extLst>
      <p:ext uri="{BB962C8B-B14F-4D97-AF65-F5344CB8AC3E}">
        <p14:creationId xmlns:p14="http://schemas.microsoft.com/office/powerpoint/2010/main" val="3421680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449AD-311A-1CB1-4E7E-3E070E2AC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942FEF4-FB76-6BBE-131C-F2B86F54E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115" y="-62792"/>
            <a:ext cx="9923770" cy="1438762"/>
          </a:xfrm>
        </p:spPr>
        <p:txBody>
          <a:bodyPr/>
          <a:lstStyle/>
          <a:p>
            <a:r>
              <a:rPr lang="en-US" b="1" dirty="0" err="1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Aumento</a:t>
            </a:r>
            <a:r>
              <a:rPr lang="en-US" b="1" dirty="0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da </a:t>
            </a:r>
            <a:r>
              <a:rPr lang="en-US" b="1" dirty="0" err="1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Temperatura</a:t>
            </a:r>
            <a:r>
              <a:rPr lang="en-US" b="1" dirty="0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dos </a:t>
            </a:r>
            <a:r>
              <a:rPr lang="en-US" b="1" dirty="0" err="1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Oceanos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FE08E6A1-32D7-1CD4-B2DF-35B1B50FC01F}"/>
              </a:ext>
            </a:extLst>
          </p:cNvPr>
          <p:cNvSpPr/>
          <p:nvPr/>
        </p:nvSpPr>
        <p:spPr>
          <a:xfrm>
            <a:off x="1134115" y="1783080"/>
            <a:ext cx="2651760" cy="16459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9DDEF16D-03F9-B229-BE13-DE4A4309201B}"/>
              </a:ext>
            </a:extLst>
          </p:cNvPr>
          <p:cNvSpPr/>
          <p:nvPr/>
        </p:nvSpPr>
        <p:spPr>
          <a:xfrm>
            <a:off x="1134115" y="1920240"/>
            <a:ext cx="2651760" cy="7406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+1,46°C</a:t>
            </a:r>
            <a:endParaRPr lang="en-US" sz="220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37184E2C-3E2E-D7B7-9A16-DA6C9F58FE0B}"/>
              </a:ext>
            </a:extLst>
          </p:cNvPr>
          <p:cNvSpPr/>
          <p:nvPr/>
        </p:nvSpPr>
        <p:spPr>
          <a:xfrm>
            <a:off x="1134115" y="2573122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 da média pré-industrial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2024 (NOAA)</a:t>
            </a:r>
            <a:endParaRPr lang="en-US" sz="10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6D5FE7E1-D01A-4A4B-3ADD-FC4F350CFA7E}"/>
              </a:ext>
            </a:extLst>
          </p:cNvPr>
          <p:cNvSpPr/>
          <p:nvPr/>
        </p:nvSpPr>
        <p:spPr>
          <a:xfrm>
            <a:off x="4608755" y="1799396"/>
            <a:ext cx="2651760" cy="1645920"/>
          </a:xfrm>
          <a:prstGeom prst="rect">
            <a:avLst/>
          </a:prstGeom>
          <a:solidFill>
            <a:srgbClr val="58696B"/>
          </a:solidFill>
          <a:ln w="12700">
            <a:solidFill>
              <a:srgbClr val="586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1DC99D1F-443B-8062-D4D0-4D6EE0A23824}"/>
              </a:ext>
            </a:extLst>
          </p:cNvPr>
          <p:cNvSpPr/>
          <p:nvPr/>
        </p:nvSpPr>
        <p:spPr>
          <a:xfrm>
            <a:off x="4608755" y="1936556"/>
            <a:ext cx="2651760" cy="7406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8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57B9683B-73DE-8A58-D8C3-CF24F2237569}"/>
              </a:ext>
            </a:extLst>
          </p:cNvPr>
          <p:cNvSpPr/>
          <p:nvPr/>
        </p:nvSpPr>
        <p:spPr>
          <a:xfrm>
            <a:off x="4608755" y="2589438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calor excedente do planeta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absorvido pelos oceanos</a:t>
            </a:r>
            <a:endParaRPr lang="en-US" sz="1000" dirty="0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DB1237B6-5E9F-48F8-C55D-EA4A8A0F3F04}"/>
              </a:ext>
            </a:extLst>
          </p:cNvPr>
          <p:cNvSpPr/>
          <p:nvPr/>
        </p:nvSpPr>
        <p:spPr>
          <a:xfrm>
            <a:off x="8083395" y="1799396"/>
            <a:ext cx="2651760" cy="164592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71BDB9AA-0108-2C4A-F20C-FD0D2EB41112}"/>
              </a:ext>
            </a:extLst>
          </p:cNvPr>
          <p:cNvSpPr/>
          <p:nvPr/>
        </p:nvSpPr>
        <p:spPr>
          <a:xfrm>
            <a:off x="8083395" y="1936556"/>
            <a:ext cx="2651760" cy="740664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mais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</a:t>
            </a:r>
            <a:endParaRPr lang="en-US" sz="22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A2EC6673-7FBB-CF90-FA57-3E571D0C2E03}"/>
              </a:ext>
            </a:extLst>
          </p:cNvPr>
          <p:cNvSpPr/>
          <p:nvPr/>
        </p:nvSpPr>
        <p:spPr>
          <a:xfrm>
            <a:off x="8083395" y="2589438"/>
            <a:ext cx="2651760" cy="82296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aquecimento oceânico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dobrou nos últimos 20 anos (UNESCO)</a:t>
            </a:r>
            <a:endParaRPr lang="en-US" sz="10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88D2B1AB-621C-D27A-697C-BF57122F305B}"/>
              </a:ext>
            </a:extLst>
          </p:cNvPr>
          <p:cNvSpPr/>
          <p:nvPr/>
        </p:nvSpPr>
        <p:spPr>
          <a:xfrm>
            <a:off x="1134115" y="3785617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foi o ano mais quente já registrado para os oceanos, superando 2023 pelo segundo ano consecutivo.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10 anos mais quentes desde 1850 ocorreram todos na última década.</a:t>
            </a:r>
            <a:endParaRPr lang="en-US" sz="13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6F862D98-8F37-04B6-44C1-76A0894E614D}"/>
              </a:ext>
            </a:extLst>
          </p:cNvPr>
          <p:cNvSpPr/>
          <p:nvPr/>
        </p:nvSpPr>
        <p:spPr>
          <a:xfrm>
            <a:off x="913504" y="652003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NOAA (2024), UNESCO State of the Ocean Report (2024), WMO (2024)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450250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0715FB26-18A4-21A2-32AD-A6B4E7027025}"/>
              </a:ext>
            </a:extLst>
          </p:cNvPr>
          <p:cNvSpPr/>
          <p:nvPr/>
        </p:nvSpPr>
        <p:spPr>
          <a:xfrm>
            <a:off x="934122" y="277189"/>
            <a:ext cx="110947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Ambientes Costeiros como Sistemas Sensíveis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C163EBF7-4F4A-2132-8144-9845070E0C52}"/>
              </a:ext>
            </a:extLst>
          </p:cNvPr>
          <p:cNvSpPr/>
          <p:nvPr/>
        </p:nvSpPr>
        <p:spPr>
          <a:xfrm>
            <a:off x="934122" y="1350085"/>
            <a:ext cx="110947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costeiras concentram alta biodiversidade, população humana e atividade recreativa — e são as primeiras a sentir os efeitos do aquecimento.</a:t>
            </a:r>
            <a:endParaRPr lang="en-US" sz="1733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8975E247-AA56-C0E2-D8B4-C33B013369BF}"/>
              </a:ext>
            </a:extLst>
          </p:cNvPr>
          <p:cNvSpPr/>
          <p:nvPr/>
        </p:nvSpPr>
        <p:spPr>
          <a:xfrm>
            <a:off x="934122" y="2679013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mais alta</a:t>
            </a:r>
            <a:endParaRPr lang="en-US" sz="16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E1120344-0A89-598F-7439-F14E60C00B24}"/>
              </a:ext>
            </a:extLst>
          </p:cNvPr>
          <p:cNvSpPr/>
          <p:nvPr/>
        </p:nvSpPr>
        <p:spPr>
          <a:xfrm>
            <a:off x="934122" y="3044773"/>
            <a:ext cx="53644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Águas rasas aquecem mais rápido que oceano aberto — praias tropicais como as do RJ atingem 26–30°C no verão.</a:t>
            </a:r>
            <a:endParaRPr lang="en-US" sz="1467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C66B64DF-BDF1-7376-E210-51D9B393C17D}"/>
              </a:ext>
            </a:extLst>
          </p:cNvPr>
          <p:cNvSpPr/>
          <p:nvPr/>
        </p:nvSpPr>
        <p:spPr>
          <a:xfrm>
            <a:off x="934122" y="4081093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Estratificação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da coluna d'água</a:t>
            </a:r>
            <a:endParaRPr lang="en-US" sz="16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510ED1FC-823B-3ED6-630F-CE48349B22AC}"/>
              </a:ext>
            </a:extLst>
          </p:cNvPr>
          <p:cNvSpPr/>
          <p:nvPr/>
        </p:nvSpPr>
        <p:spPr>
          <a:xfrm>
            <a:off x="934122" y="4446853"/>
            <a:ext cx="53644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Temperaturas elevadas reduzem a mistura vertical, concentrando nutrientes e bactérias na superfície.</a:t>
            </a:r>
            <a:endParaRPr lang="en-US" sz="1467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71886257-741E-72EE-6777-121E4F9E5804}"/>
              </a:ext>
            </a:extLst>
          </p:cNvPr>
          <p:cNvSpPr/>
          <p:nvPr/>
        </p:nvSpPr>
        <p:spPr>
          <a:xfrm>
            <a:off x="6603402" y="2679013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Proliferação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microbiana</a:t>
            </a:r>
            <a:endParaRPr lang="en-US" sz="16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2FAA6AD6-34D8-5BAE-26BD-F24161599996}"/>
              </a:ext>
            </a:extLst>
          </p:cNvPr>
          <p:cNvSpPr/>
          <p:nvPr/>
        </p:nvSpPr>
        <p:spPr>
          <a:xfrm>
            <a:off x="6603402" y="3044773"/>
            <a:ext cx="53644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e nutrientes elevados criam condições ideais para crescimento acelerado de bactérias indicadoras como E. coli e Enterococcus.</a:t>
            </a:r>
            <a:endParaRPr lang="en-US" sz="1467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61CA0B01-ED15-7E69-DC78-D307B999709D}"/>
              </a:ext>
            </a:extLst>
          </p:cNvPr>
          <p:cNvSpPr/>
          <p:nvPr/>
        </p:nvSpPr>
        <p:spPr>
          <a:xfrm>
            <a:off x="6603402" y="4081093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Runoff e esgotos</a:t>
            </a:r>
            <a:endParaRPr lang="en-US" sz="160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D2B4A84C-7F64-F072-13E6-958F0ABE757B}"/>
              </a:ext>
            </a:extLst>
          </p:cNvPr>
          <p:cNvSpPr/>
          <p:nvPr/>
        </p:nvSpPr>
        <p:spPr>
          <a:xfrm>
            <a:off x="6603402" y="4446853"/>
            <a:ext cx="53644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Chuvas intensas (mais frequentes com o clima) arrastam contaminantes fecais para o mar — aumentando a carga bacteriana nas praias.</a:t>
            </a:r>
            <a:endParaRPr lang="en-US" sz="1467" dirty="0"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5ADC3E99-4ABA-2EBF-A764-93948E4AFAC6}"/>
              </a:ext>
            </a:extLst>
          </p:cNvPr>
          <p:cNvSpPr/>
          <p:nvPr/>
        </p:nvSpPr>
        <p:spPr>
          <a:xfrm>
            <a:off x="6420522" y="2081605"/>
            <a:ext cx="36576" cy="438912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40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022E99F8-B206-6CB1-44CA-BF955F139428}"/>
              </a:ext>
            </a:extLst>
          </p:cNvPr>
          <p:cNvSpPr/>
          <p:nvPr/>
        </p:nvSpPr>
        <p:spPr>
          <a:xfrm>
            <a:off x="1333948" y="38404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Implicações para Saúde e Recreação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09B9EE87-913F-BCB5-0778-50BAB608255C}"/>
              </a:ext>
            </a:extLst>
          </p:cNvPr>
          <p:cNvSpPr/>
          <p:nvPr/>
        </p:nvSpPr>
        <p:spPr>
          <a:xfrm>
            <a:off x="1333948" y="11887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i="1" dirty="0">
                <a:solidFill>
                  <a:srgbClr val="333333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Surfistas e banhistas são expostos diretamente à água do mar — e estudos mostram risco elevado de doenças infecciosas em águas costeiras contaminadas.</a:t>
            </a:r>
            <a:endParaRPr lang="en-US" sz="1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DCC102AB-1690-347B-9237-8551AAE45B16}"/>
              </a:ext>
            </a:extLst>
          </p:cNvPr>
          <p:cNvSpPr/>
          <p:nvPr/>
        </p:nvSpPr>
        <p:spPr>
          <a:xfrm>
            <a:off x="1358153" y="2011680"/>
            <a:ext cx="2651760" cy="1554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565ABD79-C75C-E4E4-8D40-2E0E64E5482D}"/>
              </a:ext>
            </a:extLst>
          </p:cNvPr>
          <p:cNvSpPr/>
          <p:nvPr/>
        </p:nvSpPr>
        <p:spPr>
          <a:xfrm>
            <a:off x="1358153" y="2148840"/>
            <a:ext cx="2651760" cy="69951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120M</a:t>
            </a:r>
            <a:endParaRPr lang="en-US" sz="28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764A9D99-E21E-0A28-B990-774D956B5AC8}"/>
              </a:ext>
            </a:extLst>
          </p:cNvPr>
          <p:cNvSpPr/>
          <p:nvPr/>
        </p:nvSpPr>
        <p:spPr>
          <a:xfrm>
            <a:off x="1358153" y="275783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doenças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gastrointestinais/ano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praias do mundo</a:t>
            </a:r>
            <a:endParaRPr lang="en-US" sz="100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51AF7B3B-92CD-5014-C5AD-78D7063C2208}"/>
              </a:ext>
            </a:extLst>
          </p:cNvPr>
          <p:cNvSpPr/>
          <p:nvPr/>
        </p:nvSpPr>
        <p:spPr>
          <a:xfrm>
            <a:off x="4238513" y="2011680"/>
            <a:ext cx="2651760" cy="1554480"/>
          </a:xfrm>
          <a:prstGeom prst="rect">
            <a:avLst/>
          </a:prstGeom>
          <a:solidFill>
            <a:srgbClr val="58696B"/>
          </a:solidFill>
          <a:ln w="12700">
            <a:solidFill>
              <a:srgbClr val="586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F6162D32-4ACF-7558-67D0-B2A13B32B475}"/>
              </a:ext>
            </a:extLst>
          </p:cNvPr>
          <p:cNvSpPr/>
          <p:nvPr/>
        </p:nvSpPr>
        <p:spPr>
          <a:xfrm>
            <a:off x="4238513" y="2148840"/>
            <a:ext cx="2651760" cy="69951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28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D994D785-3EC6-B0EC-0A2E-51EF0A54CD2B}"/>
              </a:ext>
            </a:extLst>
          </p:cNvPr>
          <p:cNvSpPr/>
          <p:nvPr/>
        </p:nvSpPr>
        <p:spPr>
          <a:xfrm>
            <a:off x="4238513" y="275783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 de exceder o limite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risco da EPA em condições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pós-chuva (para surfistas)</a:t>
            </a:r>
            <a:endParaRPr lang="en-US" sz="1000" dirty="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ED05CA79-8862-DD5B-76F2-6DCC4E34A1B5}"/>
              </a:ext>
            </a:extLst>
          </p:cNvPr>
          <p:cNvSpPr/>
          <p:nvPr/>
        </p:nvSpPr>
        <p:spPr>
          <a:xfrm>
            <a:off x="7118873" y="2011680"/>
            <a:ext cx="2651760" cy="155448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194E28B6-756A-0BA5-D860-0E1328BA2BFF}"/>
              </a:ext>
            </a:extLst>
          </p:cNvPr>
          <p:cNvSpPr/>
          <p:nvPr/>
        </p:nvSpPr>
        <p:spPr>
          <a:xfrm>
            <a:off x="7118873" y="2148840"/>
            <a:ext cx="2651760" cy="69951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28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3FB1742E-3AD4-CAD5-2DE1-3DC234DB3E02}"/>
              </a:ext>
            </a:extLst>
          </p:cNvPr>
          <p:cNvSpPr/>
          <p:nvPr/>
        </p:nvSpPr>
        <p:spPr>
          <a:xfrm>
            <a:off x="7118873" y="275783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risco de infecção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ouvido para surfistas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chuvas (Arnold et al., 2017)</a:t>
            </a:r>
            <a:endParaRPr lang="en-US" sz="10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B96C4823-F54C-2BB1-6B17-E844C6EC4AE8}"/>
              </a:ext>
            </a:extLst>
          </p:cNvPr>
          <p:cNvSpPr/>
          <p:nvPr/>
        </p:nvSpPr>
        <p:spPr>
          <a:xfrm>
            <a:off x="1333948" y="401843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Doenças mais comuns por exposição à água marinha contaminada:</a:t>
            </a:r>
            <a:endParaRPr lang="en-US" sz="16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4BDA6B5F-7624-E0FE-F2DB-07C68F93B6B7}"/>
              </a:ext>
            </a:extLst>
          </p:cNvPr>
          <p:cNvSpPr/>
          <p:nvPr/>
        </p:nvSpPr>
        <p:spPr>
          <a:xfrm>
            <a:off x="1333948" y="45510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Gastrointestinal</a:t>
            </a:r>
            <a:endParaRPr lang="en-US" sz="12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6C0CE797-6949-D0C2-292C-6BEEABEC0863}"/>
              </a:ext>
            </a:extLst>
          </p:cNvPr>
          <p:cNvSpPr/>
          <p:nvPr/>
        </p:nvSpPr>
        <p:spPr>
          <a:xfrm>
            <a:off x="3208468" y="455106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Náusea, vômito, diarreia — causada por E. coli, Vibrio, norovírus</a:t>
            </a:r>
            <a:endParaRPr lang="en-US" sz="105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6B5AF5C9-CDE2-ACBE-27AA-293A26273EB3}"/>
              </a:ext>
            </a:extLst>
          </p:cNvPr>
          <p:cNvSpPr/>
          <p:nvPr/>
        </p:nvSpPr>
        <p:spPr>
          <a:xfrm>
            <a:off x="1333948" y="50539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Otite</a:t>
            </a: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externa</a:t>
            </a:r>
            <a:endParaRPr lang="en-US" sz="12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4010D1FE-1079-49AD-AAB8-185644ADB031}"/>
              </a:ext>
            </a:extLst>
          </p:cNvPr>
          <p:cNvSpPr/>
          <p:nvPr/>
        </p:nvSpPr>
        <p:spPr>
          <a:xfrm>
            <a:off x="3208468" y="50539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Infecção de ouvido — risco 3× maior em surfistas vs não-banhistas</a:t>
            </a:r>
            <a:endParaRPr lang="en-US" sz="105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91DD9F3D-D995-CA1A-2770-C972918585B1}"/>
              </a:ext>
            </a:extLst>
          </p:cNvPr>
          <p:cNvSpPr/>
          <p:nvPr/>
        </p:nvSpPr>
        <p:spPr>
          <a:xfrm>
            <a:off x="5540188" y="45510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Conjuntivite</a:t>
            </a:r>
            <a:endParaRPr lang="en-US" sz="120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BE32399F-1598-AFD0-9757-69D1DEC5BA1D}"/>
              </a:ext>
            </a:extLst>
          </p:cNvPr>
          <p:cNvSpPr/>
          <p:nvPr/>
        </p:nvSpPr>
        <p:spPr>
          <a:xfrm>
            <a:off x="7414708" y="455106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Irritação ocular por exposição a águas com alta carga bacteriana</a:t>
            </a:r>
            <a:endParaRPr lang="en-US" sz="105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BBBBA12E-86F3-1548-800B-A95456666528}"/>
              </a:ext>
            </a:extLst>
          </p:cNvPr>
          <p:cNvSpPr/>
          <p:nvPr/>
        </p:nvSpPr>
        <p:spPr>
          <a:xfrm>
            <a:off x="5540188" y="50539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2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Infecção</a:t>
            </a: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feridas</a:t>
            </a:r>
            <a:endParaRPr lang="en-US" sz="12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2DA12BF1-764C-9DF3-D39F-AD107C6E4F16}"/>
              </a:ext>
            </a:extLst>
          </p:cNvPr>
          <p:cNvSpPr/>
          <p:nvPr/>
        </p:nvSpPr>
        <p:spPr>
          <a:xfrm>
            <a:off x="7414708" y="505398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5× maior após chuvas — bactérias como Vibrio vulnificus</a:t>
            </a:r>
            <a:endParaRPr lang="en-US" sz="105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A34ADCF5-44F3-45FB-5A55-4C4FBE6423C3}"/>
              </a:ext>
            </a:extLst>
          </p:cNvPr>
          <p:cNvSpPr/>
          <p:nvPr/>
        </p:nvSpPr>
        <p:spPr>
          <a:xfrm>
            <a:off x="956534" y="6619539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Arnold et al. (2017), Tseng &amp; Jiang (2012), Beachapedia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864551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D9F312D3-3DD0-C464-16C6-6B5AA532AA9F}"/>
              </a:ext>
            </a:extLst>
          </p:cNvPr>
          <p:cNvSpPr/>
          <p:nvPr/>
        </p:nvSpPr>
        <p:spPr>
          <a:xfrm>
            <a:off x="1685306" y="2576576"/>
            <a:ext cx="2934730" cy="10070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Modelo 1: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Crescimento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Exponencial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modelo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Malthusiano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ZA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44AB73C-538F-A916-CC14-40AEE8295767}"/>
              </a:ext>
            </a:extLst>
          </p:cNvPr>
          <p:cNvSpPr txBox="1"/>
          <p:nvPr/>
        </p:nvSpPr>
        <p:spPr>
          <a:xfrm>
            <a:off x="1572509" y="1507524"/>
            <a:ext cx="96412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Calibri" panose="020F0502020204030204" pitchFamily="34" charset="0"/>
                <a:cs typeface="Calibri" panose="020F0502020204030204" pitchFamily="34" charset="0"/>
              </a:rPr>
              <a:t>Descreve como uma população bacteriana cresce ao longo de um curto período tempo quando a taxa de crescimento é proporcional à população existente.</a:t>
            </a:r>
          </a:p>
          <a:p>
            <a:br>
              <a:rPr lang="pt-BR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8081C706-69D8-095E-98D7-53182E947384}"/>
                  </a:ext>
                </a:extLst>
              </p:cNvPr>
              <p:cNvSpPr txBox="1"/>
              <p:nvPr/>
            </p:nvSpPr>
            <p:spPr>
              <a:xfrm>
                <a:off x="1952520" y="2715758"/>
                <a:ext cx="2264376" cy="7012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𝑑𝑁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𝑟𝑁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8081C706-69D8-095E-98D7-53182E947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2520" y="2715758"/>
                <a:ext cx="2264376" cy="7012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FE601A19-05A6-6C27-5EBC-4DEE61F653DD}"/>
                  </a:ext>
                </a:extLst>
              </p:cNvPr>
              <p:cNvSpPr txBox="1"/>
              <p:nvPr/>
            </p:nvSpPr>
            <p:spPr>
              <a:xfrm>
                <a:off x="1087395" y="4201297"/>
                <a:ext cx="1012636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Onde: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concentração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inicial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de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bactérias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taxa de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crescimento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tempo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FE601A19-05A6-6C27-5EBC-4DEE61F65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395" y="4201297"/>
                <a:ext cx="10126362" cy="1477328"/>
              </a:xfrm>
              <a:prstGeom prst="rect">
                <a:avLst/>
              </a:prstGeom>
              <a:blipFill>
                <a:blip r:embed="rId3"/>
                <a:stretch>
                  <a:fillRect l="-481" t="-2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43F33911-2DA8-A4BC-FC4B-66FA6CF8E68A}"/>
                  </a:ext>
                </a:extLst>
              </p:cNvPr>
              <p:cNvSpPr/>
              <p:nvPr/>
            </p:nvSpPr>
            <p:spPr>
              <a:xfrm>
                <a:off x="6809483" y="2570718"/>
                <a:ext cx="2934730" cy="100707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pt-B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pt-B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𝑟𝑡</m:t>
                          </m:r>
                        </m:sup>
                      </m:sSup>
                    </m:oMath>
                  </m:oMathPara>
                </a14:m>
                <a:endParaRPr lang="en-US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id="{43F33911-2DA8-A4BC-FC4B-66FA6CF8E6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9483" y="2570718"/>
                <a:ext cx="2934730" cy="10070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8ECEECE-18B8-8BE5-6B63-A5DD64CF5B9D}"/>
              </a:ext>
            </a:extLst>
          </p:cNvPr>
          <p:cNvSpPr txBox="1"/>
          <p:nvPr/>
        </p:nvSpPr>
        <p:spPr>
          <a:xfrm>
            <a:off x="1274618" y="5874327"/>
            <a:ext cx="9134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Hipótese</a:t>
            </a:r>
            <a:r>
              <a:rPr lang="en-US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central: r </a:t>
            </a:r>
            <a:r>
              <a:rPr lang="en-US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constante</a:t>
            </a:r>
            <a:r>
              <a:rPr lang="en-US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válida</a:t>
            </a:r>
            <a:r>
              <a:rPr lang="en-US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fase</a:t>
            </a:r>
            <a:r>
              <a:rPr lang="en-US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inicial</a:t>
            </a:r>
            <a:r>
              <a:rPr lang="en-US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(log) do </a:t>
            </a:r>
            <a:r>
              <a:rPr lang="en-US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</a:t>
            </a:r>
            <a:r>
              <a:rPr lang="en-US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bacteriano</a:t>
            </a:r>
            <a:r>
              <a:rPr lang="en-US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C20F8F-F959-8ED2-7932-0B1946611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Derivação</a:t>
            </a:r>
            <a:r>
              <a:rPr lang="en-US" b="1" dirty="0"/>
              <a:t> do Modelo </a:t>
            </a:r>
            <a:r>
              <a:rPr lang="en-US" b="1" dirty="0" err="1"/>
              <a:t>Exponencial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31C6D8D-EC9F-8EDB-B88B-270C5F933259}"/>
                  </a:ext>
                </a:extLst>
              </p:cNvPr>
              <p:cNvSpPr txBox="1"/>
              <p:nvPr/>
            </p:nvSpPr>
            <p:spPr>
              <a:xfrm>
                <a:off x="5152255" y="1931437"/>
                <a:ext cx="1298432" cy="7012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𝑑𝑁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31C6D8D-EC9F-8EDB-B88B-270C5F933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2255" y="1931437"/>
                <a:ext cx="1298432" cy="7012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F7254AFA-352E-8DA7-6C8A-4A08B7BB2CA4}"/>
                  </a:ext>
                </a:extLst>
              </p:cNvPr>
              <p:cNvSpPr txBox="1"/>
              <p:nvPr/>
            </p:nvSpPr>
            <p:spPr>
              <a:xfrm>
                <a:off x="5115385" y="3079577"/>
                <a:ext cx="1372171" cy="6988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𝑑𝑁</m:t>
                          </m:r>
                        </m:num>
                        <m:den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F7254AFA-352E-8DA7-6C8A-4A08B7BB2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5385" y="3079577"/>
                <a:ext cx="1372171" cy="6988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CB21B3D6-74DA-14CB-845F-5DC3B21D5D33}"/>
                  </a:ext>
                </a:extLst>
              </p:cNvPr>
              <p:cNvSpPr txBox="1"/>
              <p:nvPr/>
            </p:nvSpPr>
            <p:spPr>
              <a:xfrm>
                <a:off x="4960740" y="4225345"/>
                <a:ext cx="188641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400" i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func>
                      <m:r>
                        <a:rPr lang="de-DE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CB21B3D6-74DA-14CB-845F-5DC3B21D5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740" y="4225345"/>
                <a:ext cx="1886414" cy="369332"/>
              </a:xfrm>
              <a:prstGeom prst="rect">
                <a:avLst/>
              </a:prstGeom>
              <a:blipFill>
                <a:blip r:embed="rId4"/>
                <a:stretch>
                  <a:fillRect l="-3236" r="-2265" b="-29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33324983-966A-1695-859C-D1D878997FE9}"/>
                  </a:ext>
                </a:extLst>
              </p:cNvPr>
              <p:cNvSpPr txBox="1"/>
              <p:nvPr/>
            </p:nvSpPr>
            <p:spPr>
              <a:xfrm>
                <a:off x="5340402" y="5041599"/>
                <a:ext cx="14075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33324983-966A-1695-859C-D1D878997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402" y="5041599"/>
                <a:ext cx="1407500" cy="276999"/>
              </a:xfrm>
              <a:prstGeom prst="rect">
                <a:avLst/>
              </a:prstGeom>
              <a:blipFill>
                <a:blip r:embed="rId5"/>
                <a:stretch>
                  <a:fillRect l="-3030" r="-866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aixaDeTexto 9">
            <a:extLst>
              <a:ext uri="{FF2B5EF4-FFF2-40B4-BE49-F238E27FC236}">
                <a16:creationId xmlns:a16="http://schemas.microsoft.com/office/drawing/2014/main" id="{96207DD3-C17C-AA44-7591-3614EB921159}"/>
              </a:ext>
            </a:extLst>
          </p:cNvPr>
          <p:cNvSpPr txBox="1"/>
          <p:nvPr/>
        </p:nvSpPr>
        <p:spPr>
          <a:xfrm>
            <a:off x="1966528" y="2120681"/>
            <a:ext cx="2994212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</a:t>
            </a:r>
            <a:r>
              <a:rPr lang="en-US" dirty="0" err="1"/>
              <a:t>Equa</a:t>
            </a:r>
            <a:r>
              <a:rPr lang="pt-BR" dirty="0" err="1"/>
              <a:t>ção</a:t>
            </a:r>
            <a:r>
              <a:rPr lang="pt-BR" dirty="0"/>
              <a:t> Inicial</a:t>
            </a:r>
            <a:endParaRPr lang="en-US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91DA308-D9DB-679A-B22A-CE72907D9746}"/>
              </a:ext>
            </a:extLst>
          </p:cNvPr>
          <p:cNvSpPr txBox="1"/>
          <p:nvPr/>
        </p:nvSpPr>
        <p:spPr>
          <a:xfrm>
            <a:off x="1966528" y="3012141"/>
            <a:ext cx="2115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2. </a:t>
            </a:r>
            <a:r>
              <a:rPr lang="pt-BR" dirty="0"/>
              <a:t>Separação de Variáveis</a:t>
            </a:r>
            <a:endParaRPr lang="en-US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9613E9A-2368-44FD-AE55-479456416725}"/>
              </a:ext>
            </a:extLst>
          </p:cNvPr>
          <p:cNvSpPr txBox="1"/>
          <p:nvPr/>
        </p:nvSpPr>
        <p:spPr>
          <a:xfrm>
            <a:off x="1966528" y="4173414"/>
            <a:ext cx="172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3. </a:t>
            </a:r>
            <a:r>
              <a:rPr lang="pt-BR" dirty="0"/>
              <a:t>Integração</a:t>
            </a:r>
            <a:endParaRPr lang="en-US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DF2C5D1-478A-6834-284C-EC3E5A168868}"/>
              </a:ext>
            </a:extLst>
          </p:cNvPr>
          <p:cNvSpPr txBox="1"/>
          <p:nvPr/>
        </p:nvSpPr>
        <p:spPr>
          <a:xfrm>
            <a:off x="1966528" y="5057688"/>
            <a:ext cx="2366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4. </a:t>
            </a:r>
            <a:r>
              <a:rPr lang="pt-BR" dirty="0"/>
              <a:t>Solução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340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41640-8B08-BBFA-3ED0-AC9CA34A1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CC46F24C-8992-74D1-4DF2-A2F55F88E3EB}"/>
              </a:ext>
            </a:extLst>
          </p:cNvPr>
          <p:cNvSpPr/>
          <p:nvPr/>
        </p:nvSpPr>
        <p:spPr>
          <a:xfrm>
            <a:off x="4576787" y="2564402"/>
            <a:ext cx="2934730" cy="10070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F07B6D-D9FB-8E5A-B575-3A193123B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>
            <a:no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Modelo 2: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Ratkowsky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ZA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F3307C0-2702-A72C-457B-AA6300B13C21}"/>
              </a:ext>
            </a:extLst>
          </p:cNvPr>
          <p:cNvSpPr txBox="1"/>
          <p:nvPr/>
        </p:nvSpPr>
        <p:spPr>
          <a:xfrm>
            <a:off x="1468815" y="1376096"/>
            <a:ext cx="97449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Relaciona a taxa de crescimento bacteriano com a temperatura. O modelo de Ratkowsky foi originalmente desenvolvido e calibrado para bactérias como </a:t>
            </a:r>
            <a:r>
              <a:rPr lang="pt-BR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 coli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pt-BR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Enterococcus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pt-BR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B5820018-1BCB-62D4-AD32-1F56E4CD7514}"/>
                  </a:ext>
                </a:extLst>
              </p:cNvPr>
              <p:cNvSpPr txBox="1"/>
              <p:nvPr/>
            </p:nvSpPr>
            <p:spPr>
              <a:xfrm>
                <a:off x="4878936" y="2877246"/>
                <a:ext cx="2434128" cy="3731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fr-FR" sz="24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fr-FR" sz="2400" i="1" dirty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rad>
                      <m:r>
                        <a:rPr lang="fr-FR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i="1" dirty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fr-FR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fr-FR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B5820018-1BCB-62D4-AD32-1F56E4CD7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936" y="2877246"/>
                <a:ext cx="2434128" cy="373115"/>
              </a:xfrm>
              <a:prstGeom prst="rect">
                <a:avLst/>
              </a:prstGeom>
              <a:blipFill>
                <a:blip r:embed="rId2"/>
                <a:stretch>
                  <a:fillRect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51B2592D-20A9-C930-3B16-E57CA431E0F7}"/>
                  </a:ext>
                </a:extLst>
              </p:cNvPr>
              <p:cNvSpPr txBox="1"/>
              <p:nvPr/>
            </p:nvSpPr>
            <p:spPr>
              <a:xfrm>
                <a:off x="1087395" y="4201297"/>
                <a:ext cx="1012636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Onde: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temperatura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da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água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ar-AE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temperatura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mínima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de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crescimento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constante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experimental – Um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maior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significa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uma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sensibiladade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maior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da bacteria a </a:t>
                </a:r>
                <a:r>
                  <a:rPr lang="en-US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temperatura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51B2592D-20A9-C930-3B16-E57CA431E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395" y="4201297"/>
                <a:ext cx="10126362" cy="1477328"/>
              </a:xfrm>
              <a:prstGeom prst="rect">
                <a:avLst/>
              </a:prstGeom>
              <a:blipFill>
                <a:blip r:embed="rId3"/>
                <a:stretch>
                  <a:fillRect l="-481" t="-2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0177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01412BC5-311A-8E9F-995F-FF19B6A2219F}"/>
              </a:ext>
            </a:extLst>
          </p:cNvPr>
          <p:cNvSpPr/>
          <p:nvPr/>
        </p:nvSpPr>
        <p:spPr>
          <a:xfrm>
            <a:off x="1237128" y="1818950"/>
            <a:ext cx="9995647" cy="870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4F88350-1EC0-785C-3E24-25D42BC16689}"/>
              </a:ext>
            </a:extLst>
          </p:cNvPr>
          <p:cNvSpPr txBox="1"/>
          <p:nvPr/>
        </p:nvSpPr>
        <p:spPr>
          <a:xfrm>
            <a:off x="1057835" y="259976"/>
            <a:ext cx="10174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/>
              <a:t>Por que relacionar com temperatura?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3FA2A1B-6C2F-166A-9899-D2D9E4009998}"/>
                  </a:ext>
                </a:extLst>
              </p:cNvPr>
              <p:cNvSpPr txBox="1"/>
              <p:nvPr/>
            </p:nvSpPr>
            <p:spPr>
              <a:xfrm>
                <a:off x="1325078" y="2002536"/>
                <a:ext cx="954184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3200" i="0" smtClean="0">
                          <a:latin typeface="Cambria Math" panose="02040503050406030204" pitchFamily="18" charset="0"/>
                        </a:rPr>
                        <m:t>Temperatura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↑ ⟹ 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↑ ⟹ </m:t>
                      </m:r>
                      <m:r>
                        <m:rPr>
                          <m:nor/>
                        </m:rPr>
                        <a:rPr lang="en-US" sz="3200" i="0" smtClean="0">
                          <a:latin typeface="Cambria Math" panose="02040503050406030204" pitchFamily="18" charset="0"/>
                        </a:rPr>
                        <m:t>Concentra</m:t>
                      </m:r>
                      <m:r>
                        <m:rPr>
                          <m:nor/>
                        </m:rPr>
                        <a:rPr lang="en-US" sz="3200" i="0" smtClean="0">
                          <a:latin typeface="Cambria Math" panose="02040503050406030204" pitchFamily="18" charset="0"/>
                        </a:rPr>
                        <m:t>çã</m:t>
                      </m:r>
                      <m:r>
                        <m:rPr>
                          <m:nor/>
                        </m:rPr>
                        <a:rPr lang="en-US" sz="3200" i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m:rPr>
                          <m:nor/>
                        </m:rPr>
                        <a:rPr lang="en-US" sz="320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3200" i="0" smtClean="0">
                          <a:latin typeface="Cambria Math" panose="02040503050406030204" pitchFamily="18" charset="0"/>
                        </a:rPr>
                        <m:t>bacteriana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↑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3FA2A1B-6C2F-166A-9899-D2D9E4009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078" y="2002536"/>
                <a:ext cx="9541843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3">
            <a:extLst>
              <a:ext uri="{FF2B5EF4-FFF2-40B4-BE49-F238E27FC236}">
                <a16:creationId xmlns:a16="http://schemas.microsoft.com/office/drawing/2014/main" id="{20C302E3-C611-1C16-AE26-5A4F4B93F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331" y="379207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temperatura é um dos principais fatores que influenciam o crescimento microbiano.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Muitas bactérias apresentam aumento na taxa de reprodução em temperaturas mais elevadas.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Mudanças climáticas tornam a temperatura uma variável ambiental particularmente relevante.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Isso faz da temperatura uma variável natural para modelar possíveis alterações na concentração bacteriana. </a:t>
            </a:r>
          </a:p>
        </p:txBody>
      </p:sp>
    </p:spTree>
    <p:extLst>
      <p:ext uri="{BB962C8B-B14F-4D97-AF65-F5344CB8AC3E}">
        <p14:creationId xmlns:p14="http://schemas.microsoft.com/office/powerpoint/2010/main" val="93996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F915A-421E-FCFD-5A40-498058BCB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F40E4777-B7A0-A349-50CA-5282187B8C89}"/>
              </a:ext>
            </a:extLst>
          </p:cNvPr>
          <p:cNvSpPr/>
          <p:nvPr/>
        </p:nvSpPr>
        <p:spPr>
          <a:xfrm>
            <a:off x="4576787" y="2564402"/>
            <a:ext cx="2934730" cy="10070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DAFF0D-CF75-67DD-9141-1DE25C9FF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>
            <a:noAutofit/>
          </a:bodyPr>
          <a:lstStyle/>
          <a:p>
            <a:r>
              <a:rPr lang="pt-BR" dirty="0">
                <a:latin typeface="Calibri" panose="020F0502020204030204" pitchFamily="34" charset="0"/>
                <a:cs typeface="Calibri" panose="020F0502020204030204" pitchFamily="34" charset="0"/>
              </a:rPr>
              <a:t>Modelo 3: Distribuição de Poisson</a:t>
            </a:r>
            <a:br>
              <a:rPr lang="pt-BR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pt-BR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ZA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001A3CE-A2B3-DA40-7484-9419C0D4B8D0}"/>
              </a:ext>
            </a:extLst>
          </p:cNvPr>
          <p:cNvSpPr txBox="1"/>
          <p:nvPr/>
        </p:nvSpPr>
        <p:spPr>
          <a:xfrm>
            <a:off x="1468815" y="1376096"/>
            <a:ext cx="97449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Calibri" panose="020F0502020204030204" pitchFamily="34" charset="0"/>
                <a:cs typeface="Calibri" panose="020F0502020204030204" pitchFamily="34" charset="0"/>
              </a:rPr>
              <a:t>Modelar a variabilidade na contagem de bactérias em amostras de água.</a:t>
            </a:r>
          </a:p>
          <a:p>
            <a:br>
              <a:rPr lang="pt-BR" dirty="0"/>
            </a:br>
            <a:br>
              <a:rPr lang="pt-BR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E0F6F2EE-356A-A772-2013-47C2E60C8130}"/>
                  </a:ext>
                </a:extLst>
              </p:cNvPr>
              <p:cNvSpPr txBox="1"/>
              <p:nvPr/>
            </p:nvSpPr>
            <p:spPr>
              <a:xfrm>
                <a:off x="4878936" y="2877246"/>
                <a:ext cx="2434128" cy="3731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fr-FR" sz="2400" i="1" dirty="0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fr-FR" sz="2400" i="1" dirty="0" smtClean="0">
                          <a:latin typeface="Cambria Math" panose="02040503050406030204" pitchFamily="18" charset="0"/>
                        </a:rPr>
                        <m:t>𝑃𝑜𝑖𝑠𝑠𝑜𝑛</m:t>
                      </m:r>
                      <m:d>
                        <m:dPr>
                          <m:ctrlPr>
                            <a:rPr lang="fr-FR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E0F6F2EE-356A-A772-2013-47C2E60C8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936" y="2877246"/>
                <a:ext cx="2434128" cy="373115"/>
              </a:xfrm>
              <a:prstGeom prst="rect">
                <a:avLst/>
              </a:prstGeom>
              <a:blipFill>
                <a:blip r:embed="rId2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012E2DC8-7BB6-4E4F-AA50-C3AA174D39B0}"/>
                  </a:ext>
                </a:extLst>
              </p:cNvPr>
              <p:cNvSpPr txBox="1"/>
              <p:nvPr/>
            </p:nvSpPr>
            <p:spPr>
              <a:xfrm>
                <a:off x="1087395" y="4201297"/>
                <a:ext cx="1012636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>
                    <a:latin typeface="Calibri" panose="020F0502020204030204" pitchFamily="34" charset="0"/>
                    <a:cs typeface="Calibri" panose="020F0502020204030204" pitchFamily="34" charset="0"/>
                  </a:rPr>
                  <a:t>Onde: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número observado de bactérias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pt-BR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valor esperado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012E2DC8-7BB6-4E4F-AA50-C3AA174D3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395" y="4201297"/>
                <a:ext cx="10126362" cy="1200329"/>
              </a:xfrm>
              <a:prstGeom prst="rect">
                <a:avLst/>
              </a:prstGeom>
              <a:blipFill>
                <a:blip r:embed="rId3"/>
                <a:stretch>
                  <a:fillRect l="-481" t="-2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0780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8667C-2A49-6943-E400-307AAAF2B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C18CD-D3DC-1C4F-079A-C51A3D9E8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8801" y="108115"/>
            <a:ext cx="3164969" cy="1427585"/>
          </a:xfrm>
        </p:spPr>
        <p:txBody>
          <a:bodyPr>
            <a:noAutofit/>
          </a:bodyPr>
          <a:lstStyle/>
          <a:p>
            <a:r>
              <a:rPr lang="pt-BR" b="1" dirty="0">
                <a:latin typeface="Calibri" panose="020F0502020204030204" pitchFamily="34" charset="0"/>
                <a:cs typeface="Calibri" panose="020F0502020204030204" pitchFamily="34" charset="0"/>
              </a:rPr>
              <a:t>Modelo Final</a:t>
            </a:r>
            <a:endParaRPr lang="en-ZA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792D541-221B-CEE9-1FCE-F830241675D9}"/>
              </a:ext>
            </a:extLst>
          </p:cNvPr>
          <p:cNvSpPr txBox="1"/>
          <p:nvPr/>
        </p:nvSpPr>
        <p:spPr>
          <a:xfrm>
            <a:off x="1073398" y="1675702"/>
            <a:ext cx="9744942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latin typeface="Calibri" panose="020F0502020204030204" pitchFamily="34" charset="0"/>
                <a:cs typeface="Calibri" panose="020F0502020204030204" pitchFamily="34" charset="0"/>
              </a:rPr>
              <a:t>Integração dos modelos</a:t>
            </a:r>
            <a:endParaRPr lang="pt-BR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cs typeface="Calibri" panose="020F0502020204030204" pitchFamily="34" charset="0"/>
              </a:rPr>
              <a:t>Exponencial → crescimento básico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cs typeface="Calibri" panose="020F0502020204030204" pitchFamily="34" charset="0"/>
              </a:rPr>
              <a:t>Ratkowsky → efeito da temperatura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cs typeface="Calibri" panose="020F0502020204030204" pitchFamily="34" charset="0"/>
              </a:rPr>
              <a:t>Poisson → variabilidade probabilística</a:t>
            </a:r>
          </a:p>
          <a:p>
            <a:br>
              <a:rPr lang="pt-BR" dirty="0"/>
            </a:br>
            <a:br>
              <a:rPr lang="pt-BR" dirty="0"/>
            </a:br>
            <a:endParaRPr lang="en-US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BD705AF-C89E-5005-3002-11816B3F1BC5}"/>
              </a:ext>
            </a:extLst>
          </p:cNvPr>
          <p:cNvSpPr/>
          <p:nvPr/>
        </p:nvSpPr>
        <p:spPr>
          <a:xfrm>
            <a:off x="4150480" y="3114277"/>
            <a:ext cx="4369504" cy="16060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C45BF65E-CF08-514D-DF0B-A31ECDCA808D}"/>
                  </a:ext>
                </a:extLst>
              </p:cNvPr>
              <p:cNvSpPr txBox="1"/>
              <p:nvPr/>
            </p:nvSpPr>
            <p:spPr>
              <a:xfrm>
                <a:off x="4535779" y="3615977"/>
                <a:ext cx="3598905" cy="4898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sSup>
                            <m:sSup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d>
                                    <m:dPr>
                                      <m:ctrlP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  <m:r>
                                        <a:rPr lang="pt-BR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pt-BR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8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pt-BR" sz="2800" i="1">
                                              <a:latin typeface="Cambria Math" panose="02040503050406030204" pitchFamily="18" charset="0"/>
                                            </a:rPr>
                                            <m:t>𝑚𝑖𝑛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C45BF65E-CF08-514D-DF0B-A31ECDCA8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5779" y="3615977"/>
                <a:ext cx="3598905" cy="4898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CA04FD49-F5A7-D489-CF56-312BAD2D032A}"/>
              </a:ext>
            </a:extLst>
          </p:cNvPr>
          <p:cNvSpPr txBox="1"/>
          <p:nvPr/>
        </p:nvSpPr>
        <p:spPr>
          <a:xfrm>
            <a:off x="1073398" y="5146589"/>
            <a:ext cx="10616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Esse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modelo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representa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fase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inicial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crescimento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bacteriano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em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condi</a:t>
            </a:r>
            <a:r>
              <a:rPr lang="pt-BR" dirty="0" err="1">
                <a:latin typeface="Calibri" panose="020F0502020204030204" pitchFamily="34" charset="0"/>
                <a:cs typeface="Calibri" panose="020F0502020204030204" pitchFamily="34" charset="0"/>
              </a:rPr>
              <a:t>ções</a:t>
            </a:r>
            <a:r>
              <a:rPr lang="pt-BR" dirty="0">
                <a:latin typeface="Calibri" panose="020F0502020204030204" pitchFamily="34" charset="0"/>
                <a:cs typeface="Calibri" panose="020F0502020204030204" pitchFamily="34" charset="0"/>
              </a:rPr>
              <a:t> ideais.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9837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68224"/>
            <a:ext cx="110947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 Papel de λ no Modelo Probabilístico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Distribuição de Poisson, λ é o único parâmetro — e ele carrega dois papéis ao mesmo tempo.</a:t>
            </a:r>
            <a:endParaRPr lang="en-US" sz="1667" dirty="0"/>
          </a:p>
        </p:txBody>
      </p:sp>
      <p:sp>
        <p:nvSpPr>
          <p:cNvPr id="5" name="Shape 3"/>
          <p:cNvSpPr/>
          <p:nvPr/>
        </p:nvSpPr>
        <p:spPr>
          <a:xfrm>
            <a:off x="548640" y="1889760"/>
            <a:ext cx="5242560" cy="2072640"/>
          </a:xfrm>
          <a:prstGeom prst="rect">
            <a:avLst/>
          </a:prstGeom>
          <a:solidFill>
            <a:srgbClr val="58696B"/>
          </a:solidFill>
          <a:ln w="12700">
            <a:solidFill>
              <a:srgbClr val="586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036064"/>
            <a:ext cx="52425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E[X] = λ</a:t>
            </a:r>
            <a:endParaRPr lang="en-US" sz="3467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5242560" cy="9948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é a média esperada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bactérias na amostra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6400800" y="1889760"/>
            <a:ext cx="5242560" cy="2072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0" y="2036064"/>
            <a:ext cx="52425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Var(X) = λ</a:t>
            </a:r>
            <a:endParaRPr lang="en-US" sz="2667" dirty="0"/>
          </a:p>
        </p:txBody>
      </p:sp>
      <p:sp>
        <p:nvSpPr>
          <p:cNvPr id="10" name="Text 8"/>
          <p:cNvSpPr/>
          <p:nvPr/>
        </p:nvSpPr>
        <p:spPr>
          <a:xfrm>
            <a:off x="6400800" y="2926080"/>
            <a:ext cx="5242560" cy="9948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também é a variância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incerteza cresce com a média</a:t>
            </a:r>
            <a:endParaRPr lang="en-US" sz="1333" dirty="0"/>
          </a:p>
        </p:txBody>
      </p:sp>
      <p:sp>
        <p:nvSpPr>
          <p:cNvPr id="11" name="Text 9"/>
          <p:cNvSpPr/>
          <p:nvPr/>
        </p:nvSpPr>
        <p:spPr>
          <a:xfrm>
            <a:off x="5827776" y="25603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733" b="1" dirty="0">
                <a:solidFill>
                  <a:srgbClr val="CA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3733" dirty="0"/>
          </a:p>
        </p:txBody>
      </p:sp>
      <p:sp>
        <p:nvSpPr>
          <p:cNvPr id="12" name="Shape 10"/>
          <p:cNvSpPr/>
          <p:nvPr/>
        </p:nvSpPr>
        <p:spPr>
          <a:xfrm>
            <a:off x="548640" y="4145280"/>
            <a:ext cx="11094720" cy="1036320"/>
          </a:xfrm>
          <a:prstGeom prst="rect">
            <a:avLst/>
          </a:prstGeom>
          <a:solidFill>
            <a:srgbClr val="EEF3F4"/>
          </a:solidFill>
          <a:ln w="12700">
            <a:solidFill>
              <a:srgbClr val="586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42062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modelo: </a:t>
            </a:r>
            <a:r>
              <a:rPr lang="en-US" sz="1533" b="1" dirty="0">
                <a:solidFill>
                  <a:srgbClr val="58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N(t) = N₀ · e^{[a(T−Tₘᵢₙ)]²·t}</a:t>
            </a:r>
            <a:endParaRPr lang="en-US" sz="1533" dirty="0"/>
          </a:p>
          <a:p>
            <a:endParaRPr lang="en-US" sz="1533" dirty="0"/>
          </a:p>
          <a:p>
            <a:r>
              <a:rPr lang="en-US" sz="1533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não é um parâmetro fixo — depende diretamente da temperatura T e do tempo t.</a:t>
            </a:r>
            <a:endParaRPr lang="en-US" sz="1533" dirty="0"/>
          </a:p>
        </p:txBody>
      </p:sp>
      <p:sp>
        <p:nvSpPr>
          <p:cNvPr id="14" name="Text 12"/>
          <p:cNvSpPr/>
          <p:nvPr/>
        </p:nvSpPr>
        <p:spPr>
          <a:xfrm>
            <a:off x="548640" y="5340096"/>
            <a:ext cx="1109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implica na prática: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0560" y="5791200"/>
            <a:ext cx="109728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4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sobe → λ cresce exponencialmente → média E[X] e variância Var(X) sobem juntas</a:t>
            </a:r>
            <a:endParaRPr lang="en-US" sz="1467" dirty="0"/>
          </a:p>
        </p:txBody>
      </p:sp>
      <p:sp>
        <p:nvSpPr>
          <p:cNvPr id="16" name="Text 14"/>
          <p:cNvSpPr/>
          <p:nvPr/>
        </p:nvSpPr>
        <p:spPr>
          <a:xfrm>
            <a:off x="670560" y="6120384"/>
            <a:ext cx="109728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4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 = 15°C: λ ≈ 122 — distribuição estreita, risco previsível</a:t>
            </a:r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670560" y="6449568"/>
            <a:ext cx="109728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4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 = 30°C: λ explode — distribuição muito larga, risco imprevisível e alto</a:t>
            </a:r>
            <a:endParaRPr lang="en-US" sz="1467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68224"/>
            <a:ext cx="110947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Hipóteses e Limitações do Modelo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é uma simplificação da realidade. Conhecer as hipóteses é essencial para interpretar os resultados corretamente.</a:t>
            </a:r>
            <a:endParaRPr lang="en-US" sz="1667" dirty="0"/>
          </a:p>
        </p:txBody>
      </p:sp>
      <p:sp>
        <p:nvSpPr>
          <p:cNvPr id="5" name="Text 3"/>
          <p:cNvSpPr/>
          <p:nvPr/>
        </p:nvSpPr>
        <p:spPr>
          <a:xfrm>
            <a:off x="548640" y="1889760"/>
            <a:ext cx="536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Hipóteses assumidas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364480" cy="1158240"/>
          </a:xfrm>
          <a:prstGeom prst="rect">
            <a:avLst/>
          </a:prstGeom>
          <a:solidFill>
            <a:srgbClr val="EEF3F4"/>
          </a:solidFill>
          <a:ln w="12700">
            <a:solidFill>
              <a:srgbClr val="586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70560" y="2438400"/>
            <a:ext cx="51206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</a:t>
            </a:r>
            <a:r>
              <a:rPr lang="en-US" sz="1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constante no tempo</a:t>
            </a:r>
            <a:endParaRPr lang="en-US" sz="1467" dirty="0"/>
          </a:p>
        </p:txBody>
      </p:sp>
      <p:sp>
        <p:nvSpPr>
          <p:cNvPr id="8" name="Text 6"/>
          <p:cNvSpPr/>
          <p:nvPr/>
        </p:nvSpPr>
        <p:spPr>
          <a:xfrm>
            <a:off x="670560" y="2779776"/>
            <a:ext cx="5120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assume temperatura fixa durante toda a simulação. Na realidade, T varia ao longo do dia e da maré.</a:t>
            </a:r>
            <a:endParaRPr lang="en-US" sz="1333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5364480" cy="1158240"/>
          </a:xfrm>
          <a:prstGeom prst="rect">
            <a:avLst/>
          </a:prstGeom>
          <a:solidFill>
            <a:srgbClr val="EEF3F4"/>
          </a:solidFill>
          <a:ln w="12700">
            <a:solidFill>
              <a:srgbClr val="586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0560" y="3718560"/>
            <a:ext cx="51206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Fase exponencial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670560" y="4059936"/>
            <a:ext cx="5120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de Malthus vale na fase inicial. Crescimento real tende a desacelerar por limitação de nutrientes (modelo logístico).</a:t>
            </a:r>
            <a:endParaRPr lang="en-US" sz="1333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5364480" cy="1158240"/>
          </a:xfrm>
          <a:prstGeom prst="rect">
            <a:avLst/>
          </a:prstGeom>
          <a:solidFill>
            <a:srgbClr val="EEF3F4"/>
          </a:solidFill>
          <a:ln w="12700">
            <a:solidFill>
              <a:srgbClr val="586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0560" y="4998720"/>
            <a:ext cx="51206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Poisson como distribuição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670560" y="5340096"/>
            <a:ext cx="5120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média = variância. Contagens reais de bactérias frequentemente apresentam superdispersão (Var &gt; Média).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6071616" y="1889760"/>
            <a:ext cx="36576" cy="384048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78880" y="1889760"/>
            <a:ext cx="536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e </a:t>
            </a:r>
            <a:r>
              <a:rPr lang="en-US" sz="1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possíveis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melhorias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78880" y="2377440"/>
            <a:ext cx="5364480" cy="1158240"/>
          </a:xfrm>
          <a:prstGeom prst="rect">
            <a:avLst/>
          </a:prstGeom>
          <a:solidFill>
            <a:srgbClr val="FFF3F0"/>
          </a:solidFill>
          <a:ln w="12700">
            <a:solidFill>
              <a:srgbClr val="CA55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0" y="2438400"/>
            <a:ext cx="51206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CA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Binomial Negativa</a:t>
            </a:r>
            <a:endParaRPr lang="en-US" sz="1467" dirty="0"/>
          </a:p>
        </p:txBody>
      </p:sp>
      <p:sp>
        <p:nvSpPr>
          <p:cNvPr id="19" name="Text 17"/>
          <p:cNvSpPr/>
          <p:nvPr/>
        </p:nvSpPr>
        <p:spPr>
          <a:xfrm>
            <a:off x="6400800" y="2779776"/>
            <a:ext cx="5120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à Poisson para dados superdispersos — mais adequada para contagens bacterianas reais em campo.</a:t>
            </a:r>
            <a:endParaRPr lang="en-US" sz="1333" dirty="0"/>
          </a:p>
        </p:txBody>
      </p:sp>
      <p:sp>
        <p:nvSpPr>
          <p:cNvPr id="20" name="Shape 18"/>
          <p:cNvSpPr/>
          <p:nvPr/>
        </p:nvSpPr>
        <p:spPr>
          <a:xfrm>
            <a:off x="6278880" y="3657600"/>
            <a:ext cx="5364480" cy="1158240"/>
          </a:xfrm>
          <a:prstGeom prst="rect">
            <a:avLst/>
          </a:prstGeom>
          <a:solidFill>
            <a:srgbClr val="FFF3F0"/>
          </a:solidFill>
          <a:ln w="12700">
            <a:solidFill>
              <a:srgbClr val="CA55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0" y="3718560"/>
            <a:ext cx="51206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CA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Logístico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6400800" y="4059936"/>
            <a:ext cx="5120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 capacidade de suporte K, limitando o crescimento. Mais realista para longos períodos de tempo.</a:t>
            </a:r>
            <a:endParaRPr lang="en-US" sz="1333" dirty="0"/>
          </a:p>
        </p:txBody>
      </p:sp>
      <p:sp>
        <p:nvSpPr>
          <p:cNvPr id="23" name="Shape 21"/>
          <p:cNvSpPr/>
          <p:nvPr/>
        </p:nvSpPr>
        <p:spPr>
          <a:xfrm>
            <a:off x="6278880" y="4937760"/>
            <a:ext cx="5364480" cy="1158240"/>
          </a:xfrm>
          <a:prstGeom prst="rect">
            <a:avLst/>
          </a:prstGeom>
          <a:solidFill>
            <a:srgbClr val="FFF3F0"/>
          </a:solidFill>
          <a:ln w="12700">
            <a:solidFill>
              <a:srgbClr val="CA55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0" y="4998720"/>
            <a:ext cx="51206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CA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variável no tempo</a:t>
            </a:r>
            <a:endParaRPr lang="en-US" sz="1467" dirty="0"/>
          </a:p>
        </p:txBody>
      </p:sp>
      <p:sp>
        <p:nvSpPr>
          <p:cNvPr id="25" name="Text 23"/>
          <p:cNvSpPr/>
          <p:nvPr/>
        </p:nvSpPr>
        <p:spPr>
          <a:xfrm>
            <a:off x="6400800" y="5340096"/>
            <a:ext cx="5120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Substituir T por T(t) torna o expoente uma integral — aumenta a precisão em ambientes costeiros dinâmicos.</a:t>
            </a:r>
            <a:endParaRPr lang="en-US" sz="1333" dirty="0"/>
          </a:p>
        </p:txBody>
      </p:sp>
      <p:sp>
        <p:nvSpPr>
          <p:cNvPr id="26" name="Shape 24"/>
          <p:cNvSpPr/>
          <p:nvPr/>
        </p:nvSpPr>
        <p:spPr>
          <a:xfrm>
            <a:off x="548640" y="6156960"/>
            <a:ext cx="11094720" cy="463296"/>
          </a:xfrm>
          <a:prstGeom prst="rect">
            <a:avLst/>
          </a:prstGeom>
          <a:solidFill>
            <a:srgbClr val="EEF3F4"/>
          </a:solidFill>
          <a:ln w="12700">
            <a:solidFill>
              <a:srgbClr val="586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0560" y="6193536"/>
            <a:ext cx="108508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Apesar das hipóteses, o modelo captura o comportamento qualitativo essencial: crescimento bacteriano acelerado em temperaturas elevadas, com variabilidade crescente.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D158D5-A93C-7793-1E2B-A3E8AD708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014" y="114394"/>
            <a:ext cx="10446374" cy="1427585"/>
          </a:xfrm>
        </p:spPr>
        <p:txBody>
          <a:bodyPr/>
          <a:lstStyle/>
          <a:p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Parametrôs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da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Simulação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com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distribuição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de Poisson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22060D4-C081-85B8-0641-0A21C55A254E}"/>
              </a:ext>
            </a:extLst>
          </p:cNvPr>
          <p:cNvSpPr/>
          <p:nvPr/>
        </p:nvSpPr>
        <p:spPr>
          <a:xfrm>
            <a:off x="1213418" y="3021509"/>
            <a:ext cx="1615043" cy="10738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N</a:t>
            </a:r>
            <a:r>
              <a:rPr lang="en-US" dirty="0"/>
              <a:t> °</a:t>
            </a:r>
            <a:r>
              <a:rPr lang="pt-BR" dirty="0"/>
              <a:t> Bactérias Iniciais</a:t>
            </a:r>
            <a:r>
              <a:rPr lang="en-US" dirty="0"/>
              <a:t>: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D29CAF18-23E9-0682-F54B-C308BFB412EE}"/>
                  </a:ext>
                </a:extLst>
              </p:cNvPr>
              <p:cNvSpPr txBox="1"/>
              <p:nvPr/>
            </p:nvSpPr>
            <p:spPr>
              <a:xfrm>
                <a:off x="1213418" y="2308254"/>
                <a:ext cx="4266169" cy="3148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𝑚𝑖𝑛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nor/>
                      </m:rPr>
                      <a:rPr lang="en-US" i="0">
                        <a:latin typeface="Cambria Math" panose="02040503050406030204" pitchFamily="18" charset="0"/>
                      </a:rPr>
                      <m:t>Poisson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D29CAF18-23E9-0682-F54B-C308BFB41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3418" y="2308254"/>
                <a:ext cx="4266169" cy="314830"/>
              </a:xfrm>
              <a:prstGeom prst="rect">
                <a:avLst/>
              </a:prstGeom>
              <a:blipFill>
                <a:blip r:embed="rId2"/>
                <a:stretch>
                  <a:fillRect l="-3000" t="-5882" b="-39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tângulo 7">
            <a:extLst>
              <a:ext uri="{FF2B5EF4-FFF2-40B4-BE49-F238E27FC236}">
                <a16:creationId xmlns:a16="http://schemas.microsoft.com/office/drawing/2014/main" id="{20565F20-E733-019C-77AC-3A72B43ABCD1}"/>
              </a:ext>
            </a:extLst>
          </p:cNvPr>
          <p:cNvSpPr/>
          <p:nvPr/>
        </p:nvSpPr>
        <p:spPr>
          <a:xfrm>
            <a:off x="3087042" y="3021509"/>
            <a:ext cx="1615043" cy="10738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Constante de Ratskowsky: a = 0,02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91FD449-4E7A-6900-63BA-CDF3DCCA741F}"/>
              </a:ext>
            </a:extLst>
          </p:cNvPr>
          <p:cNvSpPr/>
          <p:nvPr/>
        </p:nvSpPr>
        <p:spPr>
          <a:xfrm>
            <a:off x="4960666" y="3021508"/>
            <a:ext cx="1704690" cy="10738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Temp. m</a:t>
            </a:r>
            <a:r>
              <a:rPr lang="pt-BR" dirty="0"/>
              <a:t>í</a:t>
            </a:r>
            <a:r>
              <a:rPr lang="en-US" dirty="0" err="1"/>
              <a:t>nima</a:t>
            </a:r>
            <a:r>
              <a:rPr lang="en-US" dirty="0"/>
              <a:t> de </a:t>
            </a:r>
            <a:r>
              <a:rPr lang="en-US" dirty="0" err="1"/>
              <a:t>crescimento</a:t>
            </a:r>
            <a:r>
              <a:rPr lang="en-US" dirty="0"/>
              <a:t>:  5 °C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2AC0DE4-3061-C7AC-5514-322FE74D5949}"/>
              </a:ext>
            </a:extLst>
          </p:cNvPr>
          <p:cNvSpPr/>
          <p:nvPr/>
        </p:nvSpPr>
        <p:spPr>
          <a:xfrm>
            <a:off x="6923937" y="3021508"/>
            <a:ext cx="1704690" cy="10738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Faixa de temp. simulada</a:t>
            </a:r>
            <a:r>
              <a:rPr lang="en-US" dirty="0"/>
              <a:t>:</a:t>
            </a:r>
          </a:p>
          <a:p>
            <a:pPr algn="ctr"/>
            <a:r>
              <a:rPr lang="en-US" dirty="0"/>
              <a:t>15-30 °C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5A7A0C6-E8C4-7FED-8C25-4BB68D23837F}"/>
              </a:ext>
            </a:extLst>
          </p:cNvPr>
          <p:cNvSpPr/>
          <p:nvPr/>
        </p:nvSpPr>
        <p:spPr>
          <a:xfrm>
            <a:off x="8887208" y="3021508"/>
            <a:ext cx="1704690" cy="10738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Tempo de </a:t>
            </a:r>
            <a:r>
              <a:rPr lang="en-US" dirty="0" err="1"/>
              <a:t>crescimento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20 h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719F5CE-F83C-B29A-6364-66D552DB9CB0}"/>
              </a:ext>
            </a:extLst>
          </p:cNvPr>
          <p:cNvSpPr txBox="1"/>
          <p:nvPr/>
        </p:nvSpPr>
        <p:spPr>
          <a:xfrm>
            <a:off x="987927" y="5656371"/>
            <a:ext cx="99502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i="1" dirty="0"/>
              <a:t>Hipótese simplificadora</a:t>
            </a:r>
            <a:r>
              <a:rPr lang="en-US" sz="1600" i="1" dirty="0"/>
              <a:t>: </a:t>
            </a:r>
            <a:r>
              <a:rPr lang="en-US" sz="1600" i="1" dirty="0" err="1"/>
              <a:t>temperatura</a:t>
            </a:r>
            <a:r>
              <a:rPr lang="en-US" sz="1600" i="1" dirty="0"/>
              <a:t> T </a:t>
            </a:r>
            <a:r>
              <a:rPr lang="en-US" sz="1600" i="1" dirty="0" err="1"/>
              <a:t>constante</a:t>
            </a:r>
            <a:r>
              <a:rPr lang="en-US" sz="1600" i="1" dirty="0"/>
              <a:t> </a:t>
            </a:r>
            <a:r>
              <a:rPr lang="en-US" sz="1600" i="1" dirty="0" err="1"/>
              <a:t>ao</a:t>
            </a:r>
            <a:r>
              <a:rPr lang="en-US" sz="1600" i="1" dirty="0"/>
              <a:t> </a:t>
            </a:r>
            <a:r>
              <a:rPr lang="en-US" sz="1600" i="1" dirty="0" err="1"/>
              <a:t>longo</a:t>
            </a:r>
            <a:r>
              <a:rPr lang="en-US" sz="1600" i="1" dirty="0"/>
              <a:t> do tempo de </a:t>
            </a:r>
            <a:r>
              <a:rPr lang="en-US" sz="1600" i="1" dirty="0" err="1"/>
              <a:t>simula</a:t>
            </a:r>
            <a:r>
              <a:rPr lang="pt-BR" sz="1600" i="1" dirty="0" err="1"/>
              <a:t>ção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3239703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AF07A9-8D5E-BBB8-19D8-5E7B4B48F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Calibri" panose="020F0502020204030204" pitchFamily="34" charset="0"/>
                <a:cs typeface="Calibri" panose="020F0502020204030204" pitchFamily="34" charset="0"/>
              </a:rPr>
              <a:t>Crescimento Bacteriano </a:t>
            </a:r>
            <a:r>
              <a:rPr lang="pt-BR" b="1" dirty="0" err="1">
                <a:latin typeface="Calibri" panose="020F0502020204030204" pitchFamily="34" charset="0"/>
                <a:cs typeface="Calibri" panose="020F0502020204030204" pitchFamily="34" charset="0"/>
              </a:rPr>
              <a:t>vs</a:t>
            </a:r>
            <a:r>
              <a:rPr lang="pt-BR" b="1" dirty="0">
                <a:latin typeface="Calibri" panose="020F0502020204030204" pitchFamily="34" charset="0"/>
                <a:cs typeface="Calibri" panose="020F0502020204030204" pitchFamily="34" charset="0"/>
              </a:rPr>
              <a:t> Temperatura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2D98C4FE-F288-F1CB-7632-74CB6A003A44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149592" y="1818411"/>
            <a:ext cx="4563112" cy="367716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C49EDEB-562D-6E94-371E-759477552413}"/>
              </a:ext>
            </a:extLst>
          </p:cNvPr>
          <p:cNvSpPr txBox="1"/>
          <p:nvPr/>
        </p:nvSpPr>
        <p:spPr>
          <a:xfrm>
            <a:off x="6320118" y="2169459"/>
            <a:ext cx="47222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À medida que a temperatura aumenta, a taxa de crescimento bacteriano aumenta e, por consequência, a concentração bacteriana cresce de forma não linear.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93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BD062F-578B-F937-F8FF-64EC472EA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Calibri" panose="020F0502020204030204" pitchFamily="34" charset="0"/>
                <a:cs typeface="Calibri" panose="020F0502020204030204" pitchFamily="34" charset="0"/>
              </a:rPr>
              <a:t>Modelo de Ratkowsky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48A7CC74-D795-A944-2357-9370A9DB0A28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291072" y="1726248"/>
            <a:ext cx="4477375" cy="3610479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7BD27E57-B6C7-19D4-8713-882488700FA4}"/>
              </a:ext>
            </a:extLst>
          </p:cNvPr>
          <p:cNvSpPr txBox="1"/>
          <p:nvPr/>
        </p:nvSpPr>
        <p:spPr>
          <a:xfrm>
            <a:off x="6212541" y="1828800"/>
            <a:ext cx="53429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efeito da temperatura não é uniforme. Nos primeiros graus acima do mínimo, o crescimento bacteriano responde pouco. Mas nas temperaturas mais altas — que são exatamente as temperaturas típicas das praias do Rio no verão — a taxa de crescimento dispara.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706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E29EB0-3FD2-9173-3EDE-86DA392D0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3" y="199052"/>
            <a:ext cx="9150675" cy="1427585"/>
          </a:xfrm>
        </p:spPr>
        <p:txBody>
          <a:bodyPr/>
          <a:lstStyle/>
          <a:p>
            <a:r>
              <a:rPr lang="en-US" b="1" dirty="0"/>
              <a:t>Simula</a:t>
            </a:r>
            <a:r>
              <a:rPr lang="pt-BR" b="1" dirty="0" err="1"/>
              <a:t>ção</a:t>
            </a:r>
            <a:endParaRPr lang="en-US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092C9D5-B267-E5A1-81DD-A5100BA1118F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468812" y="1127054"/>
            <a:ext cx="8306123" cy="5100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90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68224"/>
            <a:ext cx="110947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Convergência para a Normal — Teorema do Limite Central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λ é grande, a Poisson(λ) converge para uma distribuição Normal — um resultado clássico do Teorema do Limite Central.</a:t>
            </a:r>
            <a:endParaRPr lang="en-US" sz="1667" dirty="0"/>
          </a:p>
        </p:txBody>
      </p:sp>
      <p:sp>
        <p:nvSpPr>
          <p:cNvPr id="5" name="Shape 3"/>
          <p:cNvSpPr/>
          <p:nvPr/>
        </p:nvSpPr>
        <p:spPr>
          <a:xfrm>
            <a:off x="548640" y="1889760"/>
            <a:ext cx="11094720" cy="1341120"/>
          </a:xfrm>
          <a:prstGeom prst="rect">
            <a:avLst/>
          </a:prstGeom>
          <a:solidFill>
            <a:srgbClr val="EEF3F4"/>
          </a:solidFill>
          <a:ln w="12700">
            <a:solidFill>
              <a:srgbClr val="586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70560" y="1950720"/>
            <a:ext cx="108508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Para λ grande:    Poisson(λ)  ≈  Normal(μ = λ,  σ² = λ)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70560" y="2560320"/>
            <a:ext cx="1085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maior λ, mais simétrica e em forma de sino fica a distribuição — exatamente o que se observa nos gráficos da simulação.</a:t>
            </a:r>
            <a:endParaRPr lang="en-US" sz="1467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3535680" cy="1828800"/>
          </a:xfrm>
          <a:prstGeom prst="rect">
            <a:avLst/>
          </a:prstGeom>
          <a:solidFill>
            <a:srgbClr val="58696B"/>
          </a:solidFill>
          <a:ln w="12700">
            <a:solidFill>
              <a:srgbClr val="586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535680"/>
            <a:ext cx="353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15°C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548640" y="3901440"/>
            <a:ext cx="353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≈ 222</a:t>
            </a:r>
            <a:endParaRPr lang="en-US" sz="2667" dirty="0"/>
          </a:p>
        </p:txBody>
      </p:sp>
      <p:sp>
        <p:nvSpPr>
          <p:cNvPr id="11" name="Text 9"/>
          <p:cNvSpPr/>
          <p:nvPr/>
        </p:nvSpPr>
        <p:spPr>
          <a:xfrm>
            <a:off x="548640" y="4450080"/>
            <a:ext cx="353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CC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discreta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CC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visível</a:t>
            </a:r>
            <a:endParaRPr lang="en-US" sz="1333" dirty="0"/>
          </a:p>
        </p:txBody>
      </p:sp>
      <p:sp>
        <p:nvSpPr>
          <p:cNvPr id="12" name="Shape 10"/>
          <p:cNvSpPr/>
          <p:nvPr/>
        </p:nvSpPr>
        <p:spPr>
          <a:xfrm>
            <a:off x="4389120" y="3474720"/>
            <a:ext cx="3535680" cy="1828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0" y="3535680"/>
            <a:ext cx="353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22°C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4389120" y="3901440"/>
            <a:ext cx="353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≈ 1.800</a:t>
            </a:r>
            <a:endParaRPr lang="en-US" sz="2667" dirty="0"/>
          </a:p>
        </p:txBody>
      </p:sp>
      <p:sp>
        <p:nvSpPr>
          <p:cNvPr id="15" name="Text 13"/>
          <p:cNvSpPr/>
          <p:nvPr/>
        </p:nvSpPr>
        <p:spPr>
          <a:xfrm>
            <a:off x="4389120" y="4450080"/>
            <a:ext cx="353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CC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Transição para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CC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aproximação Normal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8229600" y="3474720"/>
            <a:ext cx="3535680" cy="1828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0" y="3535680"/>
            <a:ext cx="353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30°C</a:t>
            </a:r>
            <a:endParaRPr lang="en-US" sz="1467" dirty="0"/>
          </a:p>
        </p:txBody>
      </p:sp>
      <p:sp>
        <p:nvSpPr>
          <p:cNvPr id="18" name="Text 16"/>
          <p:cNvSpPr/>
          <p:nvPr/>
        </p:nvSpPr>
        <p:spPr>
          <a:xfrm>
            <a:off x="8229600" y="3901440"/>
            <a:ext cx="353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&gt; 10.000</a:t>
            </a:r>
            <a:endParaRPr lang="en-US" sz="2667" dirty="0"/>
          </a:p>
        </p:txBody>
      </p:sp>
      <p:sp>
        <p:nvSpPr>
          <p:cNvPr id="19" name="Text 17"/>
          <p:cNvSpPr/>
          <p:nvPr/>
        </p:nvSpPr>
        <p:spPr>
          <a:xfrm>
            <a:off x="8229600" y="4450080"/>
            <a:ext cx="353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CC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Praticamente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CC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Normal(λ, λ)</a:t>
            </a:r>
            <a:endParaRPr lang="en-US" sz="1333" dirty="0"/>
          </a:p>
        </p:txBody>
      </p:sp>
      <p:sp>
        <p:nvSpPr>
          <p:cNvPr id="20" name="Text 18"/>
          <p:cNvSpPr/>
          <p:nvPr/>
        </p:nvSpPr>
        <p:spPr>
          <a:xfrm>
            <a:off x="548640" y="5486400"/>
            <a:ext cx="110947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Implicação prática: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5876544"/>
            <a:ext cx="11094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λ grande, P(X &gt; limite_seguro) pode ser calculada pela Normal: </a:t>
            </a:r>
            <a:r>
              <a:rPr lang="en-US" sz="1467" b="1" dirty="0">
                <a:solidFill>
                  <a:srgbClr val="58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 &gt; c) ≈ 1 − Φ((c − λ) / √λ)</a:t>
            </a:r>
            <a:r>
              <a:rPr lang="en-US" sz="14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simplificando a avaliação de risco sem perda significativa de precisão.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548640" y="6522720"/>
            <a:ext cx="1109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Referência: Casella &amp; Berger — Statistical Inference (2002)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FA04E7-FA7F-F466-5B20-EB010ED36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Calibri" panose="020F0502020204030204" pitchFamily="34" charset="0"/>
                <a:cs typeface="Calibri" panose="020F0502020204030204" pitchFamily="34" charset="0"/>
              </a:rPr>
              <a:t>O que a simulação com Poisson nos diz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3233401-13B3-8E5B-7B78-1933CACA303F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1288787" y="1443844"/>
            <a:ext cx="1048276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X ~ Poisson(λ)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onde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λ = N(t) — 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contagem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bactérias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é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uma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variável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aleatória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não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um valor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fixo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λ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cresce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exponencialmente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com a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temperatura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de ~220 (15°C) para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dezenas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milhares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(30°C)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Variância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= λ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quanto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quente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água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maior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incerteza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sobre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contagem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real — 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risco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torna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imprevisível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Efeito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não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-linear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diferença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entre 25°C e 30°C é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muito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crítica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que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entre 15°C e 20°C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Aplicação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prática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modelo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permite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calcular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P(X &gt;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limite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seguro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 para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diferentes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temperaturas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— base para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decisões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alertas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saúde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fechamento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praias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Convergencia</a:t>
            </a:r>
            <a:r>
              <a:rPr lang="en-US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 para a normal: 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Quando λ é grande, a Poisson converge para a normal (Um </a:t>
            </a:r>
            <a:r>
              <a:rPr lang="en-US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resultado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lang="en-US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Teorema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lang="en-US" alt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Limite</a:t>
            </a: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Central)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280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68224"/>
            <a:ext cx="110947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Praias do Rio de Janeiro: Um Caso Real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temperaturas médias das praias cariocas estão na faixa crítica identificada pela simulação — próximas ao limiar de 28°C onde o crescimento bacteriano acelera.</a:t>
            </a:r>
            <a:endParaRPr lang="en-US" sz="1667" dirty="0"/>
          </a:p>
        </p:txBody>
      </p:sp>
      <p:sp>
        <p:nvSpPr>
          <p:cNvPr id="5" name="Shape 3"/>
          <p:cNvSpPr/>
          <p:nvPr/>
        </p:nvSpPr>
        <p:spPr>
          <a:xfrm>
            <a:off x="548640" y="1889760"/>
            <a:ext cx="2560320" cy="1828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950720"/>
            <a:ext cx="25603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Inverno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25603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22,1°C</a:t>
            </a:r>
            <a:endParaRPr lang="en-US" sz="3467" dirty="0"/>
          </a:p>
        </p:txBody>
      </p:sp>
      <p:sp>
        <p:nvSpPr>
          <p:cNvPr id="8" name="Text 6"/>
          <p:cNvSpPr/>
          <p:nvPr/>
        </p:nvSpPr>
        <p:spPr>
          <a:xfrm>
            <a:off x="548640" y="3048000"/>
            <a:ext cx="25603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moderado</a:t>
            </a:r>
            <a:endParaRPr lang="en-US" sz="1267" dirty="0"/>
          </a:p>
        </p:txBody>
      </p:sp>
      <p:sp>
        <p:nvSpPr>
          <p:cNvPr id="9" name="Shape 7"/>
          <p:cNvSpPr/>
          <p:nvPr/>
        </p:nvSpPr>
        <p:spPr>
          <a:xfrm>
            <a:off x="3352800" y="1889760"/>
            <a:ext cx="2560320" cy="1828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52800" y="1950720"/>
            <a:ext cx="25603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Primavera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3352800" y="2377440"/>
            <a:ext cx="25603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22,7°C</a:t>
            </a:r>
            <a:endParaRPr lang="en-US" sz="3467" dirty="0"/>
          </a:p>
        </p:txBody>
      </p:sp>
      <p:sp>
        <p:nvSpPr>
          <p:cNvPr id="12" name="Text 10"/>
          <p:cNvSpPr/>
          <p:nvPr/>
        </p:nvSpPr>
        <p:spPr>
          <a:xfrm>
            <a:off x="3352800" y="3048000"/>
            <a:ext cx="25603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moderado</a:t>
            </a:r>
            <a:endParaRPr lang="en-US" sz="1267" dirty="0"/>
          </a:p>
        </p:txBody>
      </p:sp>
      <p:sp>
        <p:nvSpPr>
          <p:cNvPr id="13" name="Shape 11"/>
          <p:cNvSpPr/>
          <p:nvPr/>
        </p:nvSpPr>
        <p:spPr>
          <a:xfrm>
            <a:off x="6156960" y="1889760"/>
            <a:ext cx="2560320" cy="1828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56960" y="1950720"/>
            <a:ext cx="25603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Outono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6156960" y="2377440"/>
            <a:ext cx="25603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24,8°C</a:t>
            </a:r>
            <a:endParaRPr lang="en-US" sz="3467" dirty="0"/>
          </a:p>
        </p:txBody>
      </p:sp>
      <p:sp>
        <p:nvSpPr>
          <p:cNvPr id="16" name="Text 14"/>
          <p:cNvSpPr/>
          <p:nvPr/>
        </p:nvSpPr>
        <p:spPr>
          <a:xfrm>
            <a:off x="6156960" y="3048000"/>
            <a:ext cx="25603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elevado</a:t>
            </a:r>
            <a:endParaRPr lang="en-US" sz="1267" dirty="0"/>
          </a:p>
        </p:txBody>
      </p:sp>
      <p:sp>
        <p:nvSpPr>
          <p:cNvPr id="17" name="Shape 15"/>
          <p:cNvSpPr/>
          <p:nvPr/>
        </p:nvSpPr>
        <p:spPr>
          <a:xfrm>
            <a:off x="8961120" y="1889760"/>
            <a:ext cx="2560320" cy="1828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961120" y="1950720"/>
            <a:ext cx="25603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Verão</a:t>
            </a:r>
            <a:endParaRPr lang="en-US" sz="1467" dirty="0"/>
          </a:p>
        </p:txBody>
      </p:sp>
      <p:sp>
        <p:nvSpPr>
          <p:cNvPr id="19" name="Text 17"/>
          <p:cNvSpPr/>
          <p:nvPr/>
        </p:nvSpPr>
        <p:spPr>
          <a:xfrm>
            <a:off x="8961120" y="2377440"/>
            <a:ext cx="256032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25,7°C</a:t>
            </a:r>
            <a:endParaRPr lang="en-US" sz="3467" dirty="0"/>
          </a:p>
        </p:txBody>
      </p:sp>
      <p:sp>
        <p:nvSpPr>
          <p:cNvPr id="20" name="Text 18"/>
          <p:cNvSpPr/>
          <p:nvPr/>
        </p:nvSpPr>
        <p:spPr>
          <a:xfrm>
            <a:off x="8961120" y="3048000"/>
            <a:ext cx="25603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67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Próximo ao limiar</a:t>
            </a:r>
            <a:endParaRPr lang="en-US" sz="1267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11094720" cy="2438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962400"/>
            <a:ext cx="536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das praias (INEA)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" y="4450080"/>
            <a:ext cx="53644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Botafogo, Flamengo e Arpoador frequentemente impróprias para banho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4913376"/>
            <a:ext cx="53644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Copacabana, São Conrado e Barra da Tijuca com trechos irregulares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5376672"/>
            <a:ext cx="53644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UFRJ detectou KPC (superbactéria) em Copacabana, Ipanema e Leblon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5839968"/>
            <a:ext cx="53644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INEA recomenda evitar banho 24h após chuvas — coincide com pico de λ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0" y="3962400"/>
            <a:ext cx="542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Conexão com a simulação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7920" y="4389120"/>
            <a:ext cx="5425440" cy="2011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2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39840" y="4450080"/>
            <a:ext cx="5181600" cy="1889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verão, com médias de 25–27°C, o RJ opera na região de </a:t>
            </a:r>
            <a:r>
              <a:rPr lang="en-US" sz="1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bacteriano acelerado </a:t>
            </a:r>
            <a:r>
              <a:rPr lang="en-US" sz="14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modelo.</a:t>
            </a:r>
            <a:endParaRPr lang="en-US" sz="1467" dirty="0"/>
          </a:p>
          <a:p>
            <a:endParaRPr lang="en-US" sz="1467" dirty="0"/>
          </a:p>
          <a:p>
            <a:r>
              <a:rPr lang="en-US" sz="14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Picos de até </a:t>
            </a:r>
            <a:endParaRPr lang="en-US" sz="1467" dirty="0"/>
          </a:p>
          <a:p>
            <a:r>
              <a:rPr lang="en-US" sz="1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28°C</a:t>
            </a:r>
            <a:r>
              <a:rPr lang="en-US" sz="14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comuns em janeiro e fevereiro — colocam as praias cariocas </a:t>
            </a:r>
            <a:r>
              <a:rPr lang="en-US" sz="1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exatamente no limiar crítico</a:t>
            </a:r>
            <a:r>
              <a:rPr lang="en-US" sz="14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67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 na simulação.</a:t>
            </a:r>
            <a:endParaRPr lang="en-US" sz="1467" dirty="0"/>
          </a:p>
        </p:txBody>
      </p:sp>
      <p:sp>
        <p:nvSpPr>
          <p:cNvPr id="30" name="Text 28"/>
          <p:cNvSpPr/>
          <p:nvPr/>
        </p:nvSpPr>
        <p:spPr>
          <a:xfrm>
            <a:off x="548640" y="6522720"/>
            <a:ext cx="1109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INEA (2023–2024), UFRJ/CRF-RJ, seatemperature.net, CNN Brasil (2022)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68224"/>
            <a:ext cx="110947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Risco para Surfistas: Curva Dose-Resposta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concentração bacteriana na água determina a dose ingerida — e a dose determina a probabilidade de adoecer.</a:t>
            </a:r>
            <a:endParaRPr lang="en-US" sz="1667" dirty="0"/>
          </a:p>
        </p:txBody>
      </p:sp>
      <p:sp>
        <p:nvSpPr>
          <p:cNvPr id="5" name="Shape 3"/>
          <p:cNvSpPr/>
          <p:nvPr/>
        </p:nvSpPr>
        <p:spPr>
          <a:xfrm>
            <a:off x="548640" y="1889760"/>
            <a:ext cx="3535680" cy="1889760"/>
          </a:xfrm>
          <a:prstGeom prst="rect">
            <a:avLst/>
          </a:prstGeom>
          <a:solidFill>
            <a:srgbClr val="58696B"/>
          </a:solidFill>
          <a:ln w="12700">
            <a:solidFill>
              <a:srgbClr val="586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950720"/>
            <a:ext cx="35356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mL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3535680" cy="975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médio de água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ingerida por sessão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surfe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4389120" y="1889760"/>
            <a:ext cx="3535680" cy="1889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0" y="1950720"/>
            <a:ext cx="35356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389120" y="2743200"/>
            <a:ext cx="3535680" cy="975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surfistas têm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imersão total da cabeça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sessão</a:t>
            </a:r>
            <a:endParaRPr lang="en-US" sz="1333" dirty="0"/>
          </a:p>
        </p:txBody>
      </p:sp>
      <p:sp>
        <p:nvSpPr>
          <p:cNvPr id="11" name="Shape 9"/>
          <p:cNvSpPr/>
          <p:nvPr/>
        </p:nvSpPr>
        <p:spPr>
          <a:xfrm>
            <a:off x="8229600" y="1889760"/>
            <a:ext cx="3535680" cy="1889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0" y="1950720"/>
            <a:ext cx="35356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/semana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229600" y="2743200"/>
            <a:ext cx="3535680" cy="975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média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exposição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surfistas regulares</a:t>
            </a:r>
            <a:endParaRPr lang="en-US" sz="1333" dirty="0"/>
          </a:p>
        </p:txBody>
      </p:sp>
      <p:sp>
        <p:nvSpPr>
          <p:cNvPr id="14" name="Text 12"/>
          <p:cNvSpPr/>
          <p:nvPr/>
        </p:nvSpPr>
        <p:spPr>
          <a:xfrm>
            <a:off x="548640" y="3962400"/>
            <a:ext cx="1109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a curva dose-resposta: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450080"/>
            <a:ext cx="3291840" cy="1341120"/>
          </a:xfrm>
          <a:prstGeom prst="rect">
            <a:avLst/>
          </a:prstGeom>
          <a:solidFill>
            <a:srgbClr val="EEF3F4"/>
          </a:solidFill>
          <a:ln w="12700">
            <a:solidFill>
              <a:srgbClr val="586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4486656"/>
            <a:ext cx="32918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</a:t>
            </a:r>
            <a:endParaRPr lang="en-US" sz="1600" dirty="0"/>
          </a:p>
          <a:p>
            <a:pPr algn="ctr"/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bacteriana (λ)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5096256"/>
            <a:ext cx="3291840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67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bactérias/100 mL</a:t>
            </a:r>
            <a:endParaRPr lang="en-US" sz="1267" dirty="0"/>
          </a:p>
          <a:p>
            <a:pPr algn="ctr"/>
            <a:r>
              <a:rPr lang="en-US" sz="1267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água do mar</a:t>
            </a:r>
            <a:endParaRPr lang="en-US" sz="1267" dirty="0"/>
          </a:p>
        </p:txBody>
      </p:sp>
      <p:sp>
        <p:nvSpPr>
          <p:cNvPr id="18" name="Text 16"/>
          <p:cNvSpPr/>
          <p:nvPr/>
        </p:nvSpPr>
        <p:spPr>
          <a:xfrm>
            <a:off x="3840480" y="4754880"/>
            <a:ext cx="4876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58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4328160" y="4450080"/>
            <a:ext cx="3291840" cy="1341120"/>
          </a:xfrm>
          <a:prstGeom prst="rect">
            <a:avLst/>
          </a:prstGeom>
          <a:solidFill>
            <a:srgbClr val="EEF3F4"/>
          </a:solidFill>
          <a:ln w="12700">
            <a:solidFill>
              <a:srgbClr val="586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28160" y="4486656"/>
            <a:ext cx="32918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Dose</a:t>
            </a:r>
            <a:endParaRPr lang="en-US" sz="1600" dirty="0"/>
          </a:p>
          <a:p>
            <a:pPr algn="ctr"/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ingerida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28160" y="5096256"/>
            <a:ext cx="3291840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67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× concentração</a:t>
            </a:r>
            <a:endParaRPr lang="en-US" sz="1267" dirty="0"/>
          </a:p>
          <a:p>
            <a:pPr algn="ctr"/>
            <a:r>
              <a:rPr lang="en-US" sz="1267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(~200 mL × λ)</a:t>
            </a:r>
            <a:endParaRPr lang="en-US" sz="1267" dirty="0"/>
          </a:p>
        </p:txBody>
      </p:sp>
      <p:sp>
        <p:nvSpPr>
          <p:cNvPr id="22" name="Text 20"/>
          <p:cNvSpPr/>
          <p:nvPr/>
        </p:nvSpPr>
        <p:spPr>
          <a:xfrm>
            <a:off x="7620000" y="4754880"/>
            <a:ext cx="4876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58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8107680" y="4450080"/>
            <a:ext cx="3291840" cy="1341120"/>
          </a:xfrm>
          <a:prstGeom prst="rect">
            <a:avLst/>
          </a:prstGeom>
          <a:solidFill>
            <a:srgbClr val="EEF3F4"/>
          </a:solidFill>
          <a:ln w="12700">
            <a:solidFill>
              <a:srgbClr val="586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107680" y="4486656"/>
            <a:ext cx="32918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P(infecção)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07680" y="5096256"/>
            <a:ext cx="3291840" cy="67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67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exponencial</a:t>
            </a:r>
            <a:endParaRPr lang="en-US" sz="1267" dirty="0"/>
          </a:p>
          <a:p>
            <a:pPr algn="ctr"/>
            <a:r>
              <a:rPr lang="en-US" sz="1267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dose-resposta</a:t>
            </a:r>
            <a:endParaRPr lang="en-US" sz="1267" dirty="0"/>
          </a:p>
        </p:txBody>
      </p:sp>
      <p:sp>
        <p:nvSpPr>
          <p:cNvPr id="26" name="Text 24"/>
          <p:cNvSpPr/>
          <p:nvPr/>
        </p:nvSpPr>
        <p:spPr>
          <a:xfrm>
            <a:off x="548640" y="5949696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Padrão EPA (</a:t>
            </a:r>
            <a:r>
              <a:rPr lang="pt-B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2012</a:t>
            </a: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 limite de 35 Enterococcus UFC/100 mL — equivalente a </a:t>
            </a:r>
            <a:r>
              <a:rPr lang="pt-BR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~36 casos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 doença GI por 1.000 banhistas.</a:t>
            </a:r>
          </a:p>
        </p:txBody>
      </p:sp>
      <p:sp>
        <p:nvSpPr>
          <p:cNvPr id="27" name="Text 25"/>
          <p:cNvSpPr/>
          <p:nvPr/>
        </p:nvSpPr>
        <p:spPr>
          <a:xfrm>
            <a:off x="548640" y="6522720"/>
            <a:ext cx="1109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Arnold et al. (2017), EPA RWQC (2012), </a:t>
            </a:r>
            <a:r>
              <a:rPr lang="en-US" sz="1200" i="1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QMRAwiki</a:t>
            </a: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Tseng &amp; Jiang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68224"/>
            <a:ext cx="1109472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Síntese dos Resultados</a:t>
            </a:r>
            <a:endParaRPr lang="en-US" sz="3467" b="1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7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combinação dos três modelos permite uma leitura integrada: do crescimento bacteriano à probabilidade real de risco para quem entra no mar.</a:t>
            </a:r>
            <a:endParaRPr lang="en-US" sz="1667" dirty="0"/>
          </a:p>
        </p:txBody>
      </p:sp>
      <p:sp>
        <p:nvSpPr>
          <p:cNvPr id="5" name="Shape 3"/>
          <p:cNvSpPr/>
          <p:nvPr/>
        </p:nvSpPr>
        <p:spPr>
          <a:xfrm>
            <a:off x="548640" y="1889760"/>
            <a:ext cx="3169920" cy="2011680"/>
          </a:xfrm>
          <a:prstGeom prst="rect">
            <a:avLst/>
          </a:prstGeom>
          <a:solidFill>
            <a:srgbClr val="58696B"/>
          </a:solidFill>
          <a:ln w="12700">
            <a:solidFill>
              <a:srgbClr val="586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950720"/>
            <a:ext cx="31699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Exponencial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14016"/>
            <a:ext cx="3169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N(t) = N₀·eᵘᵗ</a:t>
            </a:r>
            <a:endParaRPr lang="en-US" sz="1867" dirty="0"/>
          </a:p>
        </p:txBody>
      </p:sp>
      <p:sp>
        <p:nvSpPr>
          <p:cNvPr id="8" name="Text 6"/>
          <p:cNvSpPr/>
          <p:nvPr/>
        </p:nvSpPr>
        <p:spPr>
          <a:xfrm>
            <a:off x="548640" y="2950464"/>
            <a:ext cx="3169920" cy="829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 como a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população cresce no tempo</a:t>
            </a:r>
            <a:endParaRPr lang="en-US" sz="1333" dirty="0"/>
          </a:p>
        </p:txBody>
      </p:sp>
      <p:sp>
        <p:nvSpPr>
          <p:cNvPr id="9" name="Text 7"/>
          <p:cNvSpPr/>
          <p:nvPr/>
        </p:nvSpPr>
        <p:spPr>
          <a:xfrm>
            <a:off x="3718560" y="2499360"/>
            <a:ext cx="304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58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667" dirty="0"/>
          </a:p>
        </p:txBody>
      </p:sp>
      <p:sp>
        <p:nvSpPr>
          <p:cNvPr id="10" name="Shape 8"/>
          <p:cNvSpPr/>
          <p:nvPr/>
        </p:nvSpPr>
        <p:spPr>
          <a:xfrm>
            <a:off x="4023360" y="1889760"/>
            <a:ext cx="3169920" cy="201168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23360" y="1950720"/>
            <a:ext cx="31699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Ratkowsky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23360" y="2414016"/>
            <a:ext cx="3169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√μ = a(T−Tₘᵢₙ)</a:t>
            </a:r>
            <a:endParaRPr lang="en-US" sz="1867" dirty="0"/>
          </a:p>
        </p:txBody>
      </p:sp>
      <p:sp>
        <p:nvSpPr>
          <p:cNvPr id="13" name="Text 11"/>
          <p:cNvSpPr/>
          <p:nvPr/>
        </p:nvSpPr>
        <p:spPr>
          <a:xfrm>
            <a:off x="4023360" y="2950464"/>
            <a:ext cx="3169920" cy="829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a temperatura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taxa de crescimento</a:t>
            </a:r>
            <a:endParaRPr lang="en-US" sz="1333" dirty="0"/>
          </a:p>
        </p:txBody>
      </p:sp>
      <p:sp>
        <p:nvSpPr>
          <p:cNvPr id="14" name="Text 12"/>
          <p:cNvSpPr/>
          <p:nvPr/>
        </p:nvSpPr>
        <p:spPr>
          <a:xfrm>
            <a:off x="7193280" y="2499360"/>
            <a:ext cx="304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586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667" dirty="0"/>
          </a:p>
        </p:txBody>
      </p:sp>
      <p:sp>
        <p:nvSpPr>
          <p:cNvPr id="15" name="Shape 13"/>
          <p:cNvSpPr/>
          <p:nvPr/>
        </p:nvSpPr>
        <p:spPr>
          <a:xfrm>
            <a:off x="7498080" y="1889760"/>
            <a:ext cx="3169920" cy="201168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98080" y="1950720"/>
            <a:ext cx="31699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0" y="2414016"/>
            <a:ext cx="3169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~ Poisson(λ)</a:t>
            </a:r>
            <a:endParaRPr lang="en-US" sz="1867" dirty="0"/>
          </a:p>
        </p:txBody>
      </p:sp>
      <p:sp>
        <p:nvSpPr>
          <p:cNvPr id="18" name="Text 16"/>
          <p:cNvSpPr/>
          <p:nvPr/>
        </p:nvSpPr>
        <p:spPr>
          <a:xfrm>
            <a:off x="7498080" y="2950464"/>
            <a:ext cx="3169920" cy="829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 a variabilidade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aleatória das contagens</a:t>
            </a:r>
            <a:endParaRPr lang="en-US" sz="1333" dirty="0"/>
          </a:p>
        </p:txBody>
      </p:sp>
      <p:sp>
        <p:nvSpPr>
          <p:cNvPr id="21" name="Text 19"/>
          <p:cNvSpPr/>
          <p:nvPr/>
        </p:nvSpPr>
        <p:spPr>
          <a:xfrm>
            <a:off x="548640" y="4084320"/>
            <a:ext cx="1109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 que o modelo nos diz: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512064" cy="792480"/>
          </a:xfrm>
          <a:prstGeom prst="rect">
            <a:avLst/>
          </a:prstGeom>
          <a:solidFill>
            <a:srgbClr val="58696B"/>
          </a:solidFill>
          <a:ln w="12700">
            <a:solidFill>
              <a:srgbClr val="5869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4572000"/>
            <a:ext cx="512064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33" dirty="0"/>
          </a:p>
        </p:txBody>
      </p:sp>
      <p:sp>
        <p:nvSpPr>
          <p:cNvPr id="24" name="Text 22"/>
          <p:cNvSpPr/>
          <p:nvPr/>
        </p:nvSpPr>
        <p:spPr>
          <a:xfrm>
            <a:off x="1182624" y="4572000"/>
            <a:ext cx="48158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governa o risco</a:t>
            </a:r>
            <a:endParaRPr lang="en-US" sz="1467" dirty="0"/>
          </a:p>
        </p:txBody>
      </p:sp>
      <p:sp>
        <p:nvSpPr>
          <p:cNvPr id="25" name="Text 23"/>
          <p:cNvSpPr/>
          <p:nvPr/>
        </p:nvSpPr>
        <p:spPr>
          <a:xfrm>
            <a:off x="1182624" y="4876800"/>
            <a:ext cx="48158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Pequenos aumentos de T produzem grandes aumentos em λ — o efeito é não-linear e se intensifica justamente na faixa 25–30°C, típica das praias do RJ no verão.</a:t>
            </a:r>
            <a:endParaRPr lang="en-US" sz="1333" dirty="0"/>
          </a:p>
        </p:txBody>
      </p:sp>
      <p:sp>
        <p:nvSpPr>
          <p:cNvPr id="26" name="Shape 24"/>
          <p:cNvSpPr/>
          <p:nvPr/>
        </p:nvSpPr>
        <p:spPr>
          <a:xfrm>
            <a:off x="6217920" y="4572000"/>
            <a:ext cx="512064" cy="79248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17920" y="4572000"/>
            <a:ext cx="512064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33" dirty="0"/>
          </a:p>
        </p:txBody>
      </p:sp>
      <p:sp>
        <p:nvSpPr>
          <p:cNvPr id="28" name="Text 26"/>
          <p:cNvSpPr/>
          <p:nvPr/>
        </p:nvSpPr>
        <p:spPr>
          <a:xfrm>
            <a:off x="6851904" y="4572000"/>
            <a:ext cx="48158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Risco é imprevisível em T alta</a:t>
            </a:r>
            <a:endParaRPr lang="en-US" sz="1467" dirty="0"/>
          </a:p>
        </p:txBody>
      </p:sp>
      <p:sp>
        <p:nvSpPr>
          <p:cNvPr id="29" name="Text 27"/>
          <p:cNvSpPr/>
          <p:nvPr/>
        </p:nvSpPr>
        <p:spPr>
          <a:xfrm>
            <a:off x="6851904" y="4876800"/>
            <a:ext cx="48158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Var(X) = λ, a incerteza sobre a contagem bacteriana cresce junto com a média. Em 30°C, o risco é alto e difícil de prever com precisão.</a:t>
            </a:r>
            <a:endParaRPr lang="en-US" sz="1333" dirty="0"/>
          </a:p>
        </p:txBody>
      </p:sp>
      <p:sp>
        <p:nvSpPr>
          <p:cNvPr id="30" name="Shape 28"/>
          <p:cNvSpPr/>
          <p:nvPr/>
        </p:nvSpPr>
        <p:spPr>
          <a:xfrm>
            <a:off x="548640" y="5571744"/>
            <a:ext cx="512064" cy="792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5571744"/>
            <a:ext cx="512064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33" dirty="0"/>
          </a:p>
        </p:txBody>
      </p:sp>
      <p:sp>
        <p:nvSpPr>
          <p:cNvPr id="32" name="Text 30"/>
          <p:cNvSpPr/>
          <p:nvPr/>
        </p:nvSpPr>
        <p:spPr>
          <a:xfrm>
            <a:off x="1182624" y="5571744"/>
            <a:ext cx="48158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RJ opera no limiar crítico</a:t>
            </a:r>
            <a:endParaRPr lang="en-US" sz="1467" dirty="0"/>
          </a:p>
        </p:txBody>
      </p:sp>
      <p:sp>
        <p:nvSpPr>
          <p:cNvPr id="33" name="Text 31"/>
          <p:cNvSpPr/>
          <p:nvPr/>
        </p:nvSpPr>
        <p:spPr>
          <a:xfrm>
            <a:off x="1182624" y="5876544"/>
            <a:ext cx="48158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médias de 25–27°C no verão e picos de 28°C, as praias cariocas estão exatamente na região de aceleração máxima da curva de crescimento.</a:t>
            </a:r>
            <a:endParaRPr lang="en-US" sz="1333" dirty="0"/>
          </a:p>
        </p:txBody>
      </p:sp>
      <p:sp>
        <p:nvSpPr>
          <p:cNvPr id="34" name="Shape 32"/>
          <p:cNvSpPr/>
          <p:nvPr/>
        </p:nvSpPr>
        <p:spPr>
          <a:xfrm>
            <a:off x="6217920" y="5571744"/>
            <a:ext cx="512064" cy="79248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17920" y="5571744"/>
            <a:ext cx="512064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33" dirty="0"/>
          </a:p>
        </p:txBody>
      </p:sp>
      <p:sp>
        <p:nvSpPr>
          <p:cNvPr id="36" name="Text 34"/>
          <p:cNvSpPr/>
          <p:nvPr/>
        </p:nvSpPr>
        <p:spPr>
          <a:xfrm>
            <a:off x="6851904" y="5571744"/>
            <a:ext cx="48158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Modelo permite calcular P(risco)</a:t>
            </a:r>
            <a:endParaRPr lang="en-US" sz="1467" dirty="0"/>
          </a:p>
        </p:txBody>
      </p:sp>
      <p:sp>
        <p:nvSpPr>
          <p:cNvPr id="37" name="Text 35"/>
          <p:cNvSpPr/>
          <p:nvPr/>
        </p:nvSpPr>
        <p:spPr>
          <a:xfrm>
            <a:off x="6851904" y="5876544"/>
            <a:ext cx="481584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λ grande (T alta), P(X &gt; limite_EPA) ≈ 1 − Φ((c−λ)/√λ) — possibilitando avaliar risco quantitativamente por temperatura.</a:t>
            </a:r>
            <a:endParaRPr lang="en-US" sz="1333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4640418" cy="5407091"/>
          </a:xfrm>
        </p:spPr>
        <p:txBody>
          <a:bodyPr/>
          <a:lstStyle/>
          <a:p>
            <a:r>
              <a:rPr lang="en-US" b="1" dirty="0" err="1"/>
              <a:t>Principais</a:t>
            </a:r>
            <a:r>
              <a:rPr lang="en-US" b="1" dirty="0"/>
              <a:t> </a:t>
            </a:r>
            <a:r>
              <a:rPr lang="en-US" b="1" dirty="0" err="1"/>
              <a:t>Referências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A04E6-CD61-B962-4287-DEC1993C32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88461" y="737115"/>
            <a:ext cx="4449712" cy="5407091"/>
          </a:xfrm>
        </p:spPr>
        <p:txBody>
          <a:bodyPr/>
          <a:lstStyle/>
          <a:p>
            <a:r>
              <a:rPr lang="en-US" b="1" dirty="0"/>
              <a:t>Mathematical Biology </a:t>
            </a:r>
            <a:r>
              <a:rPr lang="en-US" dirty="0"/>
              <a:t>— </a:t>
            </a:r>
            <a:r>
              <a:rPr lang="en-US" dirty="0" err="1"/>
              <a:t>modelos</a:t>
            </a:r>
            <a:r>
              <a:rPr lang="en-US" dirty="0"/>
              <a:t> de </a:t>
            </a:r>
            <a:r>
              <a:rPr lang="en-US" dirty="0" err="1"/>
              <a:t>crescimento</a:t>
            </a:r>
            <a:r>
              <a:rPr lang="en-US" dirty="0"/>
              <a:t> </a:t>
            </a:r>
            <a:r>
              <a:rPr lang="en-US" dirty="0" err="1"/>
              <a:t>populacional</a:t>
            </a:r>
            <a:endParaRPr lang="en-US" dirty="0"/>
          </a:p>
          <a:p>
            <a:endParaRPr lang="en-US" dirty="0"/>
          </a:p>
          <a:p>
            <a:pPr fontAlgn="base"/>
            <a:r>
              <a:rPr lang="en-US" b="1" dirty="0"/>
              <a:t>David A. Ratkowsky et al. (1982)</a:t>
            </a:r>
            <a:r>
              <a:rPr lang="en-US" dirty="0"/>
              <a:t> — </a:t>
            </a:r>
            <a:r>
              <a:rPr lang="en-US" dirty="0" err="1"/>
              <a:t>temperatura</a:t>
            </a:r>
            <a:r>
              <a:rPr lang="en-US" dirty="0"/>
              <a:t> e </a:t>
            </a:r>
            <a:r>
              <a:rPr lang="en-US" dirty="0" err="1"/>
              <a:t>crescimento</a:t>
            </a:r>
            <a:r>
              <a:rPr lang="en-US" dirty="0"/>
              <a:t> </a:t>
            </a:r>
            <a:r>
              <a:rPr lang="en-US" dirty="0" err="1"/>
              <a:t>bacteriano</a:t>
            </a:r>
            <a:endParaRPr lang="en-US" dirty="0"/>
          </a:p>
          <a:p>
            <a:pPr fontAlgn="base"/>
            <a:r>
              <a:rPr lang="it-IT" b="1" dirty="0"/>
              <a:t>Haas, Rose &amp; Gerba </a:t>
            </a:r>
            <a:r>
              <a:rPr lang="it-IT" dirty="0"/>
              <a:t>— Quantitative Microbial Risk Assessment </a:t>
            </a:r>
          </a:p>
          <a:p>
            <a:pPr fontAlgn="base"/>
            <a:r>
              <a:rPr lang="en-US" b="1" dirty="0"/>
              <a:t>Tseng &amp; Jiang (2012)</a:t>
            </a:r>
            <a:r>
              <a:rPr lang="en-US" dirty="0"/>
              <a:t> — Surfing and swimming risk assessment </a:t>
            </a:r>
          </a:p>
        </p:txBody>
      </p:sp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084" y="1810870"/>
            <a:ext cx="7171961" cy="2052918"/>
          </a:xfrm>
        </p:spPr>
        <p:txBody>
          <a:bodyPr/>
          <a:lstStyle/>
          <a:p>
            <a:r>
              <a:rPr lang="en-US" dirty="0" err="1"/>
              <a:t>Obrigado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{76753843-B3E3-4C57-B910-C2358E18093B}TF3977e381-cba5-49b1-ba43-b5d865517af907ebbda9_win32-372d4d6ae720</Template>
  <TotalTime>992</TotalTime>
  <Words>2291</Words>
  <Application>Microsoft Office PowerPoint</Application>
  <PresentationFormat>Widescreen</PresentationFormat>
  <Paragraphs>288</Paragraphs>
  <Slides>25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Cambria Math</vt:lpstr>
      <vt:lpstr>Tisa Offc Serif Pro</vt:lpstr>
      <vt:lpstr>Univers Light</vt:lpstr>
      <vt:lpstr>Custom</vt:lpstr>
      <vt:lpstr>Modelagem matemática do impacto do crescimento bacteriano em ambientes costeiros e implicações para a saúde de surfistas  </vt:lpstr>
      <vt:lpstr>Motivação:      Pergunta:  </vt:lpstr>
      <vt:lpstr>Modelagem/Objetivo</vt:lpstr>
      <vt:lpstr>Aumento da Temperatura dos Oceanos</vt:lpstr>
      <vt:lpstr>PowerPoint Presentation</vt:lpstr>
      <vt:lpstr>PowerPoint Presentation</vt:lpstr>
      <vt:lpstr>Modelo 1: Crescimento Exponencial (modelo Malthusiano) </vt:lpstr>
      <vt:lpstr>Derivação do Modelo Exponencial</vt:lpstr>
      <vt:lpstr>Modelo 2: Ratkowsky  </vt:lpstr>
      <vt:lpstr>PowerPoint Presentation</vt:lpstr>
      <vt:lpstr>Modelo 3: Distribuição de Poisson  </vt:lpstr>
      <vt:lpstr>Modelo Final</vt:lpstr>
      <vt:lpstr>PowerPoint Presentation</vt:lpstr>
      <vt:lpstr>PowerPoint Presentation</vt:lpstr>
      <vt:lpstr>Parametrôs da Simulação com distribuição de Poisson</vt:lpstr>
      <vt:lpstr>Crescimento Bacteriano vs Temperatura</vt:lpstr>
      <vt:lpstr>Modelo de Ratkowsky</vt:lpstr>
      <vt:lpstr>Simulação</vt:lpstr>
      <vt:lpstr>PowerPoint Presentation</vt:lpstr>
      <vt:lpstr>O que a simulação com Poisson nos diz?</vt:lpstr>
      <vt:lpstr>PowerPoint Presentation</vt:lpstr>
      <vt:lpstr>PowerPoint Presentation</vt:lpstr>
      <vt:lpstr>PowerPoint Presentation</vt:lpstr>
      <vt:lpstr>Principais Referências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</dc:creator>
  <cp:lastModifiedBy>BRUNO CAVALLI</cp:lastModifiedBy>
  <cp:revision>9</cp:revision>
  <dcterms:created xsi:type="dcterms:W3CDTF">2026-04-24T03:09:33Z</dcterms:created>
  <dcterms:modified xsi:type="dcterms:W3CDTF">2026-04-29T12:20:26Z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