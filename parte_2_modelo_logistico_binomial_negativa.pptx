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4.svg" ContentType="image/svg"/>
  <Override PartName="/ppt/media/image5.emf" ContentType="image/x-emf"/>
  <Override PartName="/ppt/media/image7.svg" ContentType="image/svg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3084D3D-A1FE-4FD8-868F-471A2436BDF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6E62FFF-4D1A-44FA-AB97-3B79B57AF8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8D826D4-148C-45B4-9A7F-5A6FEB7D19A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190D5B7-B163-4FF5-86E0-5EAF59A309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B65463C-8383-45C8-9739-E9B7B181702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8BA492E-4B67-4A51-A8E7-56A1E4526D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DD530B3-519D-4295-AADB-47F9D591E5C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5A87B9F-E822-4D38-8B1C-0953678C93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30A75C-6914-4531-B2CD-D3D79B9FD84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2E11F16-BE09-4617-BD4C-0A6796358BF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F870000-51A0-41A6-8886-B3EB4ACF473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68B52DC-428C-492C-B4CD-3A8E41B5DA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DA0F8F7-091B-4754-A4A4-6C02D5D877C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FFF1517-2ECB-4D99-978A-2935276AD9F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em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9829800" y="777240"/>
            <a:ext cx="1645200" cy="1645200"/>
          </a:xfrm>
          <a:prstGeom prst="arc">
            <a:avLst>
              <a:gd name="adj1" fmla="val 16200000"/>
              <a:gd name="adj2" fmla="val 0"/>
            </a:avLst>
          </a:prstGeom>
          <a:solidFill>
            <a:srgbClr val="0e6ba8">
              <a:alpha val="65000"/>
            </a:srgbClr>
          </a:solidFill>
          <a:ln w="12700">
            <a:solidFill>
              <a:srgbClr val="0e6ba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326880" y="4480560"/>
            <a:ext cx="1645200" cy="1370880"/>
          </a:xfrm>
          <a:prstGeom prst="arc">
            <a:avLst>
              <a:gd name="adj1" fmla="val 16200000"/>
              <a:gd name="adj2" fmla="val 0"/>
            </a:avLst>
          </a:prstGeom>
          <a:solidFill>
            <a:srgbClr val="00a6a6">
              <a:alpha val="35000"/>
            </a:srgbClr>
          </a:solidFill>
          <a:ln w="12700">
            <a:solidFill>
              <a:srgbClr val="00a6a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777240" y="1828800"/>
            <a:ext cx="804600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Parte 2: modelo logístico e binomial negativa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822960" y="3063240"/>
            <a:ext cx="77716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Refinando o modelo anterior para crescimento limitado e contagens superdispersas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22960" y="5806440"/>
            <a:ext cx="2742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Bruno Cavalli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11475720" y="6473880"/>
            <a:ext cx="25524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27"/>
          <p:cNvSpPr/>
          <p:nvPr/>
        </p:nvSpPr>
        <p:spPr>
          <a:xfrm>
            <a:off x="0" y="0"/>
            <a:ext cx="12191040" cy="6577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8"/>
          <p:cNvSpPr/>
          <p:nvPr/>
        </p:nvSpPr>
        <p:spPr>
          <a:xfrm>
            <a:off x="457200" y="457200"/>
            <a:ext cx="88689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Síntese da Parte 1 — Resultados encontrados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49"/>
          <p:cNvSpPr/>
          <p:nvPr/>
        </p:nvSpPr>
        <p:spPr>
          <a:xfrm>
            <a:off x="9555480" y="173880"/>
            <a:ext cx="2056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substitui o exponencial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28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0"/>
          <p:cNvSpPr/>
          <p:nvPr/>
        </p:nvSpPr>
        <p:spPr>
          <a:xfrm>
            <a:off x="502920" y="6473880"/>
            <a:ext cx="32911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51"/>
          <p:cNvSpPr/>
          <p:nvPr/>
        </p:nvSpPr>
        <p:spPr>
          <a:xfrm>
            <a:off x="-685800" y="803880"/>
            <a:ext cx="55771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Mensagem Principal: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0"/>
          <p:cNvSpPr/>
          <p:nvPr/>
        </p:nvSpPr>
        <p:spPr>
          <a:xfrm>
            <a:off x="2240280" y="2651760"/>
            <a:ext cx="3474720" cy="1463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52"/>
          <p:cNvSpPr/>
          <p:nvPr/>
        </p:nvSpPr>
        <p:spPr>
          <a:xfrm>
            <a:off x="2423160" y="2816280"/>
            <a:ext cx="32918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Temperatura impacta o crescimento</a:t>
            </a:r>
            <a:endParaRPr lang="en-US" sz="1300" b="0" u="none" strike="noStrike">
              <a:solidFill>
                <a:srgbClr val="355269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53"/>
          <p:cNvSpPr/>
          <p:nvPr/>
        </p:nvSpPr>
        <p:spPr>
          <a:xfrm>
            <a:off x="2423160" y="3429000"/>
            <a:ext cx="2834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25000" lnSpcReduction="1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4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Pequenos aumentos de temperatura geraram crescimento bacteriano não linear. 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60"/>
          <p:cNvSpPr/>
          <p:nvPr/>
        </p:nvSpPr>
        <p:spPr>
          <a:xfrm>
            <a:off x="457200" y="1828800"/>
            <a:ext cx="85032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Na primeira etapa, o modelo mostrou que o aumento da temperatura intensifica o crescimento bacteriano e amplia a variabilidade das contagens, elevando o risco microbiológico em praias costeiras.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1"/>
          <p:cNvSpPr/>
          <p:nvPr/>
        </p:nvSpPr>
        <p:spPr>
          <a:xfrm>
            <a:off x="11475720" y="6473880"/>
            <a:ext cx="25524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34"/>
          <p:cNvSpPr/>
          <p:nvPr/>
        </p:nvSpPr>
        <p:spPr>
          <a:xfrm>
            <a:off x="6629400" y="2651760"/>
            <a:ext cx="3474720" cy="1463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Ratkowsky conectou clima e crescimento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taxa de crescimento passou a depender diretamente da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temperatura da água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31"/>
          <p:cNvSpPr/>
          <p:nvPr/>
        </p:nvSpPr>
        <p:spPr>
          <a:xfrm>
            <a:off x="2240280" y="4480560"/>
            <a:ext cx="3474720" cy="1463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rial"/>
              </a:rPr>
              <a:t>Poisson representou a variabilidade inicial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 contagens bacterianas foram tratadas como eventos aleatórios em torno de uma média esperada.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32"/>
          <p:cNvSpPr/>
          <p:nvPr/>
        </p:nvSpPr>
        <p:spPr>
          <a:xfrm>
            <a:off x="6583680" y="4480560"/>
            <a:ext cx="3474720" cy="1463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rial"/>
              </a:rPr>
              <a:t>Risco aumenta em águas mais quentes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 faixa típica do verão carioca, o modelo indicou maior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chance de exceder limites seguros.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"/>
          <p:cNvPicPr/>
          <p:nvPr/>
        </p:nvPicPr>
        <p:blipFill>
          <a:blip r:embed="rId1"/>
          <a:stretch/>
        </p:blipFill>
        <p:spPr>
          <a:xfrm>
            <a:off x="18720" y="3960"/>
            <a:ext cx="12184560" cy="6857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"/>
          <p:cNvPicPr/>
          <p:nvPr/>
        </p:nvPicPr>
        <p:blipFill>
          <a:blip r:embed="rId1"/>
          <a:stretch/>
        </p:blipFill>
        <p:spPr>
          <a:xfrm>
            <a:off x="18720" y="3960"/>
            <a:ext cx="12184560" cy="6857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2"/>
          <p:cNvSpPr/>
          <p:nvPr/>
        </p:nvSpPr>
        <p:spPr>
          <a:xfrm>
            <a:off x="0" y="0"/>
            <a:ext cx="12191040" cy="6577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9"/>
          <p:cNvSpPr/>
          <p:nvPr/>
        </p:nvSpPr>
        <p:spPr>
          <a:xfrm>
            <a:off x="502920" y="146160"/>
            <a:ext cx="88689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o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r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q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u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e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tr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o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c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a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r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d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e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m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o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d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el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o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35"/>
          <p:cNvSpPr/>
          <p:nvPr/>
        </p:nvSpPr>
        <p:spPr>
          <a:xfrm>
            <a:off x="9555480" y="173880"/>
            <a:ext cx="2056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substitui o exponencial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4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36"/>
          <p:cNvSpPr/>
          <p:nvPr/>
        </p:nvSpPr>
        <p:spPr>
          <a:xfrm>
            <a:off x="502920" y="6473880"/>
            <a:ext cx="32911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37"/>
          <p:cNvSpPr/>
          <p:nvPr/>
        </p:nvSpPr>
        <p:spPr>
          <a:xfrm>
            <a:off x="137880" y="915120"/>
            <a:ext cx="55771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Limita</a:t>
            </a:r>
            <a:r>
              <a:rPr lang="en-US" sz="2600" b="1" u="none" strike="noStrike">
                <a:solidFill>
                  <a:srgbClr val="16324f"/>
                </a:solidFill>
                <a:effectLst/>
                <a:uFillTx/>
                <a:latin typeface="Aptos"/>
                <a:ea typeface="Aptos Display"/>
              </a:rPr>
              <a:t>ç</a:t>
            </a:r>
            <a:r>
              <a:rPr lang="en-US" sz="2600" b="1" u="none" strike="noStrike">
                <a:solidFill>
                  <a:srgbClr val="1f2937"/>
                </a:solidFill>
                <a:effectLst/>
                <a:uFillTx/>
                <a:latin typeface="Aptos"/>
                <a:ea typeface="Aptos Display"/>
              </a:rPr>
              <a:t>ã</a:t>
            </a:r>
            <a:r>
              <a:rPr lang="en-US" sz="26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o 1 – crescimento infinito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9"/>
          <p:cNvSpPr/>
          <p:nvPr/>
        </p:nvSpPr>
        <p:spPr>
          <a:xfrm>
            <a:off x="868680" y="2880360"/>
            <a:ext cx="2331000" cy="867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39"/>
          <p:cNvSpPr/>
          <p:nvPr/>
        </p:nvSpPr>
        <p:spPr>
          <a:xfrm>
            <a:off x="1051560" y="3044880"/>
            <a:ext cx="1965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N(t)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40"/>
          <p:cNvSpPr/>
          <p:nvPr/>
        </p:nvSpPr>
        <p:spPr>
          <a:xfrm>
            <a:off x="1051560" y="3383280"/>
            <a:ext cx="1965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concentração bacteriana no tempo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22"/>
          <p:cNvSpPr/>
          <p:nvPr/>
        </p:nvSpPr>
        <p:spPr>
          <a:xfrm>
            <a:off x="3429000" y="2880360"/>
            <a:ext cx="2422440" cy="867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41"/>
          <p:cNvSpPr/>
          <p:nvPr/>
        </p:nvSpPr>
        <p:spPr>
          <a:xfrm>
            <a:off x="3611880" y="3044880"/>
            <a:ext cx="2056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r(T)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42"/>
          <p:cNvSpPr/>
          <p:nvPr/>
        </p:nvSpPr>
        <p:spPr>
          <a:xfrm>
            <a:off x="3611880" y="3383280"/>
            <a:ext cx="2056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taxa de crescimento dependente da temperatura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24"/>
          <p:cNvSpPr/>
          <p:nvPr/>
        </p:nvSpPr>
        <p:spPr>
          <a:xfrm>
            <a:off x="868680" y="4023360"/>
            <a:ext cx="2331000" cy="867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51560" y="4187880"/>
            <a:ext cx="1965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051560" y="4526280"/>
            <a:ext cx="1965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capacidade de suporte do ambiente costeiro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6"/>
          <p:cNvSpPr/>
          <p:nvPr/>
        </p:nvSpPr>
        <p:spPr>
          <a:xfrm>
            <a:off x="3429000" y="4023360"/>
            <a:ext cx="2422440" cy="13251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3611880" y="4187880"/>
            <a:ext cx="2056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Interpretação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611880" y="4526280"/>
            <a:ext cx="20566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K resume recursos disponíveis: nutrientes, espaço, oxigênio, luz, salinidade e competição microbiana.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412200" y="1828800"/>
            <a:ext cx="46170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Na primeira etapa, o modelo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48"/>
          <p:cNvSpPr/>
          <p:nvPr/>
        </p:nvSpPr>
        <p:spPr>
          <a:xfrm>
            <a:off x="11475720" y="6473880"/>
            <a:ext cx="25524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3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0"/>
          <p:cNvSpPr/>
          <p:nvPr/>
        </p:nvSpPr>
        <p:spPr>
          <a:xfrm>
            <a:off x="0" y="0"/>
            <a:ext cx="12191040" cy="6577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"/>
          <p:cNvSpPr/>
          <p:nvPr/>
        </p:nvSpPr>
        <p:spPr>
          <a:xfrm>
            <a:off x="502920" y="146160"/>
            <a:ext cx="88689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Novo Modelo 1: crescimento logístico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2"/>
          <p:cNvSpPr/>
          <p:nvPr/>
        </p:nvSpPr>
        <p:spPr>
          <a:xfrm>
            <a:off x="9555480" y="173880"/>
            <a:ext cx="2056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substitui o exponencial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502920" y="6473880"/>
            <a:ext cx="32911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685800" y="1143000"/>
            <a:ext cx="55771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dN/dt = r(T) · N · (1 − N/K)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868680" y="1993320"/>
            <a:ext cx="52113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termo (1 − N/K) reduz o crescimento quando a população se aproxima da capacidade de suporte do ambiente.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7"/>
          <p:cNvSpPr/>
          <p:nvPr/>
        </p:nvSpPr>
        <p:spPr>
          <a:xfrm>
            <a:off x="868680" y="2880360"/>
            <a:ext cx="2331000" cy="867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8"/>
          <p:cNvSpPr/>
          <p:nvPr/>
        </p:nvSpPr>
        <p:spPr>
          <a:xfrm>
            <a:off x="1051560" y="3044880"/>
            <a:ext cx="1965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N(t)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9"/>
          <p:cNvSpPr/>
          <p:nvPr/>
        </p:nvSpPr>
        <p:spPr>
          <a:xfrm>
            <a:off x="1051560" y="3383280"/>
            <a:ext cx="1965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concentração bacteriana no tempo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10"/>
          <p:cNvSpPr/>
          <p:nvPr/>
        </p:nvSpPr>
        <p:spPr>
          <a:xfrm>
            <a:off x="3429000" y="2880360"/>
            <a:ext cx="2422440" cy="867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1"/>
          <p:cNvSpPr/>
          <p:nvPr/>
        </p:nvSpPr>
        <p:spPr>
          <a:xfrm>
            <a:off x="3611880" y="3044880"/>
            <a:ext cx="2056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r(T)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2"/>
          <p:cNvSpPr/>
          <p:nvPr/>
        </p:nvSpPr>
        <p:spPr>
          <a:xfrm>
            <a:off x="3611880" y="3383280"/>
            <a:ext cx="2056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taxa de crescimento dependente da temperatura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3"/>
          <p:cNvSpPr/>
          <p:nvPr/>
        </p:nvSpPr>
        <p:spPr>
          <a:xfrm>
            <a:off x="868680" y="4023360"/>
            <a:ext cx="2331000" cy="867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4"/>
          <p:cNvSpPr/>
          <p:nvPr/>
        </p:nvSpPr>
        <p:spPr>
          <a:xfrm>
            <a:off x="1051560" y="4187880"/>
            <a:ext cx="1965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5"/>
          <p:cNvSpPr/>
          <p:nvPr/>
        </p:nvSpPr>
        <p:spPr>
          <a:xfrm>
            <a:off x="1051560" y="4526280"/>
            <a:ext cx="1965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capacidade de suporte do ambiente costeiro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6"/>
          <p:cNvSpPr/>
          <p:nvPr/>
        </p:nvSpPr>
        <p:spPr>
          <a:xfrm>
            <a:off x="3429000" y="4023360"/>
            <a:ext cx="2422440" cy="13251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7"/>
          <p:cNvSpPr/>
          <p:nvPr/>
        </p:nvSpPr>
        <p:spPr>
          <a:xfrm>
            <a:off x="3611880" y="4187880"/>
            <a:ext cx="2056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Interpretação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8"/>
          <p:cNvSpPr/>
          <p:nvPr/>
        </p:nvSpPr>
        <p:spPr>
          <a:xfrm>
            <a:off x="3611880" y="4526280"/>
            <a:ext cx="20566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K resume recursos disponíveis: nutrientes, espaço, oxigênio, luz, salinidade e competição microbiana.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Image 0" descr="/mnt/data/logistico_vs_exp.sv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492240" y="1143000"/>
            <a:ext cx="4982760" cy="248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Text 19"/>
          <p:cNvSpPr/>
          <p:nvPr/>
        </p:nvSpPr>
        <p:spPr>
          <a:xfrm>
            <a:off x="6629400" y="3977640"/>
            <a:ext cx="46170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Resultado esperado: a curva cresce rápido no início, mas desacelera até estabilizar em K, evitando previsões irreais para tempos longos.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0"/>
          <p:cNvSpPr/>
          <p:nvPr/>
        </p:nvSpPr>
        <p:spPr>
          <a:xfrm>
            <a:off x="11475720" y="6473880"/>
            <a:ext cx="25524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3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0"/>
          <p:cNvSpPr/>
          <p:nvPr/>
        </p:nvSpPr>
        <p:spPr>
          <a:xfrm>
            <a:off x="0" y="0"/>
            <a:ext cx="12191040" cy="6577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502920" y="146160"/>
            <a:ext cx="88689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Mantendo Ratkowsky: temperatura entra em r(T)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"/>
          <p:cNvSpPr/>
          <p:nvPr/>
        </p:nvSpPr>
        <p:spPr>
          <a:xfrm>
            <a:off x="9555480" y="173880"/>
            <a:ext cx="2056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ponte entre clima e crescimento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4"/>
          <p:cNvSpPr/>
          <p:nvPr/>
        </p:nvSpPr>
        <p:spPr>
          <a:xfrm>
            <a:off x="502920" y="6473880"/>
            <a:ext cx="32911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5"/>
          <p:cNvSpPr/>
          <p:nvPr/>
        </p:nvSpPr>
        <p:spPr>
          <a:xfrm>
            <a:off x="731520" y="1051560"/>
            <a:ext cx="53485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√r(T) = a · (T − T_min)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6"/>
          <p:cNvSpPr/>
          <p:nvPr/>
        </p:nvSpPr>
        <p:spPr>
          <a:xfrm>
            <a:off x="731520" y="1691640"/>
            <a:ext cx="53485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e6ba8"/>
                </a:solidFill>
                <a:effectLst/>
                <a:uFillTx/>
                <a:latin typeface="Aptos Display"/>
                <a:ea typeface="Aptos Display"/>
              </a:rPr>
              <a:t>r(T) = [a · (T − T_min)]²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7"/>
          <p:cNvSpPr/>
          <p:nvPr/>
        </p:nvSpPr>
        <p:spPr>
          <a:xfrm>
            <a:off x="868680" y="2487240"/>
            <a:ext cx="50742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diferença agora é que r(T) não alimenta mais um crescimento ilimitado. Ele acelera a chegada à saturação K.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8"/>
          <p:cNvSpPr/>
          <p:nvPr/>
        </p:nvSpPr>
        <p:spPr>
          <a:xfrm>
            <a:off x="868680" y="3657600"/>
            <a:ext cx="5074200" cy="10508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9"/>
          <p:cNvSpPr/>
          <p:nvPr/>
        </p:nvSpPr>
        <p:spPr>
          <a:xfrm>
            <a:off x="1051560" y="3822120"/>
            <a:ext cx="47084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Leitura ambiental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0"/>
          <p:cNvSpPr/>
          <p:nvPr/>
        </p:nvSpPr>
        <p:spPr>
          <a:xfrm>
            <a:off x="1051560" y="4160520"/>
            <a:ext cx="47084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temperaturas maiores aumentam a velocidade de crescimento, mas não eliminam limites ecológicos.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1"/>
          <p:cNvSpPr/>
          <p:nvPr/>
        </p:nvSpPr>
        <p:spPr>
          <a:xfrm>
            <a:off x="6400800" y="1097280"/>
            <a:ext cx="4708440" cy="12337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2"/>
          <p:cNvSpPr/>
          <p:nvPr/>
        </p:nvSpPr>
        <p:spPr>
          <a:xfrm>
            <a:off x="6583680" y="1261800"/>
            <a:ext cx="4342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Equação integrada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3"/>
          <p:cNvSpPr/>
          <p:nvPr/>
        </p:nvSpPr>
        <p:spPr>
          <a:xfrm>
            <a:off x="6583680" y="1600200"/>
            <a:ext cx="43426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N(t,T) = K / [1 + ((K−N₀)/N₀) · e^(−r(T)t)]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14"/>
          <p:cNvSpPr/>
          <p:nvPr/>
        </p:nvSpPr>
        <p:spPr>
          <a:xfrm>
            <a:off x="6400800" y="2743200"/>
            <a:ext cx="4708440" cy="13251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5"/>
          <p:cNvSpPr/>
          <p:nvPr/>
        </p:nvSpPr>
        <p:spPr>
          <a:xfrm>
            <a:off x="6583680" y="2907720"/>
            <a:ext cx="4342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Comparação com a Parte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6"/>
          <p:cNvSpPr/>
          <p:nvPr/>
        </p:nvSpPr>
        <p:spPr>
          <a:xfrm>
            <a:off x="6583680" y="3246120"/>
            <a:ext cx="43426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Antes: λ crescia exponencialmente sem limite. Agora: λ cresce até uma concentração máxima plausível definida por K.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7"/>
          <p:cNvSpPr/>
          <p:nvPr/>
        </p:nvSpPr>
        <p:spPr>
          <a:xfrm>
            <a:off x="6400800" y="4526280"/>
            <a:ext cx="4708440" cy="1096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8"/>
          <p:cNvSpPr/>
          <p:nvPr/>
        </p:nvSpPr>
        <p:spPr>
          <a:xfrm>
            <a:off x="6583680" y="4690800"/>
            <a:ext cx="4342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Mensagem para apresentar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9"/>
          <p:cNvSpPr/>
          <p:nvPr/>
        </p:nvSpPr>
        <p:spPr>
          <a:xfrm>
            <a:off x="6583680" y="5029200"/>
            <a:ext cx="4342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aquecimento continua importante, mas o novo modelo separa velocidade de crescimento e limite ambiental.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0"/>
          <p:cNvSpPr/>
          <p:nvPr/>
        </p:nvSpPr>
        <p:spPr>
          <a:xfrm>
            <a:off x="11475720" y="6473880"/>
            <a:ext cx="25524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4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>
        <mc:Choice xmlns:a14="http://schemas.microsoft.com/office/drawing/2010/main" Requires="a14">
          <p:sp>
            <p:nvSpPr>
              <p:cNvPr id="95" name=""/>
              <p:cNvSpPr txBox="1"/>
              <p:nvPr/>
            </p:nvSpPr>
            <p:spPr>
              <a:xfrm>
                <a:off x="5476320" y="3115440"/>
                <a:ext cx="1269720" cy="63468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/>
                </a14:m>
              </a:p>
            </p:txBody>
          </p:sp>
        </mc:Choice>
        <mc:Fallback>
          <p:sp>
            <p:nvSpPr>
              <p:cNvPr id="95" name=""/>
              <p:cNvSpPr txBox="1"/>
              <p:nvPr/>
            </p:nvSpPr>
            <p:spPr>
              <a:xfrm>
                <a:off x="5476320" y="3115440"/>
                <a:ext cx="1269720" cy="634680"/>
              </a:xfrm>
              <a:prstGeom prst="rect">
                <a:avLst/>
              </a:prstGeom>
              <a:blipFill>
                <a:blip r:embed="rId1"/>
                <a:stretch>
                  <a:fillRect/>
                </a:stretch>
              </a:blipFill>
            </p:spPr>
          </p:sp>
        </mc:Fallback>
      </mc:AlternateContent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0"/>
          <p:cNvSpPr/>
          <p:nvPr/>
        </p:nvSpPr>
        <p:spPr>
          <a:xfrm>
            <a:off x="0" y="0"/>
            <a:ext cx="12191040" cy="6577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"/>
          <p:cNvSpPr/>
          <p:nvPr/>
        </p:nvSpPr>
        <p:spPr>
          <a:xfrm>
            <a:off x="502920" y="146160"/>
            <a:ext cx="88689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Novo Modelo 2: binomial negativa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"/>
          <p:cNvSpPr/>
          <p:nvPr/>
        </p:nvSpPr>
        <p:spPr>
          <a:xfrm>
            <a:off x="9555480" y="173880"/>
            <a:ext cx="2056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substitui a Poisson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4"/>
          <p:cNvSpPr/>
          <p:nvPr/>
        </p:nvSpPr>
        <p:spPr>
          <a:xfrm>
            <a:off x="502920" y="6473880"/>
            <a:ext cx="32911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5"/>
          <p:cNvSpPr/>
          <p:nvPr/>
        </p:nvSpPr>
        <p:spPr>
          <a:xfrm>
            <a:off x="777240" y="1078920"/>
            <a:ext cx="43884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4c956c"/>
                </a:solidFill>
                <a:effectLst/>
                <a:uFillTx/>
                <a:latin typeface="Aptos Display"/>
                <a:ea typeface="Aptos Display"/>
              </a:rPr>
              <a:t>X ~ NegBin(μ, k)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6"/>
          <p:cNvSpPr/>
          <p:nvPr/>
        </p:nvSpPr>
        <p:spPr>
          <a:xfrm>
            <a:off x="868680" y="1828800"/>
            <a:ext cx="46627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binomial negativa modela contagens quando os dados apresentam superdispersão: Var(X) &gt; E[X].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7"/>
          <p:cNvSpPr/>
          <p:nvPr/>
        </p:nvSpPr>
        <p:spPr>
          <a:xfrm>
            <a:off x="868680" y="2788920"/>
            <a:ext cx="2056680" cy="730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8"/>
          <p:cNvSpPr/>
          <p:nvPr/>
        </p:nvSpPr>
        <p:spPr>
          <a:xfrm>
            <a:off x="1051560" y="2953440"/>
            <a:ext cx="16909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Média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9"/>
          <p:cNvSpPr/>
          <p:nvPr/>
        </p:nvSpPr>
        <p:spPr>
          <a:xfrm>
            <a:off x="1051560" y="3291840"/>
            <a:ext cx="1690920" cy="9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625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E[X] = μ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0"/>
          <p:cNvSpPr/>
          <p:nvPr/>
        </p:nvSpPr>
        <p:spPr>
          <a:xfrm>
            <a:off x="3246120" y="2788920"/>
            <a:ext cx="2239560" cy="730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1"/>
          <p:cNvSpPr/>
          <p:nvPr/>
        </p:nvSpPr>
        <p:spPr>
          <a:xfrm>
            <a:off x="3429000" y="2953440"/>
            <a:ext cx="1873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Variância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2"/>
          <p:cNvSpPr/>
          <p:nvPr/>
        </p:nvSpPr>
        <p:spPr>
          <a:xfrm>
            <a:off x="3429000" y="3291840"/>
            <a:ext cx="1873800" cy="9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625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Var(X) = μ + μ²/k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13"/>
          <p:cNvSpPr/>
          <p:nvPr/>
        </p:nvSpPr>
        <p:spPr>
          <a:xfrm>
            <a:off x="868680" y="3886200"/>
            <a:ext cx="4617000" cy="10508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4"/>
          <p:cNvSpPr/>
          <p:nvPr/>
        </p:nvSpPr>
        <p:spPr>
          <a:xfrm>
            <a:off x="1051560" y="4050720"/>
            <a:ext cx="4251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Papel de 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5"/>
          <p:cNvSpPr/>
          <p:nvPr/>
        </p:nvSpPr>
        <p:spPr>
          <a:xfrm>
            <a:off x="1051560" y="4389120"/>
            <a:ext cx="42512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quanto menor k, maior a agregação e a incerteza nas contagens.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Image 0" descr="/mnt/data/poisson_vs_nb.sv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172200" y="1024200"/>
            <a:ext cx="5257080" cy="263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 16"/>
          <p:cNvSpPr/>
          <p:nvPr/>
        </p:nvSpPr>
        <p:spPr>
          <a:xfrm>
            <a:off x="6355080" y="3977640"/>
            <a:ext cx="4799880" cy="10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Interpretação: mesmo com a mesma média μ, a binomial negativa coloca mais probabilidade em valores extremos. Isso é essencial para estimar risco de ultrapassar limites sanitários.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7"/>
          <p:cNvSpPr/>
          <p:nvPr/>
        </p:nvSpPr>
        <p:spPr>
          <a:xfrm>
            <a:off x="11475720" y="6473880"/>
            <a:ext cx="25524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0"/>
          <p:cNvSpPr/>
          <p:nvPr/>
        </p:nvSpPr>
        <p:spPr>
          <a:xfrm>
            <a:off x="0" y="0"/>
            <a:ext cx="12191040" cy="6577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"/>
          <p:cNvSpPr/>
          <p:nvPr/>
        </p:nvSpPr>
        <p:spPr>
          <a:xfrm>
            <a:off x="502920" y="146160"/>
            <a:ext cx="88689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Modelo final da Parte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2"/>
          <p:cNvSpPr/>
          <p:nvPr/>
        </p:nvSpPr>
        <p:spPr>
          <a:xfrm>
            <a:off x="9555480" y="173880"/>
            <a:ext cx="2056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integração dos componentes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4"/>
          <p:cNvSpPr/>
          <p:nvPr/>
        </p:nvSpPr>
        <p:spPr>
          <a:xfrm>
            <a:off x="502920" y="6473880"/>
            <a:ext cx="32911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5"/>
          <p:cNvSpPr/>
          <p:nvPr/>
        </p:nvSpPr>
        <p:spPr>
          <a:xfrm>
            <a:off x="731520" y="960120"/>
            <a:ext cx="106063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nova estrutura mantém o encadeamento da apresentação original, mas troca os blocos responsáveis por crescimento e variabilidade.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6"/>
          <p:cNvSpPr/>
          <p:nvPr/>
        </p:nvSpPr>
        <p:spPr>
          <a:xfrm>
            <a:off x="822960" y="2011680"/>
            <a:ext cx="1965240" cy="1416600"/>
          </a:xfrm>
          <a:prstGeom prst="roundRect">
            <a:avLst>
              <a:gd name="adj" fmla="val 3226"/>
            </a:avLst>
          </a:prstGeom>
          <a:solidFill>
            <a:srgbClr val="0e6ba8"/>
          </a:solidFill>
          <a:ln w="127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7"/>
          <p:cNvSpPr/>
          <p:nvPr/>
        </p:nvSpPr>
        <p:spPr>
          <a:xfrm>
            <a:off x="960120" y="2240280"/>
            <a:ext cx="16909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Temperatura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8"/>
          <p:cNvSpPr/>
          <p:nvPr/>
        </p:nvSpPr>
        <p:spPr>
          <a:xfrm>
            <a:off x="987480" y="2697480"/>
            <a:ext cx="16452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 da água costeira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9"/>
          <p:cNvSpPr/>
          <p:nvPr/>
        </p:nvSpPr>
        <p:spPr>
          <a:xfrm>
            <a:off x="2834640" y="2423160"/>
            <a:ext cx="319320" cy="54792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0"/>
          <p:cNvSpPr/>
          <p:nvPr/>
        </p:nvSpPr>
        <p:spPr>
          <a:xfrm>
            <a:off x="3291840" y="2011680"/>
            <a:ext cx="1965240" cy="1416600"/>
          </a:xfrm>
          <a:prstGeom prst="roundRect">
            <a:avLst>
              <a:gd name="adj" fmla="val 3226"/>
            </a:avLst>
          </a:prstGeom>
          <a:solidFill>
            <a:srgbClr val="00a6a6"/>
          </a:solidFill>
          <a:ln w="12700">
            <a:solidFill>
              <a:srgbClr val="00a6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1"/>
          <p:cNvSpPr/>
          <p:nvPr/>
        </p:nvSpPr>
        <p:spPr>
          <a:xfrm>
            <a:off x="3429000" y="2240280"/>
            <a:ext cx="16909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Ratkowsky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2"/>
          <p:cNvSpPr/>
          <p:nvPr/>
        </p:nvSpPr>
        <p:spPr>
          <a:xfrm>
            <a:off x="3456360" y="2697480"/>
            <a:ext cx="16452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r(T) = [a(T−Tmin)]²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3"/>
          <p:cNvSpPr/>
          <p:nvPr/>
        </p:nvSpPr>
        <p:spPr>
          <a:xfrm>
            <a:off x="5303520" y="2423160"/>
            <a:ext cx="319320" cy="54792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4"/>
          <p:cNvSpPr/>
          <p:nvPr/>
        </p:nvSpPr>
        <p:spPr>
          <a:xfrm>
            <a:off x="5760720" y="2011680"/>
            <a:ext cx="1965240" cy="1416600"/>
          </a:xfrm>
          <a:prstGeom prst="roundRect">
            <a:avLst>
              <a:gd name="adj" fmla="val 3226"/>
            </a:avLst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5"/>
          <p:cNvSpPr/>
          <p:nvPr/>
        </p:nvSpPr>
        <p:spPr>
          <a:xfrm>
            <a:off x="5897880" y="2240280"/>
            <a:ext cx="16909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Logístico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6"/>
          <p:cNvSpPr/>
          <p:nvPr/>
        </p:nvSpPr>
        <p:spPr>
          <a:xfrm>
            <a:off x="5925240" y="2697480"/>
            <a:ext cx="16452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μ = N(t,T) limitado por 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17"/>
          <p:cNvSpPr/>
          <p:nvPr/>
        </p:nvSpPr>
        <p:spPr>
          <a:xfrm>
            <a:off x="7772400" y="2423160"/>
            <a:ext cx="319320" cy="54792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18"/>
          <p:cNvSpPr/>
          <p:nvPr/>
        </p:nvSpPr>
        <p:spPr>
          <a:xfrm>
            <a:off x="8229600" y="2011680"/>
            <a:ext cx="1965240" cy="1416600"/>
          </a:xfrm>
          <a:prstGeom prst="roundRect">
            <a:avLst>
              <a:gd name="adj" fmla="val 3226"/>
            </a:avLst>
          </a:prstGeom>
          <a:solidFill>
            <a:srgbClr val="4c956c"/>
          </a:solidFill>
          <a:ln w="127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9"/>
          <p:cNvSpPr/>
          <p:nvPr/>
        </p:nvSpPr>
        <p:spPr>
          <a:xfrm>
            <a:off x="8366760" y="2240280"/>
            <a:ext cx="16909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Binomial Negativa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0"/>
          <p:cNvSpPr/>
          <p:nvPr/>
        </p:nvSpPr>
        <p:spPr>
          <a:xfrm>
            <a:off x="8394120" y="2697480"/>
            <a:ext cx="16452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X ~ NegBin(μ,k)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1"/>
          <p:cNvSpPr/>
          <p:nvPr/>
        </p:nvSpPr>
        <p:spPr>
          <a:xfrm>
            <a:off x="1965960" y="4297680"/>
            <a:ext cx="82288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P(X &gt; c) = 1 − F_NegBin(c; μ, k)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2"/>
          <p:cNvSpPr/>
          <p:nvPr/>
        </p:nvSpPr>
        <p:spPr>
          <a:xfrm>
            <a:off x="1645920" y="5120640"/>
            <a:ext cx="89604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 representa o limite seguro de contaminação. A probabilidade de risco agora depende da temperatura, do tempo, da capacidade de suporte e da superdispersão.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3"/>
          <p:cNvSpPr/>
          <p:nvPr/>
        </p:nvSpPr>
        <p:spPr>
          <a:xfrm>
            <a:off x="11475720" y="6473880"/>
            <a:ext cx="25524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6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0"/>
          <p:cNvSpPr/>
          <p:nvPr/>
        </p:nvSpPr>
        <p:spPr>
          <a:xfrm>
            <a:off x="0" y="0"/>
            <a:ext cx="12191040" cy="6577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"/>
          <p:cNvSpPr/>
          <p:nvPr/>
        </p:nvSpPr>
        <p:spPr>
          <a:xfrm>
            <a:off x="502920" y="146160"/>
            <a:ext cx="88689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O que muda nos resultados?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2"/>
          <p:cNvSpPr/>
          <p:nvPr/>
        </p:nvSpPr>
        <p:spPr>
          <a:xfrm>
            <a:off x="9555480" y="173880"/>
            <a:ext cx="2056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comparação conceitual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4"/>
          <p:cNvSpPr/>
          <p:nvPr/>
        </p:nvSpPr>
        <p:spPr>
          <a:xfrm>
            <a:off x="502920" y="6473880"/>
            <a:ext cx="32911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5"/>
          <p:cNvSpPr/>
          <p:nvPr/>
        </p:nvSpPr>
        <p:spPr>
          <a:xfrm>
            <a:off x="822960" y="1143000"/>
            <a:ext cx="3382560" cy="41140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6"/>
          <p:cNvSpPr/>
          <p:nvPr/>
        </p:nvSpPr>
        <p:spPr>
          <a:xfrm>
            <a:off x="1005840" y="1307520"/>
            <a:ext cx="3016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 Poisson + exponencial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7"/>
          <p:cNvSpPr/>
          <p:nvPr/>
        </p:nvSpPr>
        <p:spPr>
          <a:xfrm>
            <a:off x="1005840" y="1645920"/>
            <a:ext cx="3016800" cy="34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crescimento sem limite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Var(X) = λ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caudas mais estreitas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risco pode ser subestimado quando há agregação bacteriana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8"/>
          <p:cNvSpPr/>
          <p:nvPr/>
        </p:nvSpPr>
        <p:spPr>
          <a:xfrm>
            <a:off x="4434840" y="1143000"/>
            <a:ext cx="3382560" cy="41140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9"/>
          <p:cNvSpPr/>
          <p:nvPr/>
        </p:nvSpPr>
        <p:spPr>
          <a:xfrm>
            <a:off x="4617720" y="1307520"/>
            <a:ext cx="3016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 binomial negativa + logístico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0"/>
          <p:cNvSpPr/>
          <p:nvPr/>
        </p:nvSpPr>
        <p:spPr>
          <a:xfrm>
            <a:off x="4617720" y="1645920"/>
            <a:ext cx="3016800" cy="34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crescimento limitado por 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Var(X) &gt; μ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caudas mais pesadas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risco extremo fica mais realista para amostras ambientais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1"/>
          <p:cNvSpPr/>
          <p:nvPr/>
        </p:nvSpPr>
        <p:spPr>
          <a:xfrm>
            <a:off x="8046720" y="1143000"/>
            <a:ext cx="3382560" cy="41140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2"/>
          <p:cNvSpPr/>
          <p:nvPr/>
        </p:nvSpPr>
        <p:spPr>
          <a:xfrm>
            <a:off x="8229600" y="1307520"/>
            <a:ext cx="3016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Conclusão prática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3"/>
          <p:cNvSpPr/>
          <p:nvPr/>
        </p:nvSpPr>
        <p:spPr>
          <a:xfrm>
            <a:off x="8229600" y="1645920"/>
            <a:ext cx="3016800" cy="34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novo modelo é menos “explosivo” no crescimento médio, mas mais conservador na cauda de risco. Isso melhora decisões como alerta pós-chuva e interdição temporária.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4"/>
          <p:cNvSpPr/>
          <p:nvPr/>
        </p:nvSpPr>
        <p:spPr>
          <a:xfrm>
            <a:off x="11475720" y="6473880"/>
            <a:ext cx="25524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7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hape 0"/>
          <p:cNvSpPr/>
          <p:nvPr/>
        </p:nvSpPr>
        <p:spPr>
          <a:xfrm>
            <a:off x="0" y="0"/>
            <a:ext cx="12191040" cy="6577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"/>
          <p:cNvSpPr/>
          <p:nvPr/>
        </p:nvSpPr>
        <p:spPr>
          <a:xfrm>
            <a:off x="502920" y="146160"/>
            <a:ext cx="88689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Parâmetros da nova simulação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"/>
          <p:cNvSpPr/>
          <p:nvPr/>
        </p:nvSpPr>
        <p:spPr>
          <a:xfrm>
            <a:off x="9555480" y="173880"/>
            <a:ext cx="2056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sugestão para apresentar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4"/>
          <p:cNvSpPr/>
          <p:nvPr/>
        </p:nvSpPr>
        <p:spPr>
          <a:xfrm>
            <a:off x="502920" y="6473880"/>
            <a:ext cx="32911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5"/>
          <p:cNvSpPr/>
          <p:nvPr/>
        </p:nvSpPr>
        <p:spPr>
          <a:xfrm>
            <a:off x="822960" y="1051560"/>
            <a:ext cx="4891320" cy="78552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6"/>
          <p:cNvSpPr/>
          <p:nvPr/>
        </p:nvSpPr>
        <p:spPr>
          <a:xfrm>
            <a:off x="987480" y="1216080"/>
            <a:ext cx="776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N₀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7"/>
          <p:cNvSpPr/>
          <p:nvPr/>
        </p:nvSpPr>
        <p:spPr>
          <a:xfrm>
            <a:off x="1874520" y="1207080"/>
            <a:ext cx="16909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100 UFC/100 mL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8"/>
          <p:cNvSpPr/>
          <p:nvPr/>
        </p:nvSpPr>
        <p:spPr>
          <a:xfrm>
            <a:off x="3657600" y="1216080"/>
            <a:ext cx="18280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concentração inicial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9"/>
          <p:cNvSpPr/>
          <p:nvPr/>
        </p:nvSpPr>
        <p:spPr>
          <a:xfrm>
            <a:off x="822960" y="2194560"/>
            <a:ext cx="4891320" cy="78552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0"/>
          <p:cNvSpPr/>
          <p:nvPr/>
        </p:nvSpPr>
        <p:spPr>
          <a:xfrm>
            <a:off x="987480" y="2359080"/>
            <a:ext cx="776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1"/>
          <p:cNvSpPr/>
          <p:nvPr/>
        </p:nvSpPr>
        <p:spPr>
          <a:xfrm>
            <a:off x="1874520" y="2350080"/>
            <a:ext cx="16909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0,02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2"/>
          <p:cNvSpPr/>
          <p:nvPr/>
        </p:nvSpPr>
        <p:spPr>
          <a:xfrm>
            <a:off x="3657600" y="2359080"/>
            <a:ext cx="18280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constante de Ratkowsky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13"/>
          <p:cNvSpPr/>
          <p:nvPr/>
        </p:nvSpPr>
        <p:spPr>
          <a:xfrm>
            <a:off x="822960" y="3337560"/>
            <a:ext cx="4891320" cy="78552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4"/>
          <p:cNvSpPr/>
          <p:nvPr/>
        </p:nvSpPr>
        <p:spPr>
          <a:xfrm>
            <a:off x="987480" y="3502080"/>
            <a:ext cx="776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Tmin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5"/>
          <p:cNvSpPr/>
          <p:nvPr/>
        </p:nvSpPr>
        <p:spPr>
          <a:xfrm>
            <a:off x="1874520" y="3493080"/>
            <a:ext cx="16909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5°C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6"/>
          <p:cNvSpPr/>
          <p:nvPr/>
        </p:nvSpPr>
        <p:spPr>
          <a:xfrm>
            <a:off x="3657600" y="3502080"/>
            <a:ext cx="18280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temperatura mínima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17"/>
          <p:cNvSpPr/>
          <p:nvPr/>
        </p:nvSpPr>
        <p:spPr>
          <a:xfrm>
            <a:off x="822960" y="4480560"/>
            <a:ext cx="4891320" cy="78552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8"/>
          <p:cNvSpPr/>
          <p:nvPr/>
        </p:nvSpPr>
        <p:spPr>
          <a:xfrm>
            <a:off x="987480" y="4645080"/>
            <a:ext cx="776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9"/>
          <p:cNvSpPr/>
          <p:nvPr/>
        </p:nvSpPr>
        <p:spPr>
          <a:xfrm>
            <a:off x="1874520" y="4636080"/>
            <a:ext cx="16909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10.000 UFC/100 mL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20"/>
          <p:cNvSpPr/>
          <p:nvPr/>
        </p:nvSpPr>
        <p:spPr>
          <a:xfrm>
            <a:off x="3657600" y="4645080"/>
            <a:ext cx="18280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capacidade de suporte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21"/>
          <p:cNvSpPr/>
          <p:nvPr/>
        </p:nvSpPr>
        <p:spPr>
          <a:xfrm>
            <a:off x="6309360" y="1051560"/>
            <a:ext cx="4891320" cy="78552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2"/>
          <p:cNvSpPr/>
          <p:nvPr/>
        </p:nvSpPr>
        <p:spPr>
          <a:xfrm>
            <a:off x="6473880" y="1216080"/>
            <a:ext cx="776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3"/>
          <p:cNvSpPr/>
          <p:nvPr/>
        </p:nvSpPr>
        <p:spPr>
          <a:xfrm>
            <a:off x="7360920" y="1207080"/>
            <a:ext cx="16909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5, 20, 100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24"/>
          <p:cNvSpPr/>
          <p:nvPr/>
        </p:nvSpPr>
        <p:spPr>
          <a:xfrm>
            <a:off x="9144000" y="1216080"/>
            <a:ext cx="18280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grau de superdispersão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25"/>
          <p:cNvSpPr/>
          <p:nvPr/>
        </p:nvSpPr>
        <p:spPr>
          <a:xfrm>
            <a:off x="6309360" y="2194560"/>
            <a:ext cx="4891320" cy="78552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26"/>
          <p:cNvSpPr/>
          <p:nvPr/>
        </p:nvSpPr>
        <p:spPr>
          <a:xfrm>
            <a:off x="6473880" y="2359080"/>
            <a:ext cx="776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27"/>
          <p:cNvSpPr/>
          <p:nvPr/>
        </p:nvSpPr>
        <p:spPr>
          <a:xfrm>
            <a:off x="7360920" y="2350080"/>
            <a:ext cx="16909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15–30°C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8"/>
          <p:cNvSpPr/>
          <p:nvPr/>
        </p:nvSpPr>
        <p:spPr>
          <a:xfrm>
            <a:off x="9144000" y="2359080"/>
            <a:ext cx="18280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faixa simulada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29"/>
          <p:cNvSpPr/>
          <p:nvPr/>
        </p:nvSpPr>
        <p:spPr>
          <a:xfrm>
            <a:off x="6309360" y="3337560"/>
            <a:ext cx="4891320" cy="78552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30"/>
          <p:cNvSpPr/>
          <p:nvPr/>
        </p:nvSpPr>
        <p:spPr>
          <a:xfrm>
            <a:off x="6473880" y="3502080"/>
            <a:ext cx="776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31"/>
          <p:cNvSpPr/>
          <p:nvPr/>
        </p:nvSpPr>
        <p:spPr>
          <a:xfrm>
            <a:off x="7360920" y="3493080"/>
            <a:ext cx="16909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20 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32"/>
          <p:cNvSpPr/>
          <p:nvPr/>
        </p:nvSpPr>
        <p:spPr>
          <a:xfrm>
            <a:off x="9144000" y="3502080"/>
            <a:ext cx="18280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tempo de crescimento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33"/>
          <p:cNvSpPr/>
          <p:nvPr/>
        </p:nvSpPr>
        <p:spPr>
          <a:xfrm>
            <a:off x="960120" y="576072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Sugestão: mostrar três cenários de k. k alto ≈ Poisson; k baixo = maior agregação e maior chance de eventos extremos.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34"/>
          <p:cNvSpPr/>
          <p:nvPr/>
        </p:nvSpPr>
        <p:spPr>
          <a:xfrm>
            <a:off x="11475720" y="6473880"/>
            <a:ext cx="25524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8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Shape 0"/>
          <p:cNvSpPr/>
          <p:nvPr/>
        </p:nvSpPr>
        <p:spPr>
          <a:xfrm>
            <a:off x="0" y="0"/>
            <a:ext cx="12191040" cy="6577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"/>
          <p:cNvSpPr/>
          <p:nvPr/>
        </p:nvSpPr>
        <p:spPr>
          <a:xfrm>
            <a:off x="502920" y="146160"/>
            <a:ext cx="88689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Gráfico-chave para a nova apresentação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"/>
          <p:cNvSpPr/>
          <p:nvPr/>
        </p:nvSpPr>
        <p:spPr>
          <a:xfrm>
            <a:off x="9555480" y="173880"/>
            <a:ext cx="2056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probabilidade de ultrapassar o limite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4"/>
          <p:cNvSpPr/>
          <p:nvPr/>
        </p:nvSpPr>
        <p:spPr>
          <a:xfrm>
            <a:off x="502920" y="6473880"/>
            <a:ext cx="32911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5"/>
          <p:cNvSpPr/>
          <p:nvPr/>
        </p:nvSpPr>
        <p:spPr>
          <a:xfrm>
            <a:off x="868680" y="1051560"/>
            <a:ext cx="6400080" cy="4342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6"/>
          <p:cNvSpPr/>
          <p:nvPr/>
        </p:nvSpPr>
        <p:spPr>
          <a:xfrm>
            <a:off x="1325880" y="4892040"/>
            <a:ext cx="5257800" cy="360"/>
          </a:xfrm>
          <a:prstGeom prst="line">
            <a:avLst/>
          </a:prstGeom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7"/>
          <p:cNvSpPr/>
          <p:nvPr/>
        </p:nvSpPr>
        <p:spPr>
          <a:xfrm>
            <a:off x="1325880" y="1417320"/>
            <a:ext cx="360" cy="3474720"/>
          </a:xfrm>
          <a:prstGeom prst="line">
            <a:avLst/>
          </a:prstGeom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8"/>
          <p:cNvSpPr/>
          <p:nvPr/>
        </p:nvSpPr>
        <p:spPr>
          <a:xfrm>
            <a:off x="3291840" y="5074920"/>
            <a:ext cx="16452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Temperatura (°C)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9"/>
          <p:cNvSpPr/>
          <p:nvPr/>
        </p:nvSpPr>
        <p:spPr>
          <a:xfrm rot="16200000">
            <a:off x="896040" y="1235160"/>
            <a:ext cx="913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P(X &gt; limite)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0"/>
          <p:cNvSpPr/>
          <p:nvPr/>
        </p:nvSpPr>
        <p:spPr>
          <a:xfrm flipV="1">
            <a:off x="1417320" y="4389120"/>
            <a:ext cx="1051560" cy="274320"/>
          </a:xfrm>
          <a:prstGeom prst="line">
            <a:avLst/>
          </a:prstGeom>
          <a:ln w="508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1"/>
          <p:cNvSpPr/>
          <p:nvPr/>
        </p:nvSpPr>
        <p:spPr>
          <a:xfrm flipV="1">
            <a:off x="2468880" y="3657600"/>
            <a:ext cx="1005840" cy="731520"/>
          </a:xfrm>
          <a:prstGeom prst="line">
            <a:avLst/>
          </a:prstGeom>
          <a:ln w="508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2"/>
          <p:cNvSpPr/>
          <p:nvPr/>
        </p:nvSpPr>
        <p:spPr>
          <a:xfrm flipV="1">
            <a:off x="3474720" y="2560320"/>
            <a:ext cx="1005840" cy="1097280"/>
          </a:xfrm>
          <a:prstGeom prst="line">
            <a:avLst/>
          </a:prstGeom>
          <a:ln w="508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13"/>
          <p:cNvSpPr/>
          <p:nvPr/>
        </p:nvSpPr>
        <p:spPr>
          <a:xfrm flipV="1">
            <a:off x="4480560" y="1828800"/>
            <a:ext cx="960120" cy="731520"/>
          </a:xfrm>
          <a:prstGeom prst="line">
            <a:avLst/>
          </a:prstGeom>
          <a:ln w="508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14"/>
          <p:cNvSpPr/>
          <p:nvPr/>
        </p:nvSpPr>
        <p:spPr>
          <a:xfrm flipV="1">
            <a:off x="1417320" y="4343400"/>
            <a:ext cx="960120" cy="137160"/>
          </a:xfrm>
          <a:prstGeom prst="line">
            <a:avLst/>
          </a:prstGeom>
          <a:ln w="508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15"/>
          <p:cNvSpPr/>
          <p:nvPr/>
        </p:nvSpPr>
        <p:spPr>
          <a:xfrm flipV="1">
            <a:off x="2377440" y="3840480"/>
            <a:ext cx="914400" cy="502920"/>
          </a:xfrm>
          <a:prstGeom prst="line">
            <a:avLst/>
          </a:prstGeom>
          <a:ln w="508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6"/>
          <p:cNvSpPr/>
          <p:nvPr/>
        </p:nvSpPr>
        <p:spPr>
          <a:xfrm flipV="1">
            <a:off x="3291840" y="2788920"/>
            <a:ext cx="868680" cy="1051560"/>
          </a:xfrm>
          <a:prstGeom prst="line">
            <a:avLst/>
          </a:prstGeom>
          <a:ln w="508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7"/>
          <p:cNvSpPr/>
          <p:nvPr/>
        </p:nvSpPr>
        <p:spPr>
          <a:xfrm flipV="1">
            <a:off x="4160520" y="1463040"/>
            <a:ext cx="868680" cy="1325880"/>
          </a:xfrm>
          <a:prstGeom prst="line">
            <a:avLst/>
          </a:prstGeom>
          <a:ln w="508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8"/>
          <p:cNvSpPr/>
          <p:nvPr/>
        </p:nvSpPr>
        <p:spPr>
          <a:xfrm>
            <a:off x="5440680" y="1234440"/>
            <a:ext cx="15080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4c956c"/>
                </a:solidFill>
                <a:effectLst/>
                <a:uFillTx/>
                <a:latin typeface="Aptos"/>
              </a:rPr>
              <a:t>Binomial negativa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9"/>
          <p:cNvSpPr/>
          <p:nvPr/>
        </p:nvSpPr>
        <p:spPr>
          <a:xfrm>
            <a:off x="5440680" y="1828800"/>
            <a:ext cx="10051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Poisson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20"/>
          <p:cNvSpPr/>
          <p:nvPr/>
        </p:nvSpPr>
        <p:spPr>
          <a:xfrm>
            <a:off x="7635240" y="1188720"/>
            <a:ext cx="3611160" cy="150804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1"/>
          <p:cNvSpPr/>
          <p:nvPr/>
        </p:nvSpPr>
        <p:spPr>
          <a:xfrm>
            <a:off x="7818120" y="1353240"/>
            <a:ext cx="3245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Mensagem central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22"/>
          <p:cNvSpPr/>
          <p:nvPr/>
        </p:nvSpPr>
        <p:spPr>
          <a:xfrm>
            <a:off x="7818120" y="1691640"/>
            <a:ext cx="32454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Para a mesma média μ, a binomial negativa tende a estimar maior probabilidade de exceder limites seguros, principalmente quando há superdispersão.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23"/>
          <p:cNvSpPr/>
          <p:nvPr/>
        </p:nvSpPr>
        <p:spPr>
          <a:xfrm>
            <a:off x="7635240" y="3063240"/>
            <a:ext cx="3611160" cy="150804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24"/>
          <p:cNvSpPr/>
          <p:nvPr/>
        </p:nvSpPr>
        <p:spPr>
          <a:xfrm>
            <a:off x="7818120" y="3227760"/>
            <a:ext cx="3245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Como explicar no seminário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25"/>
          <p:cNvSpPr/>
          <p:nvPr/>
        </p:nvSpPr>
        <p:spPr>
          <a:xfrm>
            <a:off x="7818120" y="3566160"/>
            <a:ext cx="32454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“O crescimento logístico evita exageros na média, mas a binomial negativa reconhece que amostras ambientais podem ter picos extremos.”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26"/>
          <p:cNvSpPr/>
          <p:nvPr/>
        </p:nvSpPr>
        <p:spPr>
          <a:xfrm>
            <a:off x="11475720" y="6473880"/>
            <a:ext cx="25524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9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Shape 0"/>
          <p:cNvSpPr/>
          <p:nvPr/>
        </p:nvSpPr>
        <p:spPr>
          <a:xfrm>
            <a:off x="0" y="0"/>
            <a:ext cx="12191040" cy="6577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"/>
          <p:cNvSpPr/>
          <p:nvPr/>
        </p:nvSpPr>
        <p:spPr>
          <a:xfrm>
            <a:off x="502920" y="146160"/>
            <a:ext cx="88689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Estrutura sugerida para a fala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"/>
          <p:cNvSpPr/>
          <p:nvPr/>
        </p:nvSpPr>
        <p:spPr>
          <a:xfrm>
            <a:off x="9555480" y="173880"/>
            <a:ext cx="2056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roteiro de apresentação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4"/>
          <p:cNvSpPr/>
          <p:nvPr/>
        </p:nvSpPr>
        <p:spPr>
          <a:xfrm>
            <a:off x="502920" y="6473880"/>
            <a:ext cx="32911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5"/>
          <p:cNvSpPr/>
          <p:nvPr/>
        </p:nvSpPr>
        <p:spPr>
          <a:xfrm>
            <a:off x="868680" y="1005840"/>
            <a:ext cx="529560" cy="529560"/>
          </a:xfrm>
          <a:prstGeom prst="ellipse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6"/>
          <p:cNvSpPr/>
          <p:nvPr/>
        </p:nvSpPr>
        <p:spPr>
          <a:xfrm>
            <a:off x="1024200" y="1152000"/>
            <a:ext cx="21888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7"/>
          <p:cNvSpPr/>
          <p:nvPr/>
        </p:nvSpPr>
        <p:spPr>
          <a:xfrm>
            <a:off x="1645920" y="1033200"/>
            <a:ext cx="2742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Retomar a Parte 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8"/>
          <p:cNvSpPr/>
          <p:nvPr/>
        </p:nvSpPr>
        <p:spPr>
          <a:xfrm>
            <a:off x="4434840" y="1078920"/>
            <a:ext cx="63086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exponencial + Poisson foram úteis, mas simplificam demais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9"/>
          <p:cNvSpPr/>
          <p:nvPr/>
        </p:nvSpPr>
        <p:spPr>
          <a:xfrm>
            <a:off x="868680" y="1965960"/>
            <a:ext cx="529560" cy="529560"/>
          </a:xfrm>
          <a:prstGeom prst="ellipse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0"/>
          <p:cNvSpPr/>
          <p:nvPr/>
        </p:nvSpPr>
        <p:spPr>
          <a:xfrm>
            <a:off x="1024200" y="2112120"/>
            <a:ext cx="21888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1"/>
          <p:cNvSpPr/>
          <p:nvPr/>
        </p:nvSpPr>
        <p:spPr>
          <a:xfrm>
            <a:off x="1645920" y="1993320"/>
            <a:ext cx="2742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Apresentar o logístico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2"/>
          <p:cNvSpPr/>
          <p:nvPr/>
        </p:nvSpPr>
        <p:spPr>
          <a:xfrm>
            <a:off x="4434840" y="2039040"/>
            <a:ext cx="63086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crescimento limitado por capacidade de suporte 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13"/>
          <p:cNvSpPr/>
          <p:nvPr/>
        </p:nvSpPr>
        <p:spPr>
          <a:xfrm>
            <a:off x="868680" y="2926080"/>
            <a:ext cx="529560" cy="529560"/>
          </a:xfrm>
          <a:prstGeom prst="ellipse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4"/>
          <p:cNvSpPr/>
          <p:nvPr/>
        </p:nvSpPr>
        <p:spPr>
          <a:xfrm>
            <a:off x="1024200" y="3072240"/>
            <a:ext cx="21888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5"/>
          <p:cNvSpPr/>
          <p:nvPr/>
        </p:nvSpPr>
        <p:spPr>
          <a:xfrm>
            <a:off x="1645920" y="2953440"/>
            <a:ext cx="2742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Apresentar a binomial negativa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6"/>
          <p:cNvSpPr/>
          <p:nvPr/>
        </p:nvSpPr>
        <p:spPr>
          <a:xfrm>
            <a:off x="4434840" y="2999160"/>
            <a:ext cx="63086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contagens ambientais têm superdispersão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17"/>
          <p:cNvSpPr/>
          <p:nvPr/>
        </p:nvSpPr>
        <p:spPr>
          <a:xfrm>
            <a:off x="868680" y="3886200"/>
            <a:ext cx="529560" cy="529560"/>
          </a:xfrm>
          <a:prstGeom prst="ellipse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8"/>
          <p:cNvSpPr/>
          <p:nvPr/>
        </p:nvSpPr>
        <p:spPr>
          <a:xfrm>
            <a:off x="1024200" y="4032360"/>
            <a:ext cx="21888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9"/>
          <p:cNvSpPr/>
          <p:nvPr/>
        </p:nvSpPr>
        <p:spPr>
          <a:xfrm>
            <a:off x="1645920" y="3913560"/>
            <a:ext cx="2742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Integrar os modelos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20"/>
          <p:cNvSpPr/>
          <p:nvPr/>
        </p:nvSpPr>
        <p:spPr>
          <a:xfrm>
            <a:off x="4434840" y="3959280"/>
            <a:ext cx="63086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 → r(T) → μ(t,T) → P(risco)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21"/>
          <p:cNvSpPr/>
          <p:nvPr/>
        </p:nvSpPr>
        <p:spPr>
          <a:xfrm>
            <a:off x="868680" y="4846320"/>
            <a:ext cx="529560" cy="529560"/>
          </a:xfrm>
          <a:prstGeom prst="ellipse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22"/>
          <p:cNvSpPr/>
          <p:nvPr/>
        </p:nvSpPr>
        <p:spPr>
          <a:xfrm>
            <a:off x="1024200" y="4992480"/>
            <a:ext cx="21888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23"/>
          <p:cNvSpPr/>
          <p:nvPr/>
        </p:nvSpPr>
        <p:spPr>
          <a:xfrm>
            <a:off x="1645920" y="4873680"/>
            <a:ext cx="2742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Comparar resultados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4"/>
          <p:cNvSpPr/>
          <p:nvPr/>
        </p:nvSpPr>
        <p:spPr>
          <a:xfrm>
            <a:off x="4434840" y="4919400"/>
            <a:ext cx="63086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novo modelo é mais realista para praias e dados de campo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25"/>
          <p:cNvSpPr/>
          <p:nvPr/>
        </p:nvSpPr>
        <p:spPr>
          <a:xfrm>
            <a:off x="1097280" y="5806440"/>
            <a:ext cx="99662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Fechamento: “A segunda parte melhora a modelagem porque troca crescimento infinito por saturação ecológica e troca variabilidade idealizada por superdispersão.”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26"/>
          <p:cNvSpPr/>
          <p:nvPr/>
        </p:nvSpPr>
        <p:spPr>
          <a:xfrm>
            <a:off x="11475720" y="6473880"/>
            <a:ext cx="25524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10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"/>
          <p:cNvPicPr/>
          <p:nvPr/>
        </p:nvPicPr>
        <p:blipFill>
          <a:blip r:embed="rId1"/>
          <a:stretch/>
        </p:blipFill>
        <p:spPr>
          <a:xfrm>
            <a:off x="0" y="3960"/>
            <a:ext cx="1218492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Shape 0"/>
          <p:cNvSpPr/>
          <p:nvPr/>
        </p:nvSpPr>
        <p:spPr>
          <a:xfrm>
            <a:off x="0" y="0"/>
            <a:ext cx="12191040" cy="6577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"/>
          <p:cNvSpPr/>
          <p:nvPr/>
        </p:nvSpPr>
        <p:spPr>
          <a:xfrm>
            <a:off x="502920" y="146160"/>
            <a:ext cx="88689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Conclusão da Parte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2"/>
          <p:cNvSpPr/>
          <p:nvPr/>
        </p:nvSpPr>
        <p:spPr>
          <a:xfrm>
            <a:off x="9555480" y="173880"/>
            <a:ext cx="2056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síntese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4"/>
          <p:cNvSpPr/>
          <p:nvPr/>
        </p:nvSpPr>
        <p:spPr>
          <a:xfrm>
            <a:off x="502920" y="6473880"/>
            <a:ext cx="32911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5"/>
          <p:cNvSpPr/>
          <p:nvPr/>
        </p:nvSpPr>
        <p:spPr>
          <a:xfrm>
            <a:off x="822960" y="1143000"/>
            <a:ext cx="3291120" cy="1828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6"/>
          <p:cNvSpPr/>
          <p:nvPr/>
        </p:nvSpPr>
        <p:spPr>
          <a:xfrm>
            <a:off x="1005840" y="1307520"/>
            <a:ext cx="2925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1. Crescimento mais realista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7"/>
          <p:cNvSpPr/>
          <p:nvPr/>
        </p:nvSpPr>
        <p:spPr>
          <a:xfrm>
            <a:off x="1005840" y="1645920"/>
            <a:ext cx="292536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modelo logístico representa a desaceleração natural quando recursos e espaço se tornam limitantes.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8"/>
          <p:cNvSpPr/>
          <p:nvPr/>
        </p:nvSpPr>
        <p:spPr>
          <a:xfrm>
            <a:off x="4434840" y="1143000"/>
            <a:ext cx="3291120" cy="1828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9"/>
          <p:cNvSpPr/>
          <p:nvPr/>
        </p:nvSpPr>
        <p:spPr>
          <a:xfrm>
            <a:off x="4617720" y="1307520"/>
            <a:ext cx="2925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2. Risco mais realista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0"/>
          <p:cNvSpPr/>
          <p:nvPr/>
        </p:nvSpPr>
        <p:spPr>
          <a:xfrm>
            <a:off x="4617720" y="1645920"/>
            <a:ext cx="292536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binomial negativa incorpora superdispersão, comum em contagens bacterianas ambientais.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11"/>
          <p:cNvSpPr/>
          <p:nvPr/>
        </p:nvSpPr>
        <p:spPr>
          <a:xfrm>
            <a:off x="8046720" y="1143000"/>
            <a:ext cx="3291120" cy="1828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2"/>
          <p:cNvSpPr/>
          <p:nvPr/>
        </p:nvSpPr>
        <p:spPr>
          <a:xfrm>
            <a:off x="8229600" y="1307520"/>
            <a:ext cx="2925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3. Decisão sanitária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3"/>
          <p:cNvSpPr/>
          <p:nvPr/>
        </p:nvSpPr>
        <p:spPr>
          <a:xfrm>
            <a:off x="8229600" y="1645920"/>
            <a:ext cx="292536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modelo passa a estimar P(X &gt; limite seguro) de forma mais conservadora para praias sujeitas a picos de contaminação.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4"/>
          <p:cNvSpPr/>
          <p:nvPr/>
        </p:nvSpPr>
        <p:spPr>
          <a:xfrm>
            <a:off x="1143000" y="39776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3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T ↑  →  r(T) ↑  →  μ aproxima K  →  cauda de risco aumenta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15"/>
          <p:cNvSpPr/>
          <p:nvPr/>
        </p:nvSpPr>
        <p:spPr>
          <a:xfrm>
            <a:off x="1463040" y="4983480"/>
            <a:ext cx="91432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mensagem final não é que temperatura explica tudo, mas que ela acelera processos bacterianos em um sistema costeiro limitado e altamente variável.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6"/>
          <p:cNvSpPr/>
          <p:nvPr/>
        </p:nvSpPr>
        <p:spPr>
          <a:xfrm>
            <a:off x="11475720" y="6473880"/>
            <a:ext cx="25524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11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Shape 0"/>
          <p:cNvSpPr/>
          <p:nvPr/>
        </p:nvSpPr>
        <p:spPr>
          <a:xfrm>
            <a:off x="0" y="0"/>
            <a:ext cx="12191040" cy="6577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1"/>
          <p:cNvSpPr/>
          <p:nvPr/>
        </p:nvSpPr>
        <p:spPr>
          <a:xfrm>
            <a:off x="502920" y="146160"/>
            <a:ext cx="88689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Referências para adicionar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2"/>
          <p:cNvSpPr/>
          <p:nvPr/>
        </p:nvSpPr>
        <p:spPr>
          <a:xfrm>
            <a:off x="9555480" y="173880"/>
            <a:ext cx="2056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base teórica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4"/>
          <p:cNvSpPr/>
          <p:nvPr/>
        </p:nvSpPr>
        <p:spPr>
          <a:xfrm>
            <a:off x="502920" y="6473880"/>
            <a:ext cx="32911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5"/>
          <p:cNvSpPr/>
          <p:nvPr/>
        </p:nvSpPr>
        <p:spPr>
          <a:xfrm>
            <a:off x="914400" y="1188720"/>
            <a:ext cx="102405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Ratkowsky et al. (1982) — relação entre temperatura e taxa de crescimento bacteriano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Verhulst (1838) — modelo logístico de crescimento populacional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Hilbe (2011) — Negative Binomial Regression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Haas, Rose &amp; Gerba — Quantitative Microbial Risk Assessment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Casella &amp; Berger — Statistical Inference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6"/>
          <p:cNvSpPr/>
          <p:nvPr/>
        </p:nvSpPr>
        <p:spPr>
          <a:xfrm>
            <a:off x="914400" y="4160520"/>
            <a:ext cx="10240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Sugestão: manter as referências da Parte 1 e acrescentar fontes específicas sobre crescimento logístico e binomial negativa.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7"/>
          <p:cNvSpPr/>
          <p:nvPr/>
        </p:nvSpPr>
        <p:spPr>
          <a:xfrm>
            <a:off x="11475720" y="6473880"/>
            <a:ext cx="25524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12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LibreOffice/25.8.7.3$Linux_X86_64 LibreOffice_project/580$Build-3</Application>
  <AppVersion>15.0000</AppVersion>
  <Words>0</Words>
  <Paragraphs>0</Paragraphs>
  <Company>ChatGPT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2026-05-29T23:49:18Z</dcterms:created>
  <dc:creator>Bruno Cavalli</dc:creator>
  <dc:description/>
  <dc:language>en-US</dc:language>
  <cp:lastModifiedBy/>
  <dcterms:modified xsi:type="dcterms:W3CDTF">2026-05-31T15:57:24Z</dcterms:modified>
  <cp:revision>4</cp:revision>
  <dc:subject>Parte 2 - Modelo logístico e binomial negativa</dc:subject>
  <dc:title>Modelagem matemática do impacto do crescimento bacteriano - Parte 2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On-screen Show (16:9)</vt:lpwstr>
  </property>
  <property fmtid="{D5CDD505-2E9C-101B-9397-08002B2CF9AE}" pid="4" name="Slides">
    <vt:i4>12</vt:i4>
  </property>
</Properties>
</file>