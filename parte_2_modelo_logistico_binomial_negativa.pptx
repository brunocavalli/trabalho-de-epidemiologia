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svg" ContentType="image/svg"/>
  <Override PartName="/ppt/media/image5.wmf" ContentType="image/x-wmf"/>
  <Override PartName="/ppt/media/image7.svg" ContentType="image/svg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4398D34-DD9E-429D-8F5F-856188D4285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524CA2-7CA7-413D-BA9E-CCC05116DA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DCEE58-F6C1-4606-AF9B-06AD47BF60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65A029-F001-49E9-AD82-AB4FFD50D6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FC6DF7-4AF3-4BC7-8F05-015FC20116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8E65CC-15D0-41FA-94BD-C27AC79567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6D5BA1-0416-4843-9F02-9A8759AABB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76A935-DA06-4A93-B07F-6D9BD57321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165F64-A2D3-4FED-8179-113EFDE9EF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9A08F2-31CC-4CA8-9290-5D9093DEE8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CBCD3F-D9D2-49A1-9CF4-64F0BEE961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006176-DC59-42C8-9AC5-0DB799D2E3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9073A7-F579-4E1C-9917-180D22CC3B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829800" y="777240"/>
            <a:ext cx="1644840" cy="164484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e6ba8">
              <a:alpha val="65000"/>
            </a:srgbClr>
          </a:solidFill>
          <a:ln w="12700">
            <a:solidFill>
              <a:srgbClr val="0e6ba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326880" y="4480560"/>
            <a:ext cx="1644840" cy="137052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0a6a6">
              <a:alpha val="35000"/>
            </a:srgbClr>
          </a:solidFill>
          <a:ln w="12700">
            <a:solidFill>
              <a:srgbClr val="00a6a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777240" y="1828800"/>
            <a:ext cx="804564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22960" y="3063240"/>
            <a:ext cx="7771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60" y="580644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27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8"/>
          <p:cNvSpPr/>
          <p:nvPr/>
        </p:nvSpPr>
        <p:spPr>
          <a:xfrm>
            <a:off x="457200" y="45720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9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1"/>
          <p:cNvSpPr/>
          <p:nvPr/>
        </p:nvSpPr>
        <p:spPr>
          <a:xfrm>
            <a:off x="-685800" y="803880"/>
            <a:ext cx="5576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0"/>
          <p:cNvSpPr/>
          <p:nvPr/>
        </p:nvSpPr>
        <p:spPr>
          <a:xfrm>
            <a:off x="2240280" y="26517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2"/>
          <p:cNvSpPr/>
          <p:nvPr/>
        </p:nvSpPr>
        <p:spPr>
          <a:xfrm>
            <a:off x="2423160" y="2816280"/>
            <a:ext cx="3291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3"/>
          <p:cNvSpPr/>
          <p:nvPr/>
        </p:nvSpPr>
        <p:spPr>
          <a:xfrm>
            <a:off x="2423160" y="3429000"/>
            <a:ext cx="2834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60"/>
          <p:cNvSpPr/>
          <p:nvPr/>
        </p:nvSpPr>
        <p:spPr>
          <a:xfrm>
            <a:off x="457200" y="1828800"/>
            <a:ext cx="850284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1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4"/>
          <p:cNvSpPr/>
          <p:nvPr/>
        </p:nvSpPr>
        <p:spPr>
          <a:xfrm>
            <a:off x="6629400" y="26517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temperatura da água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31"/>
          <p:cNvSpPr/>
          <p:nvPr/>
        </p:nvSpPr>
        <p:spPr>
          <a:xfrm>
            <a:off x="2240280" y="44805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2"/>
          <p:cNvSpPr/>
          <p:nvPr/>
        </p:nvSpPr>
        <p:spPr>
          <a:xfrm>
            <a:off x="6583680" y="44805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chance de exceder limites seguros.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5"/>
          <p:cNvSpPr/>
          <p:nvPr/>
        </p:nvSpPr>
        <p:spPr>
          <a:xfrm>
            <a:off x="685800" y="1143000"/>
            <a:ext cx="5576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868680" y="1993320"/>
            <a:ext cx="52110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7"/>
          <p:cNvSpPr/>
          <p:nvPr/>
        </p:nvSpPr>
        <p:spPr>
          <a:xfrm>
            <a:off x="868680" y="2880360"/>
            <a:ext cx="2330640" cy="8676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8"/>
          <p:cNvSpPr/>
          <p:nvPr/>
        </p:nvSpPr>
        <p:spPr>
          <a:xfrm>
            <a:off x="1051560" y="30448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9"/>
          <p:cNvSpPr/>
          <p:nvPr/>
        </p:nvSpPr>
        <p:spPr>
          <a:xfrm>
            <a:off x="1051560" y="33832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0"/>
          <p:cNvSpPr/>
          <p:nvPr/>
        </p:nvSpPr>
        <p:spPr>
          <a:xfrm>
            <a:off x="3429000" y="2880360"/>
            <a:ext cx="2422080" cy="8676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1"/>
          <p:cNvSpPr/>
          <p:nvPr/>
        </p:nvSpPr>
        <p:spPr>
          <a:xfrm>
            <a:off x="3611880" y="3044880"/>
            <a:ext cx="2056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2"/>
          <p:cNvSpPr/>
          <p:nvPr/>
        </p:nvSpPr>
        <p:spPr>
          <a:xfrm>
            <a:off x="3611880" y="3383280"/>
            <a:ext cx="2056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3"/>
          <p:cNvSpPr/>
          <p:nvPr/>
        </p:nvSpPr>
        <p:spPr>
          <a:xfrm>
            <a:off x="868680" y="4023360"/>
            <a:ext cx="2330640" cy="8676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4"/>
          <p:cNvSpPr/>
          <p:nvPr/>
        </p:nvSpPr>
        <p:spPr>
          <a:xfrm>
            <a:off x="1051560" y="41878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5"/>
          <p:cNvSpPr/>
          <p:nvPr/>
        </p:nvSpPr>
        <p:spPr>
          <a:xfrm>
            <a:off x="1051560" y="45262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6"/>
          <p:cNvSpPr/>
          <p:nvPr/>
        </p:nvSpPr>
        <p:spPr>
          <a:xfrm>
            <a:off x="3429000" y="4023360"/>
            <a:ext cx="2422080" cy="13248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3611880" y="4187880"/>
            <a:ext cx="2056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8"/>
          <p:cNvSpPr/>
          <p:nvPr/>
        </p:nvSpPr>
        <p:spPr>
          <a:xfrm>
            <a:off x="3611880" y="4526280"/>
            <a:ext cx="2056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92240" y="1143000"/>
            <a:ext cx="4982400" cy="248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19"/>
          <p:cNvSpPr/>
          <p:nvPr/>
        </p:nvSpPr>
        <p:spPr>
          <a:xfrm>
            <a:off x="6629400" y="3977640"/>
            <a:ext cx="461664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Resultado esperado: a curva cresce rápido no início, mas desacelera até estabilizar em K, evitando previsões irreais para tempos longos.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3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33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54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55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5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31520" y="1051560"/>
            <a:ext cx="53481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731520" y="1691640"/>
            <a:ext cx="53481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68680" y="2487240"/>
            <a:ext cx="50738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36"/>
          <p:cNvSpPr/>
          <p:nvPr/>
        </p:nvSpPr>
        <p:spPr>
          <a:xfrm>
            <a:off x="868680" y="3657600"/>
            <a:ext cx="5073840" cy="10504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2"/>
          <p:cNvSpPr/>
          <p:nvPr/>
        </p:nvSpPr>
        <p:spPr>
          <a:xfrm>
            <a:off x="1051560" y="3822120"/>
            <a:ext cx="4708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Leitura ambiental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63"/>
          <p:cNvSpPr/>
          <p:nvPr/>
        </p:nvSpPr>
        <p:spPr>
          <a:xfrm>
            <a:off x="1051560" y="4160520"/>
            <a:ext cx="47080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temperaturas maiores aumentam a velocidade de crescimento, mas não eliminam limites ecológicos.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7"/>
          <p:cNvSpPr/>
          <p:nvPr/>
        </p:nvSpPr>
        <p:spPr>
          <a:xfrm>
            <a:off x="6400800" y="1097280"/>
            <a:ext cx="4708080" cy="1233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6583680" y="1261800"/>
            <a:ext cx="434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6583680" y="1600200"/>
            <a:ext cx="43423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8"/>
          <p:cNvSpPr/>
          <p:nvPr/>
        </p:nvSpPr>
        <p:spPr>
          <a:xfrm>
            <a:off x="6400800" y="2743200"/>
            <a:ext cx="4708080" cy="13248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583680" y="2907720"/>
            <a:ext cx="434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6583680" y="3246120"/>
            <a:ext cx="4342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39"/>
          <p:cNvSpPr/>
          <p:nvPr/>
        </p:nvSpPr>
        <p:spPr>
          <a:xfrm>
            <a:off x="6400800" y="4526280"/>
            <a:ext cx="4708080" cy="1096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8"/>
          <p:cNvSpPr/>
          <p:nvPr/>
        </p:nvSpPr>
        <p:spPr>
          <a:xfrm>
            <a:off x="6583680" y="4690800"/>
            <a:ext cx="434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para apresentar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9"/>
          <p:cNvSpPr/>
          <p:nvPr/>
        </p:nvSpPr>
        <p:spPr>
          <a:xfrm>
            <a:off x="6583680" y="502920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aquecimento continua importante, mas o novo modelo separa velocidade de crescimento e limite ambiental.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70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5476320" y="3115440"/>
            <a:ext cx="1269360" cy="6343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a Poisson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5"/>
          <p:cNvSpPr/>
          <p:nvPr/>
        </p:nvSpPr>
        <p:spPr>
          <a:xfrm>
            <a:off x="777240" y="1078920"/>
            <a:ext cx="43880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868680" y="1828800"/>
            <a:ext cx="4662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7"/>
          <p:cNvSpPr/>
          <p:nvPr/>
        </p:nvSpPr>
        <p:spPr>
          <a:xfrm>
            <a:off x="868680" y="2788920"/>
            <a:ext cx="2056320" cy="73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8"/>
          <p:cNvSpPr/>
          <p:nvPr/>
        </p:nvSpPr>
        <p:spPr>
          <a:xfrm>
            <a:off x="1051560" y="295344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9"/>
          <p:cNvSpPr/>
          <p:nvPr/>
        </p:nvSpPr>
        <p:spPr>
          <a:xfrm>
            <a:off x="1051560" y="3291840"/>
            <a:ext cx="1690560" cy="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0"/>
          <p:cNvSpPr/>
          <p:nvPr/>
        </p:nvSpPr>
        <p:spPr>
          <a:xfrm>
            <a:off x="3246120" y="2788920"/>
            <a:ext cx="2239200" cy="73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3429000" y="2953440"/>
            <a:ext cx="1873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2"/>
          <p:cNvSpPr/>
          <p:nvPr/>
        </p:nvSpPr>
        <p:spPr>
          <a:xfrm>
            <a:off x="3429000" y="3291840"/>
            <a:ext cx="1873440" cy="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3"/>
          <p:cNvSpPr/>
          <p:nvPr/>
        </p:nvSpPr>
        <p:spPr>
          <a:xfrm>
            <a:off x="868680" y="3886200"/>
            <a:ext cx="4616640" cy="10504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4"/>
          <p:cNvSpPr/>
          <p:nvPr/>
        </p:nvSpPr>
        <p:spPr>
          <a:xfrm>
            <a:off x="1051560" y="4050720"/>
            <a:ext cx="425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5"/>
          <p:cNvSpPr/>
          <p:nvPr/>
        </p:nvSpPr>
        <p:spPr>
          <a:xfrm>
            <a:off x="1051560" y="4389120"/>
            <a:ext cx="4250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172200" y="1024200"/>
            <a:ext cx="5256720" cy="263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 16"/>
          <p:cNvSpPr/>
          <p:nvPr/>
        </p:nvSpPr>
        <p:spPr>
          <a:xfrm>
            <a:off x="6355080" y="3977640"/>
            <a:ext cx="479952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Interpretação: mesmo com a mesma média μ, a binomial negativa coloca mais probabilidade em valores extremos. Isso é essencial para estimar risco de ultrapassar limites sanitários.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31520" y="960120"/>
            <a:ext cx="10605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"/>
          <p:cNvSpPr/>
          <p:nvPr/>
        </p:nvSpPr>
        <p:spPr>
          <a:xfrm>
            <a:off x="82296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7"/>
          <p:cNvSpPr/>
          <p:nvPr/>
        </p:nvSpPr>
        <p:spPr>
          <a:xfrm>
            <a:off x="96012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8"/>
          <p:cNvSpPr/>
          <p:nvPr/>
        </p:nvSpPr>
        <p:spPr>
          <a:xfrm>
            <a:off x="98748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9"/>
          <p:cNvSpPr/>
          <p:nvPr/>
        </p:nvSpPr>
        <p:spPr>
          <a:xfrm>
            <a:off x="2834640" y="2423160"/>
            <a:ext cx="318960" cy="54756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0"/>
          <p:cNvSpPr/>
          <p:nvPr/>
        </p:nvSpPr>
        <p:spPr>
          <a:xfrm>
            <a:off x="329184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1"/>
          <p:cNvSpPr/>
          <p:nvPr/>
        </p:nvSpPr>
        <p:spPr>
          <a:xfrm>
            <a:off x="342900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2"/>
          <p:cNvSpPr/>
          <p:nvPr/>
        </p:nvSpPr>
        <p:spPr>
          <a:xfrm>
            <a:off x="345636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3"/>
          <p:cNvSpPr/>
          <p:nvPr/>
        </p:nvSpPr>
        <p:spPr>
          <a:xfrm>
            <a:off x="5303520" y="2423160"/>
            <a:ext cx="318960" cy="54756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4"/>
          <p:cNvSpPr/>
          <p:nvPr/>
        </p:nvSpPr>
        <p:spPr>
          <a:xfrm>
            <a:off x="576072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5"/>
          <p:cNvSpPr/>
          <p:nvPr/>
        </p:nvSpPr>
        <p:spPr>
          <a:xfrm>
            <a:off x="589788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6"/>
          <p:cNvSpPr/>
          <p:nvPr/>
        </p:nvSpPr>
        <p:spPr>
          <a:xfrm>
            <a:off x="592524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7"/>
          <p:cNvSpPr/>
          <p:nvPr/>
        </p:nvSpPr>
        <p:spPr>
          <a:xfrm>
            <a:off x="7772400" y="2423160"/>
            <a:ext cx="318960" cy="54756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8"/>
          <p:cNvSpPr/>
          <p:nvPr/>
        </p:nvSpPr>
        <p:spPr>
          <a:xfrm>
            <a:off x="822960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9"/>
          <p:cNvSpPr/>
          <p:nvPr/>
        </p:nvSpPr>
        <p:spPr>
          <a:xfrm>
            <a:off x="836676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0"/>
          <p:cNvSpPr/>
          <p:nvPr/>
        </p:nvSpPr>
        <p:spPr>
          <a:xfrm>
            <a:off x="839412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1"/>
          <p:cNvSpPr/>
          <p:nvPr/>
        </p:nvSpPr>
        <p:spPr>
          <a:xfrm>
            <a:off x="1965960" y="4297680"/>
            <a:ext cx="82285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2"/>
          <p:cNvSpPr/>
          <p:nvPr/>
        </p:nvSpPr>
        <p:spPr>
          <a:xfrm>
            <a:off x="1645920" y="5120640"/>
            <a:ext cx="89600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3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6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muda nos resultados?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822960" y="1143000"/>
            <a:ext cx="3382200" cy="41137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1005840" y="1307520"/>
            <a:ext cx="3016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1005840" y="1645920"/>
            <a:ext cx="30164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subestimado quando há 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434840" y="1143000"/>
            <a:ext cx="3382200" cy="41137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9"/>
          <p:cNvSpPr/>
          <p:nvPr/>
        </p:nvSpPr>
        <p:spPr>
          <a:xfrm>
            <a:off x="4617720" y="1307520"/>
            <a:ext cx="3016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0"/>
          <p:cNvSpPr/>
          <p:nvPr/>
        </p:nvSpPr>
        <p:spPr>
          <a:xfrm>
            <a:off x="4617720" y="1645920"/>
            <a:ext cx="30164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realista para amostras 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8046720" y="1143000"/>
            <a:ext cx="3382200" cy="41137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8229600" y="1307520"/>
            <a:ext cx="3016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3"/>
          <p:cNvSpPr/>
          <p:nvPr/>
        </p:nvSpPr>
        <p:spPr>
          <a:xfrm>
            <a:off x="8229600" y="1645920"/>
            <a:ext cx="30164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“explosivo” no crescimento médio, mas mais conservador na cauda de risco. Isso melhora decisões como alerta pós-chuva e interdição 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4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5"/>
          <p:cNvSpPr/>
          <p:nvPr/>
        </p:nvSpPr>
        <p:spPr>
          <a:xfrm>
            <a:off x="822960" y="1051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987480" y="1216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7"/>
          <p:cNvSpPr/>
          <p:nvPr/>
        </p:nvSpPr>
        <p:spPr>
          <a:xfrm>
            <a:off x="1874520" y="1207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3657600" y="1216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9"/>
          <p:cNvSpPr/>
          <p:nvPr/>
        </p:nvSpPr>
        <p:spPr>
          <a:xfrm>
            <a:off x="822960" y="2194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987480" y="2359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1"/>
          <p:cNvSpPr/>
          <p:nvPr/>
        </p:nvSpPr>
        <p:spPr>
          <a:xfrm>
            <a:off x="1874520" y="2350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2"/>
          <p:cNvSpPr/>
          <p:nvPr/>
        </p:nvSpPr>
        <p:spPr>
          <a:xfrm>
            <a:off x="3657600" y="2359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3"/>
          <p:cNvSpPr/>
          <p:nvPr/>
        </p:nvSpPr>
        <p:spPr>
          <a:xfrm>
            <a:off x="822960" y="3337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4"/>
          <p:cNvSpPr/>
          <p:nvPr/>
        </p:nvSpPr>
        <p:spPr>
          <a:xfrm>
            <a:off x="987480" y="3502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5"/>
          <p:cNvSpPr/>
          <p:nvPr/>
        </p:nvSpPr>
        <p:spPr>
          <a:xfrm>
            <a:off x="1874520" y="3493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6"/>
          <p:cNvSpPr/>
          <p:nvPr/>
        </p:nvSpPr>
        <p:spPr>
          <a:xfrm>
            <a:off x="3657600" y="3502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7"/>
          <p:cNvSpPr/>
          <p:nvPr/>
        </p:nvSpPr>
        <p:spPr>
          <a:xfrm>
            <a:off x="822960" y="4480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8"/>
          <p:cNvSpPr/>
          <p:nvPr/>
        </p:nvSpPr>
        <p:spPr>
          <a:xfrm>
            <a:off x="987480" y="4645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9"/>
          <p:cNvSpPr/>
          <p:nvPr/>
        </p:nvSpPr>
        <p:spPr>
          <a:xfrm>
            <a:off x="1874520" y="4636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0"/>
          <p:cNvSpPr/>
          <p:nvPr/>
        </p:nvSpPr>
        <p:spPr>
          <a:xfrm>
            <a:off x="3657600" y="4645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1"/>
          <p:cNvSpPr/>
          <p:nvPr/>
        </p:nvSpPr>
        <p:spPr>
          <a:xfrm>
            <a:off x="6309360" y="1051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2"/>
          <p:cNvSpPr/>
          <p:nvPr/>
        </p:nvSpPr>
        <p:spPr>
          <a:xfrm>
            <a:off x="6473880" y="1216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"/>
          <p:cNvSpPr/>
          <p:nvPr/>
        </p:nvSpPr>
        <p:spPr>
          <a:xfrm>
            <a:off x="7360920" y="1207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4"/>
          <p:cNvSpPr/>
          <p:nvPr/>
        </p:nvSpPr>
        <p:spPr>
          <a:xfrm>
            <a:off x="9144000" y="1216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5"/>
          <p:cNvSpPr/>
          <p:nvPr/>
        </p:nvSpPr>
        <p:spPr>
          <a:xfrm>
            <a:off x="6309360" y="2194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6"/>
          <p:cNvSpPr/>
          <p:nvPr/>
        </p:nvSpPr>
        <p:spPr>
          <a:xfrm>
            <a:off x="6473880" y="2359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7"/>
          <p:cNvSpPr/>
          <p:nvPr/>
        </p:nvSpPr>
        <p:spPr>
          <a:xfrm>
            <a:off x="7360920" y="2350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8"/>
          <p:cNvSpPr/>
          <p:nvPr/>
        </p:nvSpPr>
        <p:spPr>
          <a:xfrm>
            <a:off x="9144000" y="2359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9"/>
          <p:cNvSpPr/>
          <p:nvPr/>
        </p:nvSpPr>
        <p:spPr>
          <a:xfrm>
            <a:off x="6309360" y="3337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0"/>
          <p:cNvSpPr/>
          <p:nvPr/>
        </p:nvSpPr>
        <p:spPr>
          <a:xfrm>
            <a:off x="6473880" y="3502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1"/>
          <p:cNvSpPr/>
          <p:nvPr/>
        </p:nvSpPr>
        <p:spPr>
          <a:xfrm>
            <a:off x="7360920" y="3493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2"/>
          <p:cNvSpPr/>
          <p:nvPr/>
        </p:nvSpPr>
        <p:spPr>
          <a:xfrm>
            <a:off x="9144000" y="3502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3"/>
          <p:cNvSpPr/>
          <p:nvPr/>
        </p:nvSpPr>
        <p:spPr>
          <a:xfrm>
            <a:off x="960120" y="576072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Sugestão: mostrar três cenários de k. k alto ≈ Poisson; k baixo = maior agregação e maior chance de eventos extremos.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4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Gráfico-chave para a nova apresentação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probabilidade de ultrapassar o limite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868680" y="1051560"/>
            <a:ext cx="6399720" cy="4342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6"/>
          <p:cNvSpPr/>
          <p:nvPr/>
        </p:nvSpPr>
        <p:spPr>
          <a:xfrm>
            <a:off x="1325880" y="4892040"/>
            <a:ext cx="5257800" cy="36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1325880" y="1417320"/>
            <a:ext cx="360" cy="347472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8"/>
          <p:cNvSpPr/>
          <p:nvPr/>
        </p:nvSpPr>
        <p:spPr>
          <a:xfrm>
            <a:off x="3291840" y="5074920"/>
            <a:ext cx="164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(°C)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9"/>
          <p:cNvSpPr/>
          <p:nvPr/>
        </p:nvSpPr>
        <p:spPr>
          <a:xfrm rot="16200000">
            <a:off x="896040" y="1235520"/>
            <a:ext cx="913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P(X &gt; limite)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 flipV="1">
            <a:off x="1417320" y="4389120"/>
            <a:ext cx="1051560" cy="2743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1"/>
          <p:cNvSpPr/>
          <p:nvPr/>
        </p:nvSpPr>
        <p:spPr>
          <a:xfrm flipV="1">
            <a:off x="2468880" y="3657600"/>
            <a:ext cx="100584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2"/>
          <p:cNvSpPr/>
          <p:nvPr/>
        </p:nvSpPr>
        <p:spPr>
          <a:xfrm flipV="1">
            <a:off x="3474720" y="2560320"/>
            <a:ext cx="1005840" cy="109728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 flipV="1">
            <a:off x="4480560" y="1828800"/>
            <a:ext cx="96012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 flipV="1">
            <a:off x="1417320" y="4343400"/>
            <a:ext cx="960120" cy="1371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5"/>
          <p:cNvSpPr/>
          <p:nvPr/>
        </p:nvSpPr>
        <p:spPr>
          <a:xfrm flipV="1">
            <a:off x="2377440" y="3840480"/>
            <a:ext cx="914400" cy="50292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"/>
          <p:cNvSpPr/>
          <p:nvPr/>
        </p:nvSpPr>
        <p:spPr>
          <a:xfrm flipV="1">
            <a:off x="3291840" y="2788920"/>
            <a:ext cx="868680" cy="10515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 flipV="1">
            <a:off x="4160520" y="1463040"/>
            <a:ext cx="868680" cy="132588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8"/>
          <p:cNvSpPr/>
          <p:nvPr/>
        </p:nvSpPr>
        <p:spPr>
          <a:xfrm>
            <a:off x="5440680" y="1234440"/>
            <a:ext cx="15076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4c956c"/>
                </a:solidFill>
                <a:effectLst/>
                <a:uFillTx/>
                <a:latin typeface="Aptos"/>
              </a:rPr>
              <a:t>Binomial negativa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9"/>
          <p:cNvSpPr/>
          <p:nvPr/>
        </p:nvSpPr>
        <p:spPr>
          <a:xfrm>
            <a:off x="5440680" y="1828800"/>
            <a:ext cx="1004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Poisson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0"/>
          <p:cNvSpPr/>
          <p:nvPr/>
        </p:nvSpPr>
        <p:spPr>
          <a:xfrm>
            <a:off x="7635240" y="1188720"/>
            <a:ext cx="3610800" cy="15076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1"/>
          <p:cNvSpPr/>
          <p:nvPr/>
        </p:nvSpPr>
        <p:spPr>
          <a:xfrm>
            <a:off x="7818120" y="1353240"/>
            <a:ext cx="324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central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2"/>
          <p:cNvSpPr/>
          <p:nvPr/>
        </p:nvSpPr>
        <p:spPr>
          <a:xfrm>
            <a:off x="7818120" y="1691640"/>
            <a:ext cx="32450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Para a mesma média μ, a binomial negativa tende a estimar maior probabilidade de exceder limites seguros, principalmente quando há superdispersão.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3"/>
          <p:cNvSpPr/>
          <p:nvPr/>
        </p:nvSpPr>
        <p:spPr>
          <a:xfrm>
            <a:off x="7635240" y="3063240"/>
            <a:ext cx="3610800" cy="15076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4"/>
          <p:cNvSpPr/>
          <p:nvPr/>
        </p:nvSpPr>
        <p:spPr>
          <a:xfrm>
            <a:off x="7818120" y="3227760"/>
            <a:ext cx="324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Como explicar no seminário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5"/>
          <p:cNvSpPr/>
          <p:nvPr/>
        </p:nvSpPr>
        <p:spPr>
          <a:xfrm>
            <a:off x="7818120" y="3566160"/>
            <a:ext cx="32450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“O crescimento logístico evita exageros na média, mas a binomial negativa reconhece que amostras ambientais podem ter picos extremos.”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6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9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Estrutura sugerida para a fala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roteiro de apresentação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5"/>
          <p:cNvSpPr/>
          <p:nvPr/>
        </p:nvSpPr>
        <p:spPr>
          <a:xfrm>
            <a:off x="868680" y="1005840"/>
            <a:ext cx="529200" cy="52920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1024200" y="1152000"/>
            <a:ext cx="21852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1645920" y="103320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Retomar a Parte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8"/>
          <p:cNvSpPr/>
          <p:nvPr/>
        </p:nvSpPr>
        <p:spPr>
          <a:xfrm>
            <a:off x="4434840" y="1078920"/>
            <a:ext cx="6308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exponencial + Poisson foram úteis, mas simplificam demais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9"/>
          <p:cNvSpPr/>
          <p:nvPr/>
        </p:nvSpPr>
        <p:spPr>
          <a:xfrm>
            <a:off x="868680" y="1965960"/>
            <a:ext cx="529200" cy="52920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0"/>
          <p:cNvSpPr/>
          <p:nvPr/>
        </p:nvSpPr>
        <p:spPr>
          <a:xfrm>
            <a:off x="1024200" y="2112120"/>
            <a:ext cx="21852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1"/>
          <p:cNvSpPr/>
          <p:nvPr/>
        </p:nvSpPr>
        <p:spPr>
          <a:xfrm>
            <a:off x="1645920" y="199332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Apresentar o logístico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2"/>
          <p:cNvSpPr/>
          <p:nvPr/>
        </p:nvSpPr>
        <p:spPr>
          <a:xfrm>
            <a:off x="4434840" y="2039040"/>
            <a:ext cx="6308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crescimento limitado por capacidade de suporte 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3"/>
          <p:cNvSpPr/>
          <p:nvPr/>
        </p:nvSpPr>
        <p:spPr>
          <a:xfrm>
            <a:off x="868680" y="2926080"/>
            <a:ext cx="529200" cy="52920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4"/>
          <p:cNvSpPr/>
          <p:nvPr/>
        </p:nvSpPr>
        <p:spPr>
          <a:xfrm>
            <a:off x="1024200" y="3072240"/>
            <a:ext cx="21852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5"/>
          <p:cNvSpPr/>
          <p:nvPr/>
        </p:nvSpPr>
        <p:spPr>
          <a:xfrm>
            <a:off x="1645920" y="295344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Apresentar a binomial negativa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6"/>
          <p:cNvSpPr/>
          <p:nvPr/>
        </p:nvSpPr>
        <p:spPr>
          <a:xfrm>
            <a:off x="4434840" y="2999160"/>
            <a:ext cx="6308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contagens ambientais têm superdispersão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7"/>
          <p:cNvSpPr/>
          <p:nvPr/>
        </p:nvSpPr>
        <p:spPr>
          <a:xfrm>
            <a:off x="868680" y="3886200"/>
            <a:ext cx="529200" cy="52920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8"/>
          <p:cNvSpPr/>
          <p:nvPr/>
        </p:nvSpPr>
        <p:spPr>
          <a:xfrm>
            <a:off x="1024200" y="4032360"/>
            <a:ext cx="21852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9"/>
          <p:cNvSpPr/>
          <p:nvPr/>
        </p:nvSpPr>
        <p:spPr>
          <a:xfrm>
            <a:off x="1645920" y="391356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Integrar os modelos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0"/>
          <p:cNvSpPr/>
          <p:nvPr/>
        </p:nvSpPr>
        <p:spPr>
          <a:xfrm>
            <a:off x="4434840" y="3959280"/>
            <a:ext cx="6308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 → r(T) → μ(t,T) → P(risco)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1"/>
          <p:cNvSpPr/>
          <p:nvPr/>
        </p:nvSpPr>
        <p:spPr>
          <a:xfrm>
            <a:off x="868680" y="4846320"/>
            <a:ext cx="529200" cy="529200"/>
          </a:xfrm>
          <a:prstGeom prst="ellipse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2"/>
          <p:cNvSpPr/>
          <p:nvPr/>
        </p:nvSpPr>
        <p:spPr>
          <a:xfrm>
            <a:off x="1024200" y="4992480"/>
            <a:ext cx="21852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3"/>
          <p:cNvSpPr/>
          <p:nvPr/>
        </p:nvSpPr>
        <p:spPr>
          <a:xfrm>
            <a:off x="1645920" y="487368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Comparar resultados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4"/>
          <p:cNvSpPr/>
          <p:nvPr/>
        </p:nvSpPr>
        <p:spPr>
          <a:xfrm>
            <a:off x="4434840" y="4919400"/>
            <a:ext cx="6308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novo modelo é mais realista para praias e dados de campo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5"/>
          <p:cNvSpPr/>
          <p:nvPr/>
        </p:nvSpPr>
        <p:spPr>
          <a:xfrm>
            <a:off x="1097280" y="5806440"/>
            <a:ext cx="9965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Fechamento: “A segunda parte melhora a modelagem porque troca crescimento infinito por saturação ecológica e troca variabilidade idealizada por superdispersão.”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6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10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"/>
          <p:cNvPicPr/>
          <p:nvPr/>
        </p:nvPicPr>
        <p:blipFill>
          <a:blip r:embed="rId1"/>
          <a:stretch/>
        </p:blipFill>
        <p:spPr>
          <a:xfrm>
            <a:off x="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Conclusão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síntese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5"/>
          <p:cNvSpPr/>
          <p:nvPr/>
        </p:nvSpPr>
        <p:spPr>
          <a:xfrm>
            <a:off x="822960" y="1143000"/>
            <a:ext cx="3290760" cy="182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1005840" y="1307520"/>
            <a:ext cx="2925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1. Crescimento mais realista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1005840" y="1645920"/>
            <a:ext cx="292500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8"/>
          <p:cNvSpPr/>
          <p:nvPr/>
        </p:nvSpPr>
        <p:spPr>
          <a:xfrm>
            <a:off x="4434840" y="1143000"/>
            <a:ext cx="3290760" cy="182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4617720" y="1307520"/>
            <a:ext cx="2925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2. Risco mais realista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0"/>
          <p:cNvSpPr/>
          <p:nvPr/>
        </p:nvSpPr>
        <p:spPr>
          <a:xfrm>
            <a:off x="4617720" y="1645920"/>
            <a:ext cx="292500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1"/>
          <p:cNvSpPr/>
          <p:nvPr/>
        </p:nvSpPr>
        <p:spPr>
          <a:xfrm>
            <a:off x="8046720" y="1143000"/>
            <a:ext cx="3290760" cy="182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2"/>
          <p:cNvSpPr/>
          <p:nvPr/>
        </p:nvSpPr>
        <p:spPr>
          <a:xfrm>
            <a:off x="8229600" y="1307520"/>
            <a:ext cx="2925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3. Decisão sanitária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8229600" y="1645920"/>
            <a:ext cx="292500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modelo passa a estimar P(X &gt; limite seguro) de forma mais conservadora para praias sujeitas a picos de contaminação.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4"/>
          <p:cNvSpPr/>
          <p:nvPr/>
        </p:nvSpPr>
        <p:spPr>
          <a:xfrm>
            <a:off x="1143000" y="3977640"/>
            <a:ext cx="98744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3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T ↑  →  r(T) ↑  →  μ aproxima K  →  cauda de risco aumenta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1463040" y="4983480"/>
            <a:ext cx="91429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mensagem final não é que temperatura explica tudo, mas que ela acelera processos bacterianos em um sistema costeiro limitado e altamente variável.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 para adicionar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914400" y="1188720"/>
            <a:ext cx="102402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914400" y="4160520"/>
            <a:ext cx="10240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Sugestão: manter as referências da Parte 1 e acrescentar fontes específicas sobre crescimento logístico e binomial negativa.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2026-05-31T19:51:21Z</dcterms:modified>
  <cp:revision>5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