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73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A8D7C6A-4155-4721-8CA7-EED8BF755C9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AA45BB-3593-46EB-ABF0-43581E1B04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EF58F0-E974-4BC4-832E-FD9AD3FF34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7B568E-D6C4-4724-99E4-A301798974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F588AD-51CE-470D-9065-1BABFA54DD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4092A-C91B-D57C-9872-949AFA8DA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>
            <a:extLst>
              <a:ext uri="{FF2B5EF4-FFF2-40B4-BE49-F238E27FC236}">
                <a16:creationId xmlns:a16="http://schemas.microsoft.com/office/drawing/2014/main" id="{651E7345-B96D-ED8D-8BD1-34E108778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>
            <a:extLst>
              <a:ext uri="{FF2B5EF4-FFF2-40B4-BE49-F238E27FC236}">
                <a16:creationId xmlns:a16="http://schemas.microsoft.com/office/drawing/2014/main" id="{D2FAB6C2-54BC-EA03-7C43-1D6B57D0B2F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>
            <a:extLst>
              <a:ext uri="{FF2B5EF4-FFF2-40B4-BE49-F238E27FC236}">
                <a16:creationId xmlns:a16="http://schemas.microsoft.com/office/drawing/2014/main" id="{F08B83FE-635B-E627-2CB9-8A61E4BB05A0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F588AD-51CE-470D-9065-1BABFA54DD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1507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8508D9-0DF9-4CB3-B925-E5C74C1D1F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13464E-B2C6-4CA0-8814-A0F8806E71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EF0D33-103F-44C6-BC9C-AC7FDCECAC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B485B3-D64A-4E4C-83D1-4B9C672CC0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84AD83-5512-4AC9-A4AC-61738303C7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4884D7E-C679-42CD-838F-968238E360D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299216C-467A-4CAB-B9B7-E16DA9B0C8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2"/>
          <p:cNvSpPr/>
          <p:nvPr/>
        </p:nvSpPr>
        <p:spPr>
          <a:xfrm>
            <a:off x="777240" y="1828800"/>
            <a:ext cx="8045280" cy="109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Parte 2: modelo logístico e binomial negativa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822960" y="3063240"/>
            <a:ext cx="7770960" cy="68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AF6"/>
                </a:solidFill>
                <a:effectLst/>
                <a:uFillTx/>
                <a:latin typeface="Aptos"/>
              </a:rPr>
              <a:t>Refinando o modelo anterior para crescimento limitado e contagens superdispersas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822960" y="580644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Bruno Cavalli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27"/>
          <p:cNvSpPr/>
          <p:nvPr/>
        </p:nvSpPr>
        <p:spPr>
          <a:xfrm>
            <a:off x="0" y="0"/>
            <a:ext cx="12190320" cy="657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8"/>
          <p:cNvSpPr/>
          <p:nvPr/>
        </p:nvSpPr>
        <p:spPr>
          <a:xfrm>
            <a:off x="457200" y="457200"/>
            <a:ext cx="886824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Síntese da Parte 1 — Resultados encontrados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9"/>
          <p:cNvSpPr/>
          <p:nvPr/>
        </p:nvSpPr>
        <p:spPr>
          <a:xfrm>
            <a:off x="9555480" y="173880"/>
            <a:ext cx="205596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8"/>
          <p:cNvSpPr/>
          <p:nvPr/>
        </p:nvSpPr>
        <p:spPr>
          <a:xfrm>
            <a:off x="502920" y="6382440"/>
            <a:ext cx="11201400" cy="360"/>
          </a:xfrm>
          <a:prstGeom prst="line">
            <a:avLst/>
          </a:prstGeom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0"/>
          <p:cNvSpPr/>
          <p:nvPr/>
        </p:nvSpPr>
        <p:spPr>
          <a:xfrm>
            <a:off x="502920" y="6473880"/>
            <a:ext cx="3290400" cy="1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Modelo logístico + binomial negativa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1"/>
          <p:cNvSpPr/>
          <p:nvPr/>
        </p:nvSpPr>
        <p:spPr>
          <a:xfrm>
            <a:off x="-685800" y="803880"/>
            <a:ext cx="5576400" cy="68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6324F"/>
                </a:solidFill>
                <a:effectLst/>
                <a:uFillTx/>
                <a:latin typeface="Aptos Display"/>
                <a:ea typeface="Aptos Display"/>
              </a:rPr>
              <a:t>Mensagem Principal: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30"/>
          <p:cNvSpPr/>
          <p:nvPr/>
        </p:nvSpPr>
        <p:spPr>
          <a:xfrm>
            <a:off x="2240280" y="2651760"/>
            <a:ext cx="3474000" cy="14623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2"/>
          <p:cNvSpPr/>
          <p:nvPr/>
        </p:nvSpPr>
        <p:spPr>
          <a:xfrm>
            <a:off x="2423160" y="2816280"/>
            <a:ext cx="329112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Temperatura impacta o crescimento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3"/>
          <p:cNvSpPr/>
          <p:nvPr/>
        </p:nvSpPr>
        <p:spPr>
          <a:xfrm>
            <a:off x="2423160" y="3429000"/>
            <a:ext cx="283392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4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Pequenos aumentos de temperatura geraram crescimento bacteriano não linear.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0"/>
          <p:cNvSpPr/>
          <p:nvPr/>
        </p:nvSpPr>
        <p:spPr>
          <a:xfrm>
            <a:off x="457200" y="1828800"/>
            <a:ext cx="8502480" cy="82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Na primeira etapa, o modelo mostrou que o aumento da temperatura intensifica o crescimento bacteriano e amplia a variabilidade das contagens, elevando o risco microbiológico em praias costeiras.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1"/>
          <p:cNvSpPr/>
          <p:nvPr/>
        </p:nvSpPr>
        <p:spPr>
          <a:xfrm>
            <a:off x="11475720" y="6473880"/>
            <a:ext cx="254520" cy="13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34"/>
          <p:cNvSpPr/>
          <p:nvPr/>
        </p:nvSpPr>
        <p:spPr>
          <a:xfrm>
            <a:off x="6629400" y="2651760"/>
            <a:ext cx="3474000" cy="14623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Ratkowsky conectou clima e crescimento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taxa de crescimento passou a depender diretamente da temperatura da água</a:t>
            </a:r>
          </a:p>
        </p:txBody>
      </p:sp>
      <p:sp>
        <p:nvSpPr>
          <p:cNvPr id="30" name="Shape 31"/>
          <p:cNvSpPr/>
          <p:nvPr/>
        </p:nvSpPr>
        <p:spPr>
          <a:xfrm>
            <a:off x="2240280" y="4480560"/>
            <a:ext cx="3474000" cy="14623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16324F"/>
                </a:solidFill>
                <a:effectLst/>
                <a:uFillTx/>
                <a:latin typeface="Arial"/>
              </a:rPr>
              <a:t>Poisson representou a variabilidade inicial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contagens bacterianas foram tratadas como eventos aleatórios em torno de uma média esperada. </a:t>
            </a: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32"/>
          <p:cNvSpPr/>
          <p:nvPr/>
        </p:nvSpPr>
        <p:spPr>
          <a:xfrm>
            <a:off x="6583680" y="4480560"/>
            <a:ext cx="3474000" cy="14623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16324F"/>
                </a:solidFill>
                <a:effectLst/>
                <a:uFillTx/>
                <a:latin typeface="Arial"/>
              </a:rPr>
              <a:t>Risco aumenta em águas mais quentes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 faixa típica do verão carioca, o modelo indicou maior chance de exceder limites seguros. </a:t>
            </a: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/>
          <p:nvPr/>
        </p:nvPicPr>
        <p:blipFill>
          <a:blip r:embed="rId2"/>
          <a:stretch/>
        </p:blipFill>
        <p:spPr>
          <a:xfrm>
            <a:off x="18720" y="3960"/>
            <a:ext cx="12183840" cy="685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Picture 32"/>
          <p:cNvPicPr/>
          <p:nvPr/>
        </p:nvPicPr>
        <p:blipFill>
          <a:blip r:embed="rId3"/>
          <a:stretch/>
        </p:blipFill>
        <p:spPr>
          <a:xfrm>
            <a:off x="11430000" y="6400800"/>
            <a:ext cx="561240" cy="380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/>
          <p:cNvPicPr/>
          <p:nvPr/>
        </p:nvPicPr>
        <p:blipFill>
          <a:blip r:embed="rId2"/>
          <a:stretch/>
        </p:blipFill>
        <p:spPr>
          <a:xfrm>
            <a:off x="18720" y="3960"/>
            <a:ext cx="12183840" cy="685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Picture 34"/>
          <p:cNvPicPr/>
          <p:nvPr/>
        </p:nvPicPr>
        <p:blipFill>
          <a:blip r:embed="rId3"/>
          <a:stretch/>
        </p:blipFill>
        <p:spPr>
          <a:xfrm>
            <a:off x="11430000" y="6400800"/>
            <a:ext cx="561240" cy="380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2190320" cy="657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502920" y="146160"/>
            <a:ext cx="886824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Novo Modelo 1: crescimento logístico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9555480" y="173880"/>
            <a:ext cx="205596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502920" y="6382440"/>
            <a:ext cx="11201400" cy="360"/>
          </a:xfrm>
          <a:prstGeom prst="line">
            <a:avLst/>
          </a:prstGeom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02920" y="6473880"/>
            <a:ext cx="3290400" cy="1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Modelo logístico + binomial negativa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868680" y="1993320"/>
            <a:ext cx="521064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 termo (1 − N/K) reduz o crescimento quando a população se aproxima da capacidade de suporte do ambiente.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7"/>
          <p:cNvSpPr/>
          <p:nvPr/>
        </p:nvSpPr>
        <p:spPr>
          <a:xfrm>
            <a:off x="868680" y="2880360"/>
            <a:ext cx="2330280" cy="867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1051560" y="3044880"/>
            <a:ext cx="196452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N(t)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1051560" y="3383280"/>
            <a:ext cx="196452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concentração bacteriana no tempo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0"/>
          <p:cNvSpPr/>
          <p:nvPr/>
        </p:nvSpPr>
        <p:spPr>
          <a:xfrm>
            <a:off x="3429000" y="2880360"/>
            <a:ext cx="2421720" cy="867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3611880" y="3044880"/>
            <a:ext cx="205596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r(T)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3611880" y="3383280"/>
            <a:ext cx="205596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taxa de crescimento dependente da temperatura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3"/>
          <p:cNvSpPr/>
          <p:nvPr/>
        </p:nvSpPr>
        <p:spPr>
          <a:xfrm>
            <a:off x="868680" y="4023360"/>
            <a:ext cx="2330280" cy="867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1051560" y="4187880"/>
            <a:ext cx="196452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1051560" y="4526280"/>
            <a:ext cx="196452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capacidade de suporte do ambiente costeiro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6"/>
          <p:cNvSpPr/>
          <p:nvPr/>
        </p:nvSpPr>
        <p:spPr>
          <a:xfrm>
            <a:off x="3429000" y="4023360"/>
            <a:ext cx="2421720" cy="1324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3611880" y="4187880"/>
            <a:ext cx="205596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Interpretação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3611880" y="4526280"/>
            <a:ext cx="2055960" cy="68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K resume recursos disponíveis: nutrientes, espaço, oxigênio, luz, salinidade e competição microbiana.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0" descr="/mnt/data/logistico_vs_exp.sv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447600" y="2057400"/>
            <a:ext cx="5439240" cy="323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20"/>
          <p:cNvSpPr/>
          <p:nvPr/>
        </p:nvSpPr>
        <p:spPr>
          <a:xfrm>
            <a:off x="11475720" y="6473880"/>
            <a:ext cx="254520" cy="13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51737B-F2C2-FC63-CAF9-21992634DEF7}"/>
                  </a:ext>
                </a:extLst>
              </p:cNvPr>
              <p:cNvSpPr txBox="1"/>
              <p:nvPr/>
            </p:nvSpPr>
            <p:spPr>
              <a:xfrm>
                <a:off x="1663900" y="1115548"/>
                <a:ext cx="2704360" cy="5318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51737B-F2C2-FC63-CAF9-21992634D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900" y="1115548"/>
                <a:ext cx="2704360" cy="5318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33"/>
          <p:cNvSpPr/>
          <p:nvPr/>
        </p:nvSpPr>
        <p:spPr>
          <a:xfrm>
            <a:off x="0" y="0"/>
            <a:ext cx="12190320" cy="657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4"/>
          <p:cNvSpPr/>
          <p:nvPr/>
        </p:nvSpPr>
        <p:spPr>
          <a:xfrm>
            <a:off x="502920" y="146160"/>
            <a:ext cx="886824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 err="1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Equação</a:t>
            </a: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 do </a:t>
            </a:r>
            <a:r>
              <a:rPr lang="en-US" sz="2000" b="1" u="none" strike="noStrike" dirty="0" err="1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modelo</a:t>
            </a: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 </a:t>
            </a:r>
            <a:r>
              <a:rPr lang="en-US" sz="2000" b="1" u="none" strike="noStrike" dirty="0" err="1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logistico</a:t>
            </a: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 com </a:t>
            </a:r>
            <a:r>
              <a:rPr lang="en-US" sz="2000" b="1" u="none" strike="noStrike" dirty="0" err="1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temperatura</a:t>
            </a:r>
            <a:r>
              <a:rPr lang="en-US" sz="2000" b="1" dirty="0">
                <a:solidFill>
                  <a:srgbClr val="FFFFFF"/>
                </a:solidFill>
                <a:latin typeface="Aptos Display"/>
                <a:ea typeface="Aptos Display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ptos Display"/>
                <a:ea typeface="Aptos Display"/>
              </a:rPr>
              <a:t>integrada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5"/>
          <p:cNvSpPr/>
          <p:nvPr/>
        </p:nvSpPr>
        <p:spPr>
          <a:xfrm>
            <a:off x="9555480" y="173880"/>
            <a:ext cx="205596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DEAF6"/>
                </a:solidFill>
                <a:effectLst/>
                <a:uFillTx/>
                <a:latin typeface="Aptos"/>
              </a:rPr>
              <a:t>ponte entre clima e crescimento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5"/>
          <p:cNvSpPr/>
          <p:nvPr/>
        </p:nvSpPr>
        <p:spPr>
          <a:xfrm>
            <a:off x="502920" y="6382440"/>
            <a:ext cx="11201400" cy="360"/>
          </a:xfrm>
          <a:prstGeom prst="line">
            <a:avLst/>
          </a:prstGeom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6"/>
          <p:cNvSpPr/>
          <p:nvPr/>
        </p:nvSpPr>
        <p:spPr>
          <a:xfrm>
            <a:off x="502920" y="6473880"/>
            <a:ext cx="3290400" cy="1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Modelo logístico + binomial negativa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8"/>
          <p:cNvSpPr/>
          <p:nvPr/>
        </p:nvSpPr>
        <p:spPr>
          <a:xfrm>
            <a:off x="457200" y="3886200"/>
            <a:ext cx="10689336" cy="1324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640080" y="4050720"/>
            <a:ext cx="434196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 err="1">
                <a:solidFill>
                  <a:srgbClr val="16324F"/>
                </a:solidFill>
                <a:effectLst/>
                <a:uFillTx/>
                <a:latin typeface="Aptos"/>
              </a:rPr>
              <a:t>Comparação</a:t>
            </a:r>
            <a:r>
              <a:rPr lang="en-US" sz="2000" b="1" u="none" strike="noStrike" dirty="0">
                <a:solidFill>
                  <a:srgbClr val="16324F"/>
                </a:solidFill>
                <a:effectLst/>
                <a:uFillTx/>
                <a:latin typeface="Aptos"/>
              </a:rPr>
              <a:t> com a </a:t>
            </a:r>
            <a:r>
              <a:rPr lang="en-US" sz="2000" b="1" u="none" strike="noStrike" dirty="0" err="1">
                <a:solidFill>
                  <a:srgbClr val="16324F"/>
                </a:solidFill>
                <a:effectLst/>
                <a:uFillTx/>
                <a:latin typeface="Aptos"/>
              </a:rPr>
              <a:t>Parte</a:t>
            </a:r>
            <a:r>
              <a:rPr lang="en-US" sz="2000" b="1" u="none" strike="noStrike" dirty="0">
                <a:solidFill>
                  <a:srgbClr val="16324F"/>
                </a:solidFill>
                <a:effectLst/>
                <a:uFillTx/>
                <a:latin typeface="Aptos"/>
              </a:rPr>
              <a:t> 1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640080" y="4389120"/>
            <a:ext cx="10323576" cy="68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Antes: A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média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esperada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crescia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exponencialmente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sem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limite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. Agora: A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média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esperada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cresce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até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uma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concentração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máxima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plausível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definida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por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 K.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70"/>
          <p:cNvSpPr/>
          <p:nvPr/>
        </p:nvSpPr>
        <p:spPr>
          <a:xfrm>
            <a:off x="11475720" y="6473880"/>
            <a:ext cx="254520" cy="13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5476320" y="3115440"/>
            <a:ext cx="1269000" cy="6339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3A1A5D-9198-7AFA-C260-EE442F9B79DA}"/>
                  </a:ext>
                </a:extLst>
              </p:cNvPr>
              <p:cNvSpPr txBox="1"/>
              <p:nvPr/>
            </p:nvSpPr>
            <p:spPr>
              <a:xfrm>
                <a:off x="3074701" y="2175437"/>
                <a:ext cx="4803238" cy="12320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8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28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8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de-DE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80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de-DE" sz="280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d>
                            <m:dPr>
                              <m:ctrlPr>
                                <a:rPr lang="de-DE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80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de-DE" sz="280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80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de-DE" sz="280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de-DE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80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de-DE" sz="280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de-DE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8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8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280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de-DE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80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  <m:r>
                                <a:rPr lang="de-DE" sz="28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3A1A5D-9198-7AFA-C260-EE442F9B7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701" y="2175437"/>
                <a:ext cx="4803238" cy="12320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A1E0D-A9EF-D039-498F-B49692BFC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33">
            <a:extLst>
              <a:ext uri="{FF2B5EF4-FFF2-40B4-BE49-F238E27FC236}">
                <a16:creationId xmlns:a16="http://schemas.microsoft.com/office/drawing/2014/main" id="{2C919B0E-9E08-5979-4503-CDE7E38E6B24}"/>
              </a:ext>
            </a:extLst>
          </p:cNvPr>
          <p:cNvSpPr/>
          <p:nvPr/>
        </p:nvSpPr>
        <p:spPr>
          <a:xfrm>
            <a:off x="0" y="0"/>
            <a:ext cx="12190320" cy="657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4">
            <a:extLst>
              <a:ext uri="{FF2B5EF4-FFF2-40B4-BE49-F238E27FC236}">
                <a16:creationId xmlns:a16="http://schemas.microsoft.com/office/drawing/2014/main" id="{5A463524-5417-565B-E495-55EFD4F51F30}"/>
              </a:ext>
            </a:extLst>
          </p:cNvPr>
          <p:cNvSpPr/>
          <p:nvPr/>
        </p:nvSpPr>
        <p:spPr>
          <a:xfrm>
            <a:off x="502920" y="146160"/>
            <a:ext cx="886824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Mantendo Ratkowsky: temperatura entra em r(T)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5">
            <a:extLst>
              <a:ext uri="{FF2B5EF4-FFF2-40B4-BE49-F238E27FC236}">
                <a16:creationId xmlns:a16="http://schemas.microsoft.com/office/drawing/2014/main" id="{70EA3849-3419-6FD9-B99D-4915EA1A8A47}"/>
              </a:ext>
            </a:extLst>
          </p:cNvPr>
          <p:cNvSpPr/>
          <p:nvPr/>
        </p:nvSpPr>
        <p:spPr>
          <a:xfrm>
            <a:off x="9555480" y="173880"/>
            <a:ext cx="205596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DEAF6"/>
                </a:solidFill>
                <a:effectLst/>
                <a:uFillTx/>
                <a:latin typeface="Aptos"/>
              </a:rPr>
              <a:t>ponte entre clima e crescimento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5">
            <a:extLst>
              <a:ext uri="{FF2B5EF4-FFF2-40B4-BE49-F238E27FC236}">
                <a16:creationId xmlns:a16="http://schemas.microsoft.com/office/drawing/2014/main" id="{ACF87DED-8AD0-E295-6E48-D6E07374ACDD}"/>
              </a:ext>
            </a:extLst>
          </p:cNvPr>
          <p:cNvSpPr/>
          <p:nvPr/>
        </p:nvSpPr>
        <p:spPr>
          <a:xfrm>
            <a:off x="502920" y="6382440"/>
            <a:ext cx="11201400" cy="360"/>
          </a:xfrm>
          <a:prstGeom prst="line">
            <a:avLst/>
          </a:prstGeom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6">
            <a:extLst>
              <a:ext uri="{FF2B5EF4-FFF2-40B4-BE49-F238E27FC236}">
                <a16:creationId xmlns:a16="http://schemas.microsoft.com/office/drawing/2014/main" id="{DCE4F228-C23D-122C-F198-EEED568561CA}"/>
              </a:ext>
            </a:extLst>
          </p:cNvPr>
          <p:cNvSpPr/>
          <p:nvPr/>
        </p:nvSpPr>
        <p:spPr>
          <a:xfrm>
            <a:off x="502920" y="6473880"/>
            <a:ext cx="3290400" cy="1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Modelo logístico + binomial negativa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9">
            <a:extLst>
              <a:ext uri="{FF2B5EF4-FFF2-40B4-BE49-F238E27FC236}">
                <a16:creationId xmlns:a16="http://schemas.microsoft.com/office/drawing/2014/main" id="{43BCCBE8-F0E0-D0F7-702B-C6B92CE084C1}"/>
              </a:ext>
            </a:extLst>
          </p:cNvPr>
          <p:cNvSpPr/>
          <p:nvPr/>
        </p:nvSpPr>
        <p:spPr>
          <a:xfrm>
            <a:off x="868680" y="2487240"/>
            <a:ext cx="9875520" cy="68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diferença agora é que r(T) não alimenta mais um crescimento ilimitado. Ele acelera a chegada à saturação 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7">
            <a:extLst>
              <a:ext uri="{FF2B5EF4-FFF2-40B4-BE49-F238E27FC236}">
                <a16:creationId xmlns:a16="http://schemas.microsoft.com/office/drawing/2014/main" id="{84B589C4-E5DF-12A7-5B8C-70CDA69F7BB8}"/>
              </a:ext>
            </a:extLst>
          </p:cNvPr>
          <p:cNvSpPr/>
          <p:nvPr/>
        </p:nvSpPr>
        <p:spPr>
          <a:xfrm>
            <a:off x="3502152" y="3995928"/>
            <a:ext cx="4936320" cy="13716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74A1A417-2735-6F07-BCC7-01208C0FE320}"/>
              </a:ext>
            </a:extLst>
          </p:cNvPr>
          <p:cNvSpPr/>
          <p:nvPr/>
        </p:nvSpPr>
        <p:spPr>
          <a:xfrm>
            <a:off x="3694032" y="4178808"/>
            <a:ext cx="4552560" cy="25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Equação integrada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36307774-D862-FA0B-0F9B-F46E8F91E8C2}"/>
              </a:ext>
            </a:extLst>
          </p:cNvPr>
          <p:cNvSpPr/>
          <p:nvPr/>
        </p:nvSpPr>
        <p:spPr>
          <a:xfrm>
            <a:off x="3694032" y="4555368"/>
            <a:ext cx="4552560" cy="65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N(t,T) = K / [1 + ((K−N₀)/N₀) · e^(−r(T)t)]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70">
            <a:extLst>
              <a:ext uri="{FF2B5EF4-FFF2-40B4-BE49-F238E27FC236}">
                <a16:creationId xmlns:a16="http://schemas.microsoft.com/office/drawing/2014/main" id="{E9288CBF-214E-4712-13B9-F962BF6F57A1}"/>
              </a:ext>
            </a:extLst>
          </p:cNvPr>
          <p:cNvSpPr/>
          <p:nvPr/>
        </p:nvSpPr>
        <p:spPr>
          <a:xfrm>
            <a:off x="11475720" y="6473880"/>
            <a:ext cx="254520" cy="13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7FCC6F7-7F37-E38D-BB45-FD869ED72FD9}"/>
              </a:ext>
            </a:extLst>
          </p:cNvPr>
          <p:cNvSpPr/>
          <p:nvPr/>
        </p:nvSpPr>
        <p:spPr>
          <a:xfrm>
            <a:off x="6805152" y="4359888"/>
            <a:ext cx="1269000" cy="6339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B30D90-FA45-B393-9DC2-AA864B8F431F}"/>
                  </a:ext>
                </a:extLst>
              </p:cNvPr>
              <p:cNvSpPr txBox="1"/>
              <p:nvPr/>
            </p:nvSpPr>
            <p:spPr>
              <a:xfrm>
                <a:off x="1938528" y="1264787"/>
                <a:ext cx="3622723" cy="521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fr-FR" sz="2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FR" sz="280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</m:rad>
                      <m:r>
                        <a:rPr lang="fr-FR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280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fr-F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FR" sz="28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B30D90-FA45-B393-9DC2-AA864B8F4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528" y="1264787"/>
                <a:ext cx="3622723" cy="5218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93413E-B796-8152-FDF6-D04C066E6665}"/>
                  </a:ext>
                </a:extLst>
              </p:cNvPr>
              <p:cNvSpPr txBox="1"/>
              <p:nvPr/>
            </p:nvSpPr>
            <p:spPr>
              <a:xfrm>
                <a:off x="7022592" y="1323201"/>
                <a:ext cx="377468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2800" i="1" smtClean="0">
                                          <a:latin typeface="Cambria Math" panose="02040503050406030204" pitchFamily="18" charset="0"/>
                                        </a:rPr>
                                        <m:t>𝑚𝑖𝑛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93413E-B796-8152-FDF6-D04C066E6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592" y="1323201"/>
                <a:ext cx="377468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1207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12190320" cy="657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502920" y="146160"/>
            <a:ext cx="886824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Novo Modelo 2: binomial negativa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9555480" y="173880"/>
            <a:ext cx="205596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502920" y="6382440"/>
            <a:ext cx="11201400" cy="360"/>
          </a:xfrm>
          <a:prstGeom prst="line">
            <a:avLst/>
          </a:prstGeom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502920" y="6473880"/>
            <a:ext cx="3290400" cy="1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Modelo logístico + binomial negativa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777240" y="1078920"/>
            <a:ext cx="438768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4C956C"/>
                </a:solidFill>
                <a:effectLst/>
                <a:uFillTx/>
                <a:latin typeface="Aptos Display"/>
                <a:ea typeface="Aptos Display"/>
              </a:rPr>
              <a:t>X ~ NegBin(μ, k)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868680" y="1828800"/>
            <a:ext cx="466200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binomial negativa modela contagens quando os dados apresentam superdispersão: Var(X) &gt; E[X].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7"/>
          <p:cNvSpPr/>
          <p:nvPr/>
        </p:nvSpPr>
        <p:spPr>
          <a:xfrm>
            <a:off x="868680" y="2788920"/>
            <a:ext cx="2055960" cy="73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1051560" y="2953440"/>
            <a:ext cx="16902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Média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1051560" y="3291840"/>
            <a:ext cx="1690200" cy="9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62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E[X] = μ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3246120" y="2788920"/>
            <a:ext cx="2238840" cy="73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3429000" y="2953440"/>
            <a:ext cx="187308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Variância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3429000" y="3291840"/>
            <a:ext cx="1873080" cy="9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62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Var(X) = μ + μ²/k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3"/>
          <p:cNvSpPr/>
          <p:nvPr/>
        </p:nvSpPr>
        <p:spPr>
          <a:xfrm>
            <a:off x="868680" y="3886200"/>
            <a:ext cx="4616280" cy="1050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1051560" y="4050720"/>
            <a:ext cx="425052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Papel de 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5"/>
          <p:cNvSpPr/>
          <p:nvPr/>
        </p:nvSpPr>
        <p:spPr>
          <a:xfrm>
            <a:off x="1051560" y="4389120"/>
            <a:ext cx="425052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quanto menor k, maior a agregação e a incerteza nas contagens.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0" descr="/mnt/data/poisson_vs_nb.sv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400800" y="2514600"/>
            <a:ext cx="5256360" cy="263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17"/>
          <p:cNvSpPr/>
          <p:nvPr/>
        </p:nvSpPr>
        <p:spPr>
          <a:xfrm>
            <a:off x="11475720" y="6473880"/>
            <a:ext cx="254520" cy="13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90"/>
          <p:cNvPicPr/>
          <p:nvPr/>
        </p:nvPicPr>
        <p:blipFill>
          <a:blip r:embed="rId2"/>
          <a:stretch/>
        </p:blipFill>
        <p:spPr>
          <a:xfrm>
            <a:off x="18720" y="3960"/>
            <a:ext cx="1218456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91"/>
          <p:cNvPicPr/>
          <p:nvPr/>
        </p:nvPicPr>
        <p:blipFill>
          <a:blip r:embed="rId3"/>
          <a:stretch/>
        </p:blipFill>
        <p:spPr>
          <a:xfrm>
            <a:off x="10972800" y="6363360"/>
            <a:ext cx="970560" cy="494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12190320" cy="657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502920" y="146160"/>
            <a:ext cx="886824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Modelo final da Parte 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9555480" y="173880"/>
            <a:ext cx="205596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DEAF6"/>
                </a:solidFill>
                <a:effectLst/>
                <a:uFillTx/>
                <a:latin typeface="Aptos"/>
              </a:rPr>
              <a:t>integração dos componentes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502920" y="6382440"/>
            <a:ext cx="11201400" cy="360"/>
          </a:xfrm>
          <a:prstGeom prst="line">
            <a:avLst/>
          </a:prstGeom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502920" y="6473880"/>
            <a:ext cx="3290400" cy="1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Modelo logístico + binomial negativa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731520" y="960120"/>
            <a:ext cx="1060560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nova estrutura mantém o encadeamento da apresentação original, mas troca os blocos responsáveis por crescimento e variabilidade.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6"/>
          <p:cNvSpPr/>
          <p:nvPr/>
        </p:nvSpPr>
        <p:spPr>
          <a:xfrm>
            <a:off x="822960" y="2011680"/>
            <a:ext cx="1964520" cy="1415880"/>
          </a:xfrm>
          <a:prstGeom prst="roundRect">
            <a:avLst>
              <a:gd name="adj" fmla="val 3226"/>
            </a:avLst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960120" y="2240280"/>
            <a:ext cx="16902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Temperatura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987480" y="2697480"/>
            <a:ext cx="164448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 da água costeira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9"/>
          <p:cNvSpPr/>
          <p:nvPr/>
        </p:nvSpPr>
        <p:spPr>
          <a:xfrm>
            <a:off x="2834640" y="2423160"/>
            <a:ext cx="318600" cy="54720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0"/>
          <p:cNvSpPr/>
          <p:nvPr/>
        </p:nvSpPr>
        <p:spPr>
          <a:xfrm>
            <a:off x="3291840" y="2011680"/>
            <a:ext cx="1964520" cy="1415880"/>
          </a:xfrm>
          <a:prstGeom prst="roundRect">
            <a:avLst>
              <a:gd name="adj" fmla="val 3226"/>
            </a:avLst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3429000" y="2240280"/>
            <a:ext cx="16902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Ratkowsky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3456360" y="2697480"/>
            <a:ext cx="164448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r(T) = [a(T−Tmin)]²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3"/>
          <p:cNvSpPr/>
          <p:nvPr/>
        </p:nvSpPr>
        <p:spPr>
          <a:xfrm>
            <a:off x="5303520" y="2423160"/>
            <a:ext cx="318600" cy="54720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4"/>
          <p:cNvSpPr/>
          <p:nvPr/>
        </p:nvSpPr>
        <p:spPr>
          <a:xfrm>
            <a:off x="5760720" y="2011680"/>
            <a:ext cx="1964520" cy="1415880"/>
          </a:xfrm>
          <a:prstGeom prst="roundRect">
            <a:avLst>
              <a:gd name="adj" fmla="val 3226"/>
            </a:avLst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5897880" y="2240280"/>
            <a:ext cx="16902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Logístico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6"/>
          <p:cNvSpPr/>
          <p:nvPr/>
        </p:nvSpPr>
        <p:spPr>
          <a:xfrm>
            <a:off x="5925240" y="2697480"/>
            <a:ext cx="164448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μ = N(t,T) limitado por 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7"/>
          <p:cNvSpPr/>
          <p:nvPr/>
        </p:nvSpPr>
        <p:spPr>
          <a:xfrm>
            <a:off x="7772400" y="2423160"/>
            <a:ext cx="318600" cy="54720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8"/>
          <p:cNvSpPr/>
          <p:nvPr/>
        </p:nvSpPr>
        <p:spPr>
          <a:xfrm>
            <a:off x="8229600" y="2011680"/>
            <a:ext cx="1964520" cy="1415880"/>
          </a:xfrm>
          <a:prstGeom prst="roundRect">
            <a:avLst>
              <a:gd name="adj" fmla="val 3226"/>
            </a:avLst>
          </a:prstGeom>
          <a:solidFill>
            <a:srgbClr val="4C956C"/>
          </a:solidFill>
          <a:ln w="12700">
            <a:solidFill>
              <a:srgbClr val="4C956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8366760" y="2240280"/>
            <a:ext cx="16902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Binomial Negativa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0"/>
          <p:cNvSpPr/>
          <p:nvPr/>
        </p:nvSpPr>
        <p:spPr>
          <a:xfrm>
            <a:off x="8394120" y="2697480"/>
            <a:ext cx="164448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X ~ NegBin(μ,k)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1"/>
          <p:cNvSpPr/>
          <p:nvPr/>
        </p:nvSpPr>
        <p:spPr>
          <a:xfrm>
            <a:off x="1965960" y="4297680"/>
            <a:ext cx="822816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6324F"/>
                </a:solidFill>
                <a:effectLst/>
                <a:uFillTx/>
                <a:latin typeface="Aptos Display"/>
                <a:ea typeface="Aptos Display"/>
              </a:rPr>
              <a:t>P(X &gt; c) = 1 − F_NegBin(c; μ, k)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2"/>
          <p:cNvSpPr/>
          <p:nvPr/>
        </p:nvSpPr>
        <p:spPr>
          <a:xfrm>
            <a:off x="1645920" y="5120640"/>
            <a:ext cx="895968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 representa o limite seguro de contaminação. A probabilidade de risco agora depende da temperatura, do tempo, da capacidade de suporte e da superdispersão.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3"/>
          <p:cNvSpPr/>
          <p:nvPr/>
        </p:nvSpPr>
        <p:spPr>
          <a:xfrm>
            <a:off x="11475720" y="6473880"/>
            <a:ext cx="254520" cy="13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12190320" cy="657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502920" y="146160"/>
            <a:ext cx="886824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Parâmetros da nova simulação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9555480" y="173880"/>
            <a:ext cx="205596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DEAF6"/>
                </a:solidFill>
                <a:effectLst/>
                <a:uFillTx/>
                <a:latin typeface="Aptos"/>
              </a:rPr>
              <a:t>sugestão para apresentar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502920" y="6382440"/>
            <a:ext cx="11201400" cy="360"/>
          </a:xfrm>
          <a:prstGeom prst="line">
            <a:avLst/>
          </a:prstGeom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502920" y="6473880"/>
            <a:ext cx="3290400" cy="1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Modelo logístico + binomial negativa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822960" y="1051560"/>
            <a:ext cx="4890600" cy="7848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987480" y="1216080"/>
            <a:ext cx="7758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N₀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1874520" y="1207080"/>
            <a:ext cx="16902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E6BA8"/>
                </a:solidFill>
                <a:effectLst/>
                <a:uFillTx/>
                <a:latin typeface="Aptos"/>
              </a:rPr>
              <a:t>100 UFC/100 mL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3657600" y="1216080"/>
            <a:ext cx="182736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concentração inicial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9"/>
          <p:cNvSpPr/>
          <p:nvPr/>
        </p:nvSpPr>
        <p:spPr>
          <a:xfrm>
            <a:off x="822960" y="2194560"/>
            <a:ext cx="4890600" cy="7848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987480" y="2359080"/>
            <a:ext cx="7758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1874520" y="2350080"/>
            <a:ext cx="16902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E6BA8"/>
                </a:solidFill>
                <a:effectLst/>
                <a:uFillTx/>
                <a:latin typeface="Aptos"/>
              </a:rPr>
              <a:t>0,02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3657600" y="2359080"/>
            <a:ext cx="182736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constante de Ratkowsky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3"/>
          <p:cNvSpPr/>
          <p:nvPr/>
        </p:nvSpPr>
        <p:spPr>
          <a:xfrm>
            <a:off x="822960" y="3337560"/>
            <a:ext cx="4890600" cy="7848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4"/>
          <p:cNvSpPr/>
          <p:nvPr/>
        </p:nvSpPr>
        <p:spPr>
          <a:xfrm>
            <a:off x="987480" y="3502080"/>
            <a:ext cx="7758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Tmin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1874520" y="3493080"/>
            <a:ext cx="16902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E6BA8"/>
                </a:solidFill>
                <a:effectLst/>
                <a:uFillTx/>
                <a:latin typeface="Aptos"/>
              </a:rPr>
              <a:t>5°C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3657600" y="3502080"/>
            <a:ext cx="182736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temperatura mínima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7"/>
          <p:cNvSpPr/>
          <p:nvPr/>
        </p:nvSpPr>
        <p:spPr>
          <a:xfrm>
            <a:off x="822960" y="4480560"/>
            <a:ext cx="4890600" cy="7848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8"/>
          <p:cNvSpPr/>
          <p:nvPr/>
        </p:nvSpPr>
        <p:spPr>
          <a:xfrm>
            <a:off x="987480" y="4645080"/>
            <a:ext cx="7758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9"/>
          <p:cNvSpPr/>
          <p:nvPr/>
        </p:nvSpPr>
        <p:spPr>
          <a:xfrm>
            <a:off x="1874520" y="4636080"/>
            <a:ext cx="16902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E6BA8"/>
                </a:solidFill>
                <a:effectLst/>
                <a:uFillTx/>
                <a:latin typeface="Aptos"/>
              </a:rPr>
              <a:t>10.000 UFC/100 mL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0"/>
          <p:cNvSpPr/>
          <p:nvPr/>
        </p:nvSpPr>
        <p:spPr>
          <a:xfrm>
            <a:off x="3657600" y="4645080"/>
            <a:ext cx="182736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capacidade de suporte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1"/>
          <p:cNvSpPr/>
          <p:nvPr/>
        </p:nvSpPr>
        <p:spPr>
          <a:xfrm>
            <a:off x="6309360" y="1051560"/>
            <a:ext cx="4890600" cy="7848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2"/>
          <p:cNvSpPr/>
          <p:nvPr/>
        </p:nvSpPr>
        <p:spPr>
          <a:xfrm>
            <a:off x="6473880" y="1216080"/>
            <a:ext cx="7758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3"/>
          <p:cNvSpPr/>
          <p:nvPr/>
        </p:nvSpPr>
        <p:spPr>
          <a:xfrm>
            <a:off x="7360920" y="1207080"/>
            <a:ext cx="16902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E6BA8"/>
                </a:solidFill>
                <a:effectLst/>
                <a:uFillTx/>
                <a:latin typeface="Aptos"/>
              </a:rPr>
              <a:t>5, 20, 100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4"/>
          <p:cNvSpPr/>
          <p:nvPr/>
        </p:nvSpPr>
        <p:spPr>
          <a:xfrm>
            <a:off x="9144000" y="1216080"/>
            <a:ext cx="182736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grau de superdispersão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5"/>
          <p:cNvSpPr/>
          <p:nvPr/>
        </p:nvSpPr>
        <p:spPr>
          <a:xfrm>
            <a:off x="6309360" y="2194560"/>
            <a:ext cx="4890600" cy="7848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6"/>
          <p:cNvSpPr/>
          <p:nvPr/>
        </p:nvSpPr>
        <p:spPr>
          <a:xfrm>
            <a:off x="6473880" y="2359080"/>
            <a:ext cx="7758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7"/>
          <p:cNvSpPr/>
          <p:nvPr/>
        </p:nvSpPr>
        <p:spPr>
          <a:xfrm>
            <a:off x="7360920" y="2350080"/>
            <a:ext cx="16902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E6BA8"/>
                </a:solidFill>
                <a:effectLst/>
                <a:uFillTx/>
                <a:latin typeface="Aptos"/>
              </a:rPr>
              <a:t>15–30°C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8"/>
          <p:cNvSpPr/>
          <p:nvPr/>
        </p:nvSpPr>
        <p:spPr>
          <a:xfrm>
            <a:off x="9144000" y="2359080"/>
            <a:ext cx="182736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faixa simulada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9"/>
          <p:cNvSpPr/>
          <p:nvPr/>
        </p:nvSpPr>
        <p:spPr>
          <a:xfrm>
            <a:off x="6309360" y="3337560"/>
            <a:ext cx="4890600" cy="7848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0"/>
          <p:cNvSpPr/>
          <p:nvPr/>
        </p:nvSpPr>
        <p:spPr>
          <a:xfrm>
            <a:off x="6473880" y="3502080"/>
            <a:ext cx="7758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1"/>
          <p:cNvSpPr/>
          <p:nvPr/>
        </p:nvSpPr>
        <p:spPr>
          <a:xfrm>
            <a:off x="7360920" y="3493080"/>
            <a:ext cx="16902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E6BA8"/>
                </a:solidFill>
                <a:effectLst/>
                <a:uFillTx/>
                <a:latin typeface="Aptos"/>
              </a:rPr>
              <a:t>20 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2"/>
          <p:cNvSpPr/>
          <p:nvPr/>
        </p:nvSpPr>
        <p:spPr>
          <a:xfrm>
            <a:off x="9144000" y="3502080"/>
            <a:ext cx="182736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tempo de crescimento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3"/>
          <p:cNvSpPr/>
          <p:nvPr/>
        </p:nvSpPr>
        <p:spPr>
          <a:xfrm>
            <a:off x="960120" y="5760720"/>
            <a:ext cx="100569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4"/>
          <p:cNvSpPr/>
          <p:nvPr/>
        </p:nvSpPr>
        <p:spPr>
          <a:xfrm>
            <a:off x="11475720" y="6473880"/>
            <a:ext cx="254520" cy="13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8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Picture 151"/>
          <p:cNvPicPr/>
          <p:nvPr/>
        </p:nvPicPr>
        <p:blipFill>
          <a:blip r:embed="rId3"/>
          <a:stretch/>
        </p:blipFill>
        <p:spPr>
          <a:xfrm>
            <a:off x="11221200" y="6363360"/>
            <a:ext cx="970560" cy="494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2"/>
          <p:cNvSpPr/>
          <p:nvPr/>
        </p:nvSpPr>
        <p:spPr>
          <a:xfrm>
            <a:off x="0" y="0"/>
            <a:ext cx="12190320" cy="657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9"/>
          <p:cNvSpPr/>
          <p:nvPr/>
        </p:nvSpPr>
        <p:spPr>
          <a:xfrm>
            <a:off x="502920" y="146160"/>
            <a:ext cx="886824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O que muda nos resultados?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5"/>
          <p:cNvSpPr/>
          <p:nvPr/>
        </p:nvSpPr>
        <p:spPr>
          <a:xfrm>
            <a:off x="9555480" y="173880"/>
            <a:ext cx="205596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DEAF6"/>
                </a:solidFill>
                <a:effectLst/>
                <a:uFillTx/>
                <a:latin typeface="Aptos"/>
              </a:rPr>
              <a:t>comparação conceitual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4"/>
          <p:cNvSpPr/>
          <p:nvPr/>
        </p:nvSpPr>
        <p:spPr>
          <a:xfrm>
            <a:off x="502920" y="6382440"/>
            <a:ext cx="11201400" cy="360"/>
          </a:xfrm>
          <a:prstGeom prst="line">
            <a:avLst/>
          </a:prstGeom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6"/>
          <p:cNvSpPr/>
          <p:nvPr/>
        </p:nvSpPr>
        <p:spPr>
          <a:xfrm>
            <a:off x="502920" y="6473880"/>
            <a:ext cx="3290400" cy="1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Modelo logístico + binomial negativa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9"/>
          <p:cNvSpPr/>
          <p:nvPr/>
        </p:nvSpPr>
        <p:spPr>
          <a:xfrm>
            <a:off x="822960" y="1143000"/>
            <a:ext cx="3381840" cy="411336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7"/>
          <p:cNvSpPr/>
          <p:nvPr/>
        </p:nvSpPr>
        <p:spPr>
          <a:xfrm>
            <a:off x="1005840" y="1307520"/>
            <a:ext cx="301608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Com Poisson + exponencial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9"/>
          <p:cNvSpPr/>
          <p:nvPr/>
        </p:nvSpPr>
        <p:spPr>
          <a:xfrm>
            <a:off x="1005840" y="1645920"/>
            <a:ext cx="3016080" cy="347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• crescimento sem limite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• Var(X) = λ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• caudas mais estreitas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• risco pode ser subestimado quando há agregação bacteriana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2"/>
          <p:cNvSpPr/>
          <p:nvPr/>
        </p:nvSpPr>
        <p:spPr>
          <a:xfrm>
            <a:off x="4434840" y="1143000"/>
            <a:ext cx="3381840" cy="411336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40"/>
          <p:cNvSpPr/>
          <p:nvPr/>
        </p:nvSpPr>
        <p:spPr>
          <a:xfrm>
            <a:off x="4617720" y="1307520"/>
            <a:ext cx="301608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Com binomial negativa + logístico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1"/>
          <p:cNvSpPr/>
          <p:nvPr/>
        </p:nvSpPr>
        <p:spPr>
          <a:xfrm>
            <a:off x="4617720" y="1645920"/>
            <a:ext cx="3016080" cy="347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• crescimento limitado por 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• Var(X) &gt; μ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• caudas mais pesadas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• risco extremo fica mais realista para amostras ambientais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4"/>
          <p:cNvSpPr/>
          <p:nvPr/>
        </p:nvSpPr>
        <p:spPr>
          <a:xfrm>
            <a:off x="8046720" y="1143000"/>
            <a:ext cx="3381840" cy="411336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2"/>
          <p:cNvSpPr/>
          <p:nvPr/>
        </p:nvSpPr>
        <p:spPr>
          <a:xfrm>
            <a:off x="8229600" y="1307520"/>
            <a:ext cx="301608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324F"/>
                </a:solidFill>
                <a:effectLst/>
                <a:uFillTx/>
                <a:latin typeface="Aptos"/>
              </a:rPr>
              <a:t>Conclusão prática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43"/>
          <p:cNvSpPr/>
          <p:nvPr/>
        </p:nvSpPr>
        <p:spPr>
          <a:xfrm>
            <a:off x="8229600" y="1645920"/>
            <a:ext cx="3016080" cy="347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 novo modelo é menos “explosivo” no crescimento médio, mas mais conservador na cauda de risco. Isso melhora decisões como alerta pós-chuva e interdição temporária.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4"/>
          <p:cNvSpPr/>
          <p:nvPr/>
        </p:nvSpPr>
        <p:spPr>
          <a:xfrm>
            <a:off x="11475720" y="6473880"/>
            <a:ext cx="254520" cy="13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Picture 167"/>
          <p:cNvPicPr/>
          <p:nvPr/>
        </p:nvPicPr>
        <p:blipFill>
          <a:blip r:embed="rId3"/>
          <a:stretch/>
        </p:blipFill>
        <p:spPr>
          <a:xfrm>
            <a:off x="11201400" y="6473880"/>
            <a:ext cx="970560" cy="383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Picture 168"/>
          <p:cNvPicPr/>
          <p:nvPr/>
        </p:nvPicPr>
        <p:blipFill>
          <a:blip r:embed="rId2"/>
          <a:stretch/>
        </p:blipFill>
        <p:spPr>
          <a:xfrm>
            <a:off x="0" y="3960"/>
            <a:ext cx="1218420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Picture 169"/>
          <p:cNvPicPr/>
          <p:nvPr/>
        </p:nvPicPr>
        <p:blipFill>
          <a:blip r:embed="rId3"/>
          <a:stretch/>
        </p:blipFill>
        <p:spPr>
          <a:xfrm>
            <a:off x="1467720" y="5486400"/>
            <a:ext cx="904752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Picture 170"/>
          <p:cNvPicPr/>
          <p:nvPr/>
        </p:nvPicPr>
        <p:blipFill>
          <a:blip r:embed="rId4"/>
          <a:stretch/>
        </p:blipFill>
        <p:spPr>
          <a:xfrm>
            <a:off x="11144880" y="6363360"/>
            <a:ext cx="970560" cy="494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171"/>
          <p:cNvPicPr/>
          <p:nvPr/>
        </p:nvPicPr>
        <p:blipFill>
          <a:blip r:embed="rId2"/>
          <a:stretch/>
        </p:blipFill>
        <p:spPr>
          <a:xfrm>
            <a:off x="-17280" y="3960"/>
            <a:ext cx="1218492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172"/>
          <p:cNvPicPr/>
          <p:nvPr/>
        </p:nvPicPr>
        <p:blipFill>
          <a:blip r:embed="rId2"/>
          <a:stretch/>
        </p:blipFill>
        <p:spPr>
          <a:xfrm>
            <a:off x="18720" y="3960"/>
            <a:ext cx="1218492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173"/>
          <p:cNvPicPr/>
          <p:nvPr/>
        </p:nvPicPr>
        <p:blipFill>
          <a:blip r:embed="rId2"/>
          <a:stretch/>
        </p:blipFill>
        <p:spPr>
          <a:xfrm>
            <a:off x="18720" y="3960"/>
            <a:ext cx="1218492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9144" y="0"/>
            <a:ext cx="12191040" cy="6857280"/>
          </a:xfrm>
          <a:prstGeom prst="rect">
            <a:avLst/>
          </a:prstGeom>
          <a:solidFill>
            <a:srgbClr val="12233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2"/>
          <p:cNvSpPr/>
          <p:nvPr/>
        </p:nvSpPr>
        <p:spPr>
          <a:xfrm>
            <a:off x="594360" y="411480"/>
            <a:ext cx="96004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18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Conclusão da Parte 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612720" y="941760"/>
            <a:ext cx="7771680" cy="23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18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4"/>
          <p:cNvSpPr/>
          <p:nvPr/>
        </p:nvSpPr>
        <p:spPr>
          <a:xfrm>
            <a:off x="868680" y="1417320"/>
            <a:ext cx="3336840" cy="191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E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6"/>
          <p:cNvSpPr/>
          <p:nvPr/>
        </p:nvSpPr>
        <p:spPr>
          <a:xfrm>
            <a:off x="1069920" y="1572840"/>
            <a:ext cx="301680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18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33A"/>
                </a:solidFill>
                <a:effectLst/>
                <a:uFillTx/>
                <a:latin typeface="Aptos"/>
              </a:rPr>
              <a:t>1. Crescimento mais realista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7"/>
          <p:cNvSpPr/>
          <p:nvPr/>
        </p:nvSpPr>
        <p:spPr>
          <a:xfrm>
            <a:off x="1069920" y="1984320"/>
            <a:ext cx="3016800" cy="53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18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6370"/>
                </a:solidFill>
                <a:effectLst/>
                <a:uFillTx/>
                <a:latin typeface="Aptos"/>
              </a:rPr>
              <a:t>O modelo logístico representa a desaceleração natural quando recursos e espaço se tornam limitantes.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5"/>
          <p:cNvSpPr/>
          <p:nvPr/>
        </p:nvSpPr>
        <p:spPr>
          <a:xfrm>
            <a:off x="4434840" y="1417320"/>
            <a:ext cx="3336840" cy="191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E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10"/>
          <p:cNvSpPr/>
          <p:nvPr/>
        </p:nvSpPr>
        <p:spPr>
          <a:xfrm>
            <a:off x="4636080" y="1572840"/>
            <a:ext cx="301680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18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33A"/>
                </a:solidFill>
                <a:effectLst/>
                <a:uFillTx/>
                <a:latin typeface="Aptos"/>
              </a:rPr>
              <a:t>2. Risco mais realista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1"/>
          <p:cNvSpPr/>
          <p:nvPr/>
        </p:nvSpPr>
        <p:spPr>
          <a:xfrm>
            <a:off x="4636080" y="1984320"/>
            <a:ext cx="3016800" cy="53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18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6370"/>
                </a:solidFill>
                <a:effectLst/>
                <a:uFillTx/>
                <a:latin typeface="Aptos"/>
              </a:rPr>
              <a:t>A binomial negativa incorpora superdispersão, comum em contagens bacterianas ambientais.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6"/>
          <p:cNvSpPr/>
          <p:nvPr/>
        </p:nvSpPr>
        <p:spPr>
          <a:xfrm>
            <a:off x="8001000" y="1417320"/>
            <a:ext cx="3336840" cy="191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E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14"/>
          <p:cNvSpPr/>
          <p:nvPr/>
        </p:nvSpPr>
        <p:spPr>
          <a:xfrm>
            <a:off x="8202240" y="1572840"/>
            <a:ext cx="301680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18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233A"/>
                </a:solidFill>
                <a:effectLst/>
                <a:uFillTx/>
                <a:latin typeface="Aptos"/>
              </a:rPr>
              <a:t>3. Decisão sanitária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5"/>
          <p:cNvSpPr/>
          <p:nvPr/>
        </p:nvSpPr>
        <p:spPr>
          <a:xfrm>
            <a:off x="8202240" y="1984320"/>
            <a:ext cx="3016800" cy="53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18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6370"/>
                </a:solidFill>
                <a:effectLst/>
                <a:uFillTx/>
                <a:latin typeface="Aptos"/>
              </a:rPr>
              <a:t>O modelo estima P(X &gt; limite seguro) de forma mais conservadora para praias sujeitas a picos.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6"/>
          <p:cNvSpPr/>
          <p:nvPr/>
        </p:nvSpPr>
        <p:spPr>
          <a:xfrm>
            <a:off x="960120" y="4069080"/>
            <a:ext cx="10286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18360" rIns="45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 ↑  →  r(T) ↑  →  μ se aproxima de K  →  cauda de risco aumenta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7"/>
          <p:cNvSpPr/>
          <p:nvPr/>
        </p:nvSpPr>
        <p:spPr>
          <a:xfrm>
            <a:off x="960120" y="5074920"/>
            <a:ext cx="10240560" cy="5602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18360" rIns="45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dirty="0">
                <a:solidFill>
                  <a:srgbClr val="DCE6F0"/>
                </a:solidFill>
                <a:latin typeface="Aptos"/>
              </a:rPr>
              <a:t>A</a:t>
            </a:r>
            <a:r>
              <a:rPr lang="en-US" sz="1700" b="0" u="none" strike="noStrike" dirty="0">
                <a:solidFill>
                  <a:srgbClr val="DCE6F0"/>
                </a:solidFill>
                <a:effectLst/>
                <a:uFillTx/>
                <a:latin typeface="Aptos"/>
              </a:rPr>
              <a:t> </a:t>
            </a:r>
            <a:r>
              <a:rPr lang="en-US" sz="1700" b="0" u="none" strike="noStrike" dirty="0" err="1">
                <a:solidFill>
                  <a:srgbClr val="DCE6F0"/>
                </a:solidFill>
                <a:effectLst/>
                <a:uFillTx/>
                <a:latin typeface="Aptos"/>
              </a:rPr>
              <a:t>temperatura</a:t>
            </a:r>
            <a:r>
              <a:rPr lang="en-US" sz="1700" b="0" u="none" strike="noStrike" dirty="0">
                <a:solidFill>
                  <a:srgbClr val="DCE6F0"/>
                </a:solidFill>
                <a:effectLst/>
                <a:uFillTx/>
                <a:latin typeface="Aptos"/>
              </a:rPr>
              <a:t> </a:t>
            </a:r>
            <a:r>
              <a:rPr lang="en-US" sz="1700" b="0" u="none" strike="noStrike" dirty="0" err="1">
                <a:solidFill>
                  <a:srgbClr val="DCE6F0"/>
                </a:solidFill>
                <a:effectLst/>
                <a:uFillTx/>
                <a:latin typeface="Aptos"/>
              </a:rPr>
              <a:t>não</a:t>
            </a:r>
            <a:r>
              <a:rPr lang="en-US" sz="1700" b="0" u="none" strike="noStrike" dirty="0">
                <a:solidFill>
                  <a:srgbClr val="DCE6F0"/>
                </a:solidFill>
                <a:effectLst/>
                <a:uFillTx/>
                <a:latin typeface="Aptos"/>
              </a:rPr>
              <a:t> </a:t>
            </a:r>
            <a:r>
              <a:rPr lang="en-US" sz="1700" b="0" u="none" strike="noStrike" dirty="0" err="1">
                <a:solidFill>
                  <a:srgbClr val="DCE6F0"/>
                </a:solidFill>
                <a:effectLst/>
                <a:uFillTx/>
                <a:latin typeface="Aptos"/>
              </a:rPr>
              <a:t>explica</a:t>
            </a:r>
            <a:r>
              <a:rPr lang="en-US" sz="1700" b="0" u="none" strike="noStrike" dirty="0">
                <a:solidFill>
                  <a:srgbClr val="DCE6F0"/>
                </a:solidFill>
                <a:effectLst/>
                <a:uFillTx/>
                <a:latin typeface="Aptos"/>
              </a:rPr>
              <a:t> </a:t>
            </a:r>
            <a:r>
              <a:rPr lang="en-US" sz="1700" b="0" u="none" strike="noStrike" dirty="0" err="1">
                <a:solidFill>
                  <a:srgbClr val="DCE6F0"/>
                </a:solidFill>
                <a:effectLst/>
                <a:uFillTx/>
                <a:latin typeface="Aptos"/>
              </a:rPr>
              <a:t>tudo</a:t>
            </a:r>
            <a:r>
              <a:rPr lang="en-US" sz="1700" b="0" u="none" strike="noStrike" dirty="0">
                <a:solidFill>
                  <a:srgbClr val="DCE6F0"/>
                </a:solidFill>
                <a:effectLst/>
                <a:uFillTx/>
                <a:latin typeface="Aptos"/>
              </a:rPr>
              <a:t>, mas </a:t>
            </a:r>
            <a:r>
              <a:rPr lang="en-US" sz="1700" b="0" u="none" strike="noStrike" dirty="0" err="1">
                <a:solidFill>
                  <a:srgbClr val="DCE6F0"/>
                </a:solidFill>
                <a:effectLst/>
                <a:uFillTx/>
                <a:latin typeface="Aptos"/>
              </a:rPr>
              <a:t>acelera</a:t>
            </a:r>
            <a:r>
              <a:rPr lang="en-US" sz="1700" b="0" u="none" strike="noStrike" dirty="0">
                <a:solidFill>
                  <a:srgbClr val="DCE6F0"/>
                </a:solidFill>
                <a:effectLst/>
                <a:uFillTx/>
                <a:latin typeface="Aptos"/>
              </a:rPr>
              <a:t> </a:t>
            </a:r>
            <a:r>
              <a:rPr lang="en-US" sz="1700" b="0" u="none" strike="noStrike" dirty="0" err="1">
                <a:solidFill>
                  <a:srgbClr val="DCE6F0"/>
                </a:solidFill>
                <a:effectLst/>
                <a:uFillTx/>
                <a:latin typeface="Aptos"/>
              </a:rPr>
              <a:t>processos</a:t>
            </a:r>
            <a:r>
              <a:rPr lang="en-US" sz="1700" b="0" u="none" strike="noStrike" dirty="0">
                <a:solidFill>
                  <a:srgbClr val="DCE6F0"/>
                </a:solidFill>
                <a:effectLst/>
                <a:uFillTx/>
                <a:latin typeface="Aptos"/>
              </a:rPr>
              <a:t> </a:t>
            </a:r>
            <a:r>
              <a:rPr lang="en-US" sz="1700" b="0" u="none" strike="noStrike" dirty="0" err="1">
                <a:solidFill>
                  <a:srgbClr val="DCE6F0"/>
                </a:solidFill>
                <a:effectLst/>
                <a:uFillTx/>
                <a:latin typeface="Aptos"/>
              </a:rPr>
              <a:t>bacterianos</a:t>
            </a:r>
            <a:r>
              <a:rPr lang="en-US" sz="1700" b="0" u="none" strike="noStrike" dirty="0">
                <a:solidFill>
                  <a:srgbClr val="DCE6F0"/>
                </a:solidFill>
                <a:effectLst/>
                <a:uFillTx/>
                <a:latin typeface="Aptos"/>
              </a:rPr>
              <a:t> </a:t>
            </a:r>
            <a:r>
              <a:rPr lang="en-US" sz="1700" b="0" u="none" strike="noStrike" dirty="0" err="1">
                <a:solidFill>
                  <a:srgbClr val="DCE6F0"/>
                </a:solidFill>
                <a:effectLst/>
                <a:uFillTx/>
                <a:latin typeface="Aptos"/>
              </a:rPr>
              <a:t>em</a:t>
            </a:r>
            <a:r>
              <a:rPr lang="en-US" sz="1700" b="0" u="none" strike="noStrike" dirty="0">
                <a:solidFill>
                  <a:srgbClr val="DCE6F0"/>
                </a:solidFill>
                <a:effectLst/>
                <a:uFillTx/>
                <a:latin typeface="Aptos"/>
              </a:rPr>
              <a:t> um </a:t>
            </a:r>
            <a:r>
              <a:rPr lang="en-US" sz="1700" b="0" u="none" strike="noStrike" dirty="0" err="1">
                <a:solidFill>
                  <a:srgbClr val="DCE6F0"/>
                </a:solidFill>
                <a:effectLst/>
                <a:uFillTx/>
                <a:latin typeface="Aptos"/>
              </a:rPr>
              <a:t>sistema</a:t>
            </a:r>
            <a:r>
              <a:rPr lang="en-US" sz="1700" b="0" u="none" strike="noStrike" dirty="0">
                <a:solidFill>
                  <a:srgbClr val="DCE6F0"/>
                </a:solidFill>
                <a:effectLst/>
                <a:uFillTx/>
                <a:latin typeface="Aptos"/>
              </a:rPr>
              <a:t> </a:t>
            </a:r>
            <a:r>
              <a:rPr lang="en-US" sz="1700" b="0" u="none" strike="noStrike" dirty="0" err="1">
                <a:solidFill>
                  <a:srgbClr val="DCE6F0"/>
                </a:solidFill>
                <a:effectLst/>
                <a:uFillTx/>
                <a:latin typeface="Aptos"/>
              </a:rPr>
              <a:t>costeiro</a:t>
            </a:r>
            <a:r>
              <a:rPr lang="en-US" sz="1700" b="0" u="none" strike="noStrike" dirty="0">
                <a:solidFill>
                  <a:srgbClr val="DCE6F0"/>
                </a:solidFill>
                <a:effectLst/>
                <a:uFillTx/>
                <a:latin typeface="Aptos"/>
              </a:rPr>
              <a:t> </a:t>
            </a:r>
            <a:r>
              <a:rPr lang="en-US" sz="1700" b="0" u="none" strike="noStrike" dirty="0" err="1">
                <a:solidFill>
                  <a:srgbClr val="DCE6F0"/>
                </a:solidFill>
                <a:effectLst/>
                <a:uFillTx/>
                <a:latin typeface="Aptos"/>
              </a:rPr>
              <a:t>limitado</a:t>
            </a:r>
            <a:r>
              <a:rPr lang="en-US" sz="1700" b="0" u="none" strike="noStrike" dirty="0">
                <a:solidFill>
                  <a:srgbClr val="DCE6F0"/>
                </a:solidFill>
                <a:effectLst/>
                <a:uFillTx/>
                <a:latin typeface="Aptos"/>
              </a:rPr>
              <a:t> e </a:t>
            </a:r>
            <a:r>
              <a:rPr lang="en-US" sz="1700" b="0" u="none" strike="noStrike" dirty="0" err="1">
                <a:solidFill>
                  <a:srgbClr val="DCE6F0"/>
                </a:solidFill>
                <a:effectLst/>
                <a:uFillTx/>
                <a:latin typeface="Aptos"/>
              </a:rPr>
              <a:t>altamente</a:t>
            </a:r>
            <a:r>
              <a:rPr lang="en-US" sz="1700" b="0" u="none" strike="noStrike" dirty="0">
                <a:solidFill>
                  <a:srgbClr val="DCE6F0"/>
                </a:solidFill>
                <a:effectLst/>
                <a:uFillTx/>
                <a:latin typeface="Aptos"/>
              </a:rPr>
              <a:t> </a:t>
            </a:r>
            <a:r>
              <a:rPr lang="en-US" sz="1700" b="0" u="none" strike="noStrike" dirty="0" err="1">
                <a:solidFill>
                  <a:srgbClr val="DCE6F0"/>
                </a:solidFill>
                <a:effectLst/>
                <a:uFillTx/>
                <a:latin typeface="Aptos"/>
              </a:rPr>
              <a:t>variável</a:t>
            </a:r>
            <a:r>
              <a:rPr lang="en-US" sz="1700" b="0" u="none" strike="noStrike" dirty="0">
                <a:solidFill>
                  <a:srgbClr val="DCE6F0"/>
                </a:solidFill>
                <a:effectLst/>
                <a:uFillTx/>
                <a:latin typeface="Aptos"/>
              </a:rPr>
              <a:t>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8"/>
          <p:cNvSpPr/>
          <p:nvPr/>
        </p:nvSpPr>
        <p:spPr>
          <a:xfrm>
            <a:off x="594360" y="6446520"/>
            <a:ext cx="411408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18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D2DCE6"/>
                </a:solidFill>
                <a:effectLst/>
                <a:uFillTx/>
                <a:latin typeface="Aptos"/>
              </a:rPr>
              <a:t>Modelo logístico + binomial negativa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12190320" cy="657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502920" y="146160"/>
            <a:ext cx="886824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Referências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9555480" y="173880"/>
            <a:ext cx="205596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DEAF6"/>
                </a:solidFill>
                <a:effectLst/>
                <a:uFillTx/>
                <a:latin typeface="Aptos"/>
              </a:rPr>
              <a:t>base teórica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502920" y="6382440"/>
            <a:ext cx="11201400" cy="360"/>
          </a:xfrm>
          <a:prstGeom prst="line">
            <a:avLst/>
          </a:prstGeom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502920" y="6473880"/>
            <a:ext cx="3290400" cy="1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Modelo logístico + binomial negativa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914400" y="1188720"/>
            <a:ext cx="10239840" cy="20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• Ratkowsky et al. (1982) — relação entre temperatura e taxa de crescimento bacteriano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• Verhulst (1838) — modelo logístico de crescimento populacional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• Hilbe (2011) — Negative Binomial Regression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• Haas, Rose &amp; Gerba — Quantitative Microbial Risk Assessment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• Casella &amp; Berger — Statistical Inference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11475720" y="6473880"/>
            <a:ext cx="254520" cy="13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12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Picture 196"/>
          <p:cNvPicPr/>
          <p:nvPr/>
        </p:nvPicPr>
        <p:blipFill>
          <a:blip r:embed="rId3"/>
          <a:stretch/>
        </p:blipFill>
        <p:spPr>
          <a:xfrm>
            <a:off x="11373480" y="6400800"/>
            <a:ext cx="970560" cy="494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13EB18-5B26-4907-A5D2-7E9E9C6A03F9}"/>
              </a:ext>
            </a:extLst>
          </p:cNvPr>
          <p:cNvSpPr/>
          <p:nvPr/>
        </p:nvSpPr>
        <p:spPr>
          <a:xfrm>
            <a:off x="9144" y="0"/>
            <a:ext cx="12191040" cy="6857280"/>
          </a:xfrm>
          <a:prstGeom prst="rect">
            <a:avLst/>
          </a:prstGeom>
          <a:solidFill>
            <a:srgbClr val="12233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2AED94-7E83-53DB-C8F5-D8DA0140A345}"/>
              </a:ext>
            </a:extLst>
          </p:cNvPr>
          <p:cNvSpPr txBox="1"/>
          <p:nvPr/>
        </p:nvSpPr>
        <p:spPr>
          <a:xfrm>
            <a:off x="4874796" y="3043919"/>
            <a:ext cx="2459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</a:rPr>
              <a:t>Obrigado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039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908</Words>
  <Application>Microsoft Office PowerPoint</Application>
  <PresentationFormat>Widescreen</PresentationFormat>
  <Paragraphs>136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matemática do impacto do crescimento bacteriano - Parte 2</dc:title>
  <dc:subject>Parte 2 - Modelo logístico e binomial negativa</dc:subject>
  <dc:creator>Bruno Cavalli</dc:creator>
  <dc:description/>
  <cp:lastModifiedBy>Bruno Cavalli</cp:lastModifiedBy>
  <cp:revision>15</cp:revision>
  <dcterms:created xsi:type="dcterms:W3CDTF">2026-05-29T23:49:18Z</dcterms:created>
  <dcterms:modified xsi:type="dcterms:W3CDTF">2026-06-01T12:54:46Z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