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svg" ContentType="image/svg"/>
  <Override PartName="/ppt/media/image5.wmf" ContentType="image/x-wmf"/>
  <Override PartName="/ppt/media/image7.svg" ContentType="image/svg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6A882B3-E29A-48D3-A1C0-AD36F5E7BDF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411FC2-498F-4B04-AC1E-65C71F44DE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A301C1-6B27-47E9-A7D4-E03D277D18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98D398-EA68-4974-8EEB-6D5A400B30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8002CF-FED6-477C-8A7B-6946906C31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A3C54E-6010-41BE-808B-3A23442E73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53BA2D-F552-442D-BD34-8D0DFCF380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CAA849-27D9-469F-A7E1-7BC781570B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BD9EFB-AB10-45BB-A971-50EA93E322D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103269-8235-4640-8D76-774AF8492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34A568-B68D-4B32-AA8C-E04645B045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8F45B27-6824-4AE7-8E0E-737391E6ED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7835F1-7968-48D2-BB10-DC7C7C5ED1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9829800" y="777240"/>
            <a:ext cx="1644840" cy="164484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e6ba8">
              <a:alpha val="65000"/>
            </a:srgbClr>
          </a:solidFill>
          <a:ln w="12700">
            <a:solidFill>
              <a:srgbClr val="0e6ba8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9326880" y="4480560"/>
            <a:ext cx="1644840" cy="137052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00a6a6">
              <a:alpha val="35000"/>
            </a:srgbClr>
          </a:solidFill>
          <a:ln w="12700">
            <a:solidFill>
              <a:srgbClr val="00a6a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777240" y="1828800"/>
            <a:ext cx="804564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822960" y="3063240"/>
            <a:ext cx="7771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822960" y="580644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7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8"/>
          <p:cNvSpPr/>
          <p:nvPr/>
        </p:nvSpPr>
        <p:spPr>
          <a:xfrm>
            <a:off x="457200" y="45720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9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0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1"/>
          <p:cNvSpPr/>
          <p:nvPr/>
        </p:nvSpPr>
        <p:spPr>
          <a:xfrm>
            <a:off x="-685800" y="803880"/>
            <a:ext cx="5576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0"/>
          <p:cNvSpPr/>
          <p:nvPr/>
        </p:nvSpPr>
        <p:spPr>
          <a:xfrm>
            <a:off x="2240280" y="26517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2"/>
          <p:cNvSpPr/>
          <p:nvPr/>
        </p:nvSpPr>
        <p:spPr>
          <a:xfrm>
            <a:off x="2423160" y="2816280"/>
            <a:ext cx="3291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3"/>
          <p:cNvSpPr/>
          <p:nvPr/>
        </p:nvSpPr>
        <p:spPr>
          <a:xfrm>
            <a:off x="2423160" y="3429000"/>
            <a:ext cx="2834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0"/>
          <p:cNvSpPr/>
          <p:nvPr/>
        </p:nvSpPr>
        <p:spPr>
          <a:xfrm>
            <a:off x="457200" y="1828800"/>
            <a:ext cx="850284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61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34"/>
          <p:cNvSpPr/>
          <p:nvPr/>
        </p:nvSpPr>
        <p:spPr>
          <a:xfrm>
            <a:off x="6629400" y="26517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temperatura da água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40280" y="44805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83680" y="4480560"/>
            <a:ext cx="3474360" cy="1462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chance de exceder limites seguros.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o exponencial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85800" y="1143000"/>
            <a:ext cx="5576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868680" y="1993320"/>
            <a:ext cx="52110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868680" y="2880360"/>
            <a:ext cx="2330640" cy="8676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1051560" y="30448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9"/>
          <p:cNvSpPr/>
          <p:nvPr/>
        </p:nvSpPr>
        <p:spPr>
          <a:xfrm>
            <a:off x="1051560" y="33832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0"/>
          <p:cNvSpPr/>
          <p:nvPr/>
        </p:nvSpPr>
        <p:spPr>
          <a:xfrm>
            <a:off x="3429000" y="2880360"/>
            <a:ext cx="2422080" cy="8676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1"/>
          <p:cNvSpPr/>
          <p:nvPr/>
        </p:nvSpPr>
        <p:spPr>
          <a:xfrm>
            <a:off x="3611880" y="3044880"/>
            <a:ext cx="2056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3611880" y="3383280"/>
            <a:ext cx="2056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868680" y="4023360"/>
            <a:ext cx="2330640" cy="8676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1051560" y="41878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5"/>
          <p:cNvSpPr/>
          <p:nvPr/>
        </p:nvSpPr>
        <p:spPr>
          <a:xfrm>
            <a:off x="1051560" y="4526280"/>
            <a:ext cx="1964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6"/>
          <p:cNvSpPr/>
          <p:nvPr/>
        </p:nvSpPr>
        <p:spPr>
          <a:xfrm>
            <a:off x="3429000" y="4023360"/>
            <a:ext cx="2422080" cy="13248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7"/>
          <p:cNvSpPr/>
          <p:nvPr/>
        </p:nvSpPr>
        <p:spPr>
          <a:xfrm>
            <a:off x="3611880" y="4187880"/>
            <a:ext cx="2056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3611880" y="4526280"/>
            <a:ext cx="2056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47600" y="2057400"/>
            <a:ext cx="5439600" cy="323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0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4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33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4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5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5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6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7"/>
          <p:cNvSpPr/>
          <p:nvPr/>
        </p:nvSpPr>
        <p:spPr>
          <a:xfrm>
            <a:off x="731520" y="1051560"/>
            <a:ext cx="53481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8"/>
          <p:cNvSpPr/>
          <p:nvPr/>
        </p:nvSpPr>
        <p:spPr>
          <a:xfrm>
            <a:off x="731520" y="1691640"/>
            <a:ext cx="53481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59"/>
          <p:cNvSpPr/>
          <p:nvPr/>
        </p:nvSpPr>
        <p:spPr>
          <a:xfrm>
            <a:off x="868680" y="2487240"/>
            <a:ext cx="50738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6"/>
          <p:cNvSpPr/>
          <p:nvPr/>
        </p:nvSpPr>
        <p:spPr>
          <a:xfrm>
            <a:off x="868680" y="3657600"/>
            <a:ext cx="5073840" cy="10504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2"/>
          <p:cNvSpPr/>
          <p:nvPr/>
        </p:nvSpPr>
        <p:spPr>
          <a:xfrm>
            <a:off x="1051560" y="3822120"/>
            <a:ext cx="4708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Leitura ambiental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3"/>
          <p:cNvSpPr/>
          <p:nvPr/>
        </p:nvSpPr>
        <p:spPr>
          <a:xfrm>
            <a:off x="1051560" y="4160520"/>
            <a:ext cx="47080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temperaturas maiores aumentam a velocidade de crescimento, mas não eliminam limites ecológicos.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7"/>
          <p:cNvSpPr/>
          <p:nvPr/>
        </p:nvSpPr>
        <p:spPr>
          <a:xfrm>
            <a:off x="6400800" y="1097280"/>
            <a:ext cx="4708080" cy="123336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4"/>
          <p:cNvSpPr/>
          <p:nvPr/>
        </p:nvSpPr>
        <p:spPr>
          <a:xfrm>
            <a:off x="6583680" y="1261800"/>
            <a:ext cx="434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5"/>
          <p:cNvSpPr/>
          <p:nvPr/>
        </p:nvSpPr>
        <p:spPr>
          <a:xfrm>
            <a:off x="6583680" y="1600200"/>
            <a:ext cx="43423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8"/>
          <p:cNvSpPr/>
          <p:nvPr/>
        </p:nvSpPr>
        <p:spPr>
          <a:xfrm>
            <a:off x="6400800" y="2743200"/>
            <a:ext cx="4708080" cy="13248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6"/>
          <p:cNvSpPr/>
          <p:nvPr/>
        </p:nvSpPr>
        <p:spPr>
          <a:xfrm>
            <a:off x="6583680" y="2907720"/>
            <a:ext cx="434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7"/>
          <p:cNvSpPr/>
          <p:nvPr/>
        </p:nvSpPr>
        <p:spPr>
          <a:xfrm>
            <a:off x="6583680" y="3246120"/>
            <a:ext cx="4342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39"/>
          <p:cNvSpPr/>
          <p:nvPr/>
        </p:nvSpPr>
        <p:spPr>
          <a:xfrm>
            <a:off x="6400800" y="4526280"/>
            <a:ext cx="4708080" cy="1096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8"/>
          <p:cNvSpPr/>
          <p:nvPr/>
        </p:nvSpPr>
        <p:spPr>
          <a:xfrm>
            <a:off x="6583680" y="4690800"/>
            <a:ext cx="434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para apresentar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9"/>
          <p:cNvSpPr/>
          <p:nvPr/>
        </p:nvSpPr>
        <p:spPr>
          <a:xfrm>
            <a:off x="6583680" y="5029200"/>
            <a:ext cx="4342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aquecimento continua importante, mas o novo modelo separa velocidade de crescimento e limite ambiental.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70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5476320" y="3115440"/>
            <a:ext cx="1269360" cy="6343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substitui a Poisson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777240" y="1078920"/>
            <a:ext cx="43880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868680" y="1828800"/>
            <a:ext cx="4662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7"/>
          <p:cNvSpPr/>
          <p:nvPr/>
        </p:nvSpPr>
        <p:spPr>
          <a:xfrm>
            <a:off x="868680" y="2788920"/>
            <a:ext cx="2056320" cy="73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8"/>
          <p:cNvSpPr/>
          <p:nvPr/>
        </p:nvSpPr>
        <p:spPr>
          <a:xfrm>
            <a:off x="1051560" y="295344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1051560" y="3291840"/>
            <a:ext cx="1690560" cy="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3246120" y="2788920"/>
            <a:ext cx="2239200" cy="73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3429000" y="2953440"/>
            <a:ext cx="1873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3429000" y="3291840"/>
            <a:ext cx="1873440" cy="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3"/>
          <p:cNvSpPr/>
          <p:nvPr/>
        </p:nvSpPr>
        <p:spPr>
          <a:xfrm>
            <a:off x="868680" y="3886200"/>
            <a:ext cx="4616640" cy="10504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4"/>
          <p:cNvSpPr/>
          <p:nvPr/>
        </p:nvSpPr>
        <p:spPr>
          <a:xfrm>
            <a:off x="1051560" y="4050720"/>
            <a:ext cx="425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1051560" y="4389120"/>
            <a:ext cx="4250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172200" y="1024200"/>
            <a:ext cx="5256720" cy="263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 16"/>
          <p:cNvSpPr/>
          <p:nvPr/>
        </p:nvSpPr>
        <p:spPr>
          <a:xfrm>
            <a:off x="6355080" y="3977640"/>
            <a:ext cx="479952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Interpretação: mesmo com a mesma média μ, a binomial negativa coloca mais probabilidade em valores extremos. Isso é essencial para estimar risco de ultrapassar limites sanitários.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7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6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2"/>
          <a:stretch/>
        </p:blipFill>
        <p:spPr>
          <a:xfrm>
            <a:off x="10972800" y="6363360"/>
            <a:ext cx="970920" cy="49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731520" y="960120"/>
            <a:ext cx="10605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82296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96012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98748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2834640" y="2423160"/>
            <a:ext cx="318960" cy="54756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329184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342900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345636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5303520" y="2423160"/>
            <a:ext cx="318960" cy="54756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4"/>
          <p:cNvSpPr/>
          <p:nvPr/>
        </p:nvSpPr>
        <p:spPr>
          <a:xfrm>
            <a:off x="576072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589788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592524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7"/>
          <p:cNvSpPr/>
          <p:nvPr/>
        </p:nvSpPr>
        <p:spPr>
          <a:xfrm>
            <a:off x="7772400" y="2423160"/>
            <a:ext cx="318960" cy="54756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8"/>
          <p:cNvSpPr/>
          <p:nvPr/>
        </p:nvSpPr>
        <p:spPr>
          <a:xfrm>
            <a:off x="8229600" y="2011680"/>
            <a:ext cx="1964880" cy="141624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8366760" y="2240280"/>
            <a:ext cx="1690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8394120" y="269748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1"/>
          <p:cNvSpPr/>
          <p:nvPr/>
        </p:nvSpPr>
        <p:spPr>
          <a:xfrm>
            <a:off x="1965960" y="4297680"/>
            <a:ext cx="82285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2"/>
          <p:cNvSpPr/>
          <p:nvPr/>
        </p:nvSpPr>
        <p:spPr>
          <a:xfrm>
            <a:off x="1645920" y="5120640"/>
            <a:ext cx="89600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3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6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"/>
          <p:cNvPicPr/>
          <p:nvPr/>
        </p:nvPicPr>
        <p:blipFill>
          <a:blip r:embed="rId1"/>
          <a:stretch/>
        </p:blipFill>
        <p:spPr>
          <a:xfrm>
            <a:off x="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"/>
          <p:cNvPicPr/>
          <p:nvPr/>
        </p:nvPicPr>
        <p:blipFill>
          <a:blip r:embed="rId2"/>
          <a:stretch/>
        </p:blipFill>
        <p:spPr>
          <a:xfrm>
            <a:off x="1467720" y="5486400"/>
            <a:ext cx="9047880" cy="68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"/>
          <p:cNvPicPr/>
          <p:nvPr/>
        </p:nvPicPr>
        <p:blipFill>
          <a:blip r:embed="rId3"/>
          <a:stretch/>
        </p:blipFill>
        <p:spPr>
          <a:xfrm>
            <a:off x="11144880" y="6363360"/>
            <a:ext cx="970920" cy="49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2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muda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nos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resultados?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5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6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9"/>
          <p:cNvSpPr/>
          <p:nvPr/>
        </p:nvSpPr>
        <p:spPr>
          <a:xfrm>
            <a:off x="822960" y="1143000"/>
            <a:ext cx="3382200" cy="41137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7"/>
          <p:cNvSpPr/>
          <p:nvPr/>
        </p:nvSpPr>
        <p:spPr>
          <a:xfrm>
            <a:off x="1005840" y="1307520"/>
            <a:ext cx="3016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9"/>
          <p:cNvSpPr/>
          <p:nvPr/>
        </p:nvSpPr>
        <p:spPr>
          <a:xfrm>
            <a:off x="1005840" y="1645920"/>
            <a:ext cx="30164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subestimado quando há 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2"/>
          <p:cNvSpPr/>
          <p:nvPr/>
        </p:nvSpPr>
        <p:spPr>
          <a:xfrm>
            <a:off x="4434840" y="1143000"/>
            <a:ext cx="3382200" cy="41137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0"/>
          <p:cNvSpPr/>
          <p:nvPr/>
        </p:nvSpPr>
        <p:spPr>
          <a:xfrm>
            <a:off x="4617720" y="1307520"/>
            <a:ext cx="3016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1"/>
          <p:cNvSpPr/>
          <p:nvPr/>
        </p:nvSpPr>
        <p:spPr>
          <a:xfrm>
            <a:off x="4617720" y="1645920"/>
            <a:ext cx="30164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realista para amostras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4"/>
          <p:cNvSpPr/>
          <p:nvPr/>
        </p:nvSpPr>
        <p:spPr>
          <a:xfrm>
            <a:off x="8046720" y="1143000"/>
            <a:ext cx="3382200" cy="41137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42"/>
          <p:cNvSpPr/>
          <p:nvPr/>
        </p:nvSpPr>
        <p:spPr>
          <a:xfrm>
            <a:off x="8229600" y="1307520"/>
            <a:ext cx="30164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o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cl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u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s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ã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o 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á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ti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</a:t>
            </a: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3"/>
          <p:cNvSpPr/>
          <p:nvPr/>
        </p:nvSpPr>
        <p:spPr>
          <a:xfrm>
            <a:off x="8229600" y="1645920"/>
            <a:ext cx="30164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“explosivo” no crescimento médio, mas mais conservador na cauda de risco. Isso melhora decisões como alerta pós-chuva e interdição 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4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"/>
          <p:cNvPicPr/>
          <p:nvPr/>
        </p:nvPicPr>
        <p:blipFill>
          <a:blip r:embed="rId1"/>
          <a:stretch/>
        </p:blipFill>
        <p:spPr>
          <a:xfrm>
            <a:off x="11201400" y="6473880"/>
            <a:ext cx="970920" cy="384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5"/>
          <p:cNvSpPr/>
          <p:nvPr/>
        </p:nvSpPr>
        <p:spPr>
          <a:xfrm>
            <a:off x="822960" y="1051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987480" y="1216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7"/>
          <p:cNvSpPr/>
          <p:nvPr/>
        </p:nvSpPr>
        <p:spPr>
          <a:xfrm>
            <a:off x="1874520" y="1207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8"/>
          <p:cNvSpPr/>
          <p:nvPr/>
        </p:nvSpPr>
        <p:spPr>
          <a:xfrm>
            <a:off x="3657600" y="1216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9"/>
          <p:cNvSpPr/>
          <p:nvPr/>
        </p:nvSpPr>
        <p:spPr>
          <a:xfrm>
            <a:off x="822960" y="2194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987480" y="2359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1"/>
          <p:cNvSpPr/>
          <p:nvPr/>
        </p:nvSpPr>
        <p:spPr>
          <a:xfrm>
            <a:off x="1874520" y="2350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3657600" y="2359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822960" y="3337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4"/>
          <p:cNvSpPr/>
          <p:nvPr/>
        </p:nvSpPr>
        <p:spPr>
          <a:xfrm>
            <a:off x="987480" y="3502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5"/>
          <p:cNvSpPr/>
          <p:nvPr/>
        </p:nvSpPr>
        <p:spPr>
          <a:xfrm>
            <a:off x="1874520" y="3493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3657600" y="3502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7"/>
          <p:cNvSpPr/>
          <p:nvPr/>
        </p:nvSpPr>
        <p:spPr>
          <a:xfrm>
            <a:off x="822960" y="4480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8"/>
          <p:cNvSpPr/>
          <p:nvPr/>
        </p:nvSpPr>
        <p:spPr>
          <a:xfrm>
            <a:off x="987480" y="4645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9"/>
          <p:cNvSpPr/>
          <p:nvPr/>
        </p:nvSpPr>
        <p:spPr>
          <a:xfrm>
            <a:off x="1874520" y="4636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0"/>
          <p:cNvSpPr/>
          <p:nvPr/>
        </p:nvSpPr>
        <p:spPr>
          <a:xfrm>
            <a:off x="3657600" y="4645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1"/>
          <p:cNvSpPr/>
          <p:nvPr/>
        </p:nvSpPr>
        <p:spPr>
          <a:xfrm>
            <a:off x="6309360" y="1051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2"/>
          <p:cNvSpPr/>
          <p:nvPr/>
        </p:nvSpPr>
        <p:spPr>
          <a:xfrm>
            <a:off x="6473880" y="1216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3"/>
          <p:cNvSpPr/>
          <p:nvPr/>
        </p:nvSpPr>
        <p:spPr>
          <a:xfrm>
            <a:off x="7360920" y="1207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4"/>
          <p:cNvSpPr/>
          <p:nvPr/>
        </p:nvSpPr>
        <p:spPr>
          <a:xfrm>
            <a:off x="9144000" y="1216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5"/>
          <p:cNvSpPr/>
          <p:nvPr/>
        </p:nvSpPr>
        <p:spPr>
          <a:xfrm>
            <a:off x="6309360" y="2194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6"/>
          <p:cNvSpPr/>
          <p:nvPr/>
        </p:nvSpPr>
        <p:spPr>
          <a:xfrm>
            <a:off x="6473880" y="2359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7"/>
          <p:cNvSpPr/>
          <p:nvPr/>
        </p:nvSpPr>
        <p:spPr>
          <a:xfrm>
            <a:off x="7360920" y="2350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8"/>
          <p:cNvSpPr/>
          <p:nvPr/>
        </p:nvSpPr>
        <p:spPr>
          <a:xfrm>
            <a:off x="9144000" y="2359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9"/>
          <p:cNvSpPr/>
          <p:nvPr/>
        </p:nvSpPr>
        <p:spPr>
          <a:xfrm>
            <a:off x="6309360" y="3337560"/>
            <a:ext cx="4890960" cy="78516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0"/>
          <p:cNvSpPr/>
          <p:nvPr/>
        </p:nvSpPr>
        <p:spPr>
          <a:xfrm>
            <a:off x="6473880" y="3502080"/>
            <a:ext cx="7761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1"/>
          <p:cNvSpPr/>
          <p:nvPr/>
        </p:nvSpPr>
        <p:spPr>
          <a:xfrm>
            <a:off x="7360920" y="3493080"/>
            <a:ext cx="16905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2"/>
          <p:cNvSpPr/>
          <p:nvPr/>
        </p:nvSpPr>
        <p:spPr>
          <a:xfrm>
            <a:off x="9144000" y="350208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3"/>
          <p:cNvSpPr/>
          <p:nvPr/>
        </p:nvSpPr>
        <p:spPr>
          <a:xfrm>
            <a:off x="960120" y="576072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4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"/>
          <p:cNvPicPr/>
          <p:nvPr/>
        </p:nvPicPr>
        <p:blipFill>
          <a:blip r:embed="rId1"/>
          <a:stretch/>
        </p:blipFill>
        <p:spPr>
          <a:xfrm>
            <a:off x="11221200" y="6363360"/>
            <a:ext cx="970920" cy="49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Gráfico-chave para a nova apresentação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probabilidade de ultrapassar o limite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5"/>
          <p:cNvSpPr/>
          <p:nvPr/>
        </p:nvSpPr>
        <p:spPr>
          <a:xfrm>
            <a:off x="868680" y="1051560"/>
            <a:ext cx="6399720" cy="4342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1325880" y="4892040"/>
            <a:ext cx="5257800" cy="36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7"/>
          <p:cNvSpPr/>
          <p:nvPr/>
        </p:nvSpPr>
        <p:spPr>
          <a:xfrm>
            <a:off x="1325880" y="1417320"/>
            <a:ext cx="360" cy="3474720"/>
          </a:xfrm>
          <a:prstGeom prst="line">
            <a:avLst/>
          </a:prstGeom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3291840" y="5074920"/>
            <a:ext cx="164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(°C)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9"/>
          <p:cNvSpPr/>
          <p:nvPr/>
        </p:nvSpPr>
        <p:spPr>
          <a:xfrm rot="16200000">
            <a:off x="896040" y="1235520"/>
            <a:ext cx="913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P(X &gt; limite)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0"/>
          <p:cNvSpPr/>
          <p:nvPr/>
        </p:nvSpPr>
        <p:spPr>
          <a:xfrm flipV="1">
            <a:off x="1417320" y="4389120"/>
            <a:ext cx="1051560" cy="2743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1"/>
          <p:cNvSpPr/>
          <p:nvPr/>
        </p:nvSpPr>
        <p:spPr>
          <a:xfrm flipV="1">
            <a:off x="2468880" y="3657600"/>
            <a:ext cx="100584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2"/>
          <p:cNvSpPr/>
          <p:nvPr/>
        </p:nvSpPr>
        <p:spPr>
          <a:xfrm flipV="1">
            <a:off x="3474720" y="2560320"/>
            <a:ext cx="1005840" cy="109728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3"/>
          <p:cNvSpPr/>
          <p:nvPr/>
        </p:nvSpPr>
        <p:spPr>
          <a:xfrm flipV="1">
            <a:off x="4480560" y="1828800"/>
            <a:ext cx="960120" cy="731520"/>
          </a:xfrm>
          <a:prstGeom prst="line">
            <a:avLst/>
          </a:prstGeom>
          <a:ln w="508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4"/>
          <p:cNvSpPr/>
          <p:nvPr/>
        </p:nvSpPr>
        <p:spPr>
          <a:xfrm flipV="1">
            <a:off x="1417320" y="4343400"/>
            <a:ext cx="960120" cy="1371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5"/>
          <p:cNvSpPr/>
          <p:nvPr/>
        </p:nvSpPr>
        <p:spPr>
          <a:xfrm flipV="1">
            <a:off x="2377440" y="3840480"/>
            <a:ext cx="914400" cy="50292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6"/>
          <p:cNvSpPr/>
          <p:nvPr/>
        </p:nvSpPr>
        <p:spPr>
          <a:xfrm flipV="1">
            <a:off x="3291840" y="2788920"/>
            <a:ext cx="868680" cy="105156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7"/>
          <p:cNvSpPr/>
          <p:nvPr/>
        </p:nvSpPr>
        <p:spPr>
          <a:xfrm flipV="1">
            <a:off x="4160520" y="1463040"/>
            <a:ext cx="868680" cy="1325880"/>
          </a:xfrm>
          <a:prstGeom prst="line">
            <a:avLst/>
          </a:prstGeom>
          <a:ln w="508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8"/>
          <p:cNvSpPr/>
          <p:nvPr/>
        </p:nvSpPr>
        <p:spPr>
          <a:xfrm>
            <a:off x="5440680" y="1234440"/>
            <a:ext cx="15076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4c956c"/>
                </a:solidFill>
                <a:effectLst/>
                <a:uFillTx/>
                <a:latin typeface="Aptos"/>
              </a:rPr>
              <a:t>Binomial negativa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9"/>
          <p:cNvSpPr/>
          <p:nvPr/>
        </p:nvSpPr>
        <p:spPr>
          <a:xfrm>
            <a:off x="5440680" y="1828800"/>
            <a:ext cx="1004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Poisson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0"/>
          <p:cNvSpPr/>
          <p:nvPr/>
        </p:nvSpPr>
        <p:spPr>
          <a:xfrm>
            <a:off x="7635240" y="1188720"/>
            <a:ext cx="3610800" cy="15076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1"/>
          <p:cNvSpPr/>
          <p:nvPr/>
        </p:nvSpPr>
        <p:spPr>
          <a:xfrm>
            <a:off x="7818120" y="1353240"/>
            <a:ext cx="324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Mensagem central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2"/>
          <p:cNvSpPr/>
          <p:nvPr/>
        </p:nvSpPr>
        <p:spPr>
          <a:xfrm>
            <a:off x="7818120" y="1691640"/>
            <a:ext cx="32450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Para a mesma média μ, a binomial negativa tende a estimar maior probabilidade de exceder limites seguros, principalmente quando há superdispersão.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3"/>
          <p:cNvSpPr/>
          <p:nvPr/>
        </p:nvSpPr>
        <p:spPr>
          <a:xfrm>
            <a:off x="7635240" y="3292920"/>
            <a:ext cx="3610800" cy="15076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4"/>
          <p:cNvSpPr/>
          <p:nvPr/>
        </p:nvSpPr>
        <p:spPr>
          <a:xfrm>
            <a:off x="7818120" y="3227760"/>
            <a:ext cx="324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5"/>
          <p:cNvSpPr/>
          <p:nvPr/>
        </p:nvSpPr>
        <p:spPr>
          <a:xfrm>
            <a:off x="7818120" y="3566160"/>
            <a:ext cx="32450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crescimento logístico evita exageros na média, mas a binomial negativa reconhece que amostras ambientais podem ter picos extremos.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6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9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"/>
          <p:cNvPicPr/>
          <p:nvPr/>
        </p:nvPicPr>
        <p:blipFill>
          <a:blip r:embed="rId1"/>
          <a:stretch/>
        </p:blipFill>
        <p:spPr>
          <a:xfrm>
            <a:off x="11221200" y="6382800"/>
            <a:ext cx="970920" cy="49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223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2"/>
          <p:cNvSpPr/>
          <p:nvPr/>
        </p:nvSpPr>
        <p:spPr>
          <a:xfrm>
            <a:off x="594360" y="411480"/>
            <a:ext cx="960084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Conclusão da Parte 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3"/>
          <p:cNvSpPr/>
          <p:nvPr/>
        </p:nvSpPr>
        <p:spPr>
          <a:xfrm>
            <a:off x="612720" y="941760"/>
            <a:ext cx="7772040" cy="2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4"/>
          <p:cNvSpPr/>
          <p:nvPr/>
        </p:nvSpPr>
        <p:spPr>
          <a:xfrm>
            <a:off x="868680" y="1417320"/>
            <a:ext cx="3337200" cy="191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6"/>
          <p:cNvSpPr/>
          <p:nvPr/>
        </p:nvSpPr>
        <p:spPr>
          <a:xfrm>
            <a:off x="1069920" y="1572840"/>
            <a:ext cx="30171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1. Crescimento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7"/>
          <p:cNvSpPr/>
          <p:nvPr/>
        </p:nvSpPr>
        <p:spPr>
          <a:xfrm>
            <a:off x="1069920" y="1984320"/>
            <a:ext cx="3017160" cy="5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logístico representa </a:t>
            </a: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a desaceleração natural </a:t>
            </a: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quando recursos e espaço se </a:t>
            </a: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ounded Rectangle 5"/>
          <p:cNvSpPr/>
          <p:nvPr/>
        </p:nvSpPr>
        <p:spPr>
          <a:xfrm>
            <a:off x="4434840" y="1417320"/>
            <a:ext cx="3337200" cy="191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TextBox 10"/>
          <p:cNvSpPr/>
          <p:nvPr/>
        </p:nvSpPr>
        <p:spPr>
          <a:xfrm>
            <a:off x="4636080" y="1572840"/>
            <a:ext cx="30171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2. 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Ri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sc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o 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m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ai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s 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re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al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is</a:t>
            </a: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1"/>
          <p:cNvSpPr/>
          <p:nvPr/>
        </p:nvSpPr>
        <p:spPr>
          <a:xfrm>
            <a:off x="4636080" y="1984320"/>
            <a:ext cx="3017160" cy="5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6"/>
          <p:cNvSpPr/>
          <p:nvPr/>
        </p:nvSpPr>
        <p:spPr>
          <a:xfrm>
            <a:off x="8001000" y="1417320"/>
            <a:ext cx="3337200" cy="191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14"/>
          <p:cNvSpPr/>
          <p:nvPr/>
        </p:nvSpPr>
        <p:spPr>
          <a:xfrm>
            <a:off x="8202240" y="1572840"/>
            <a:ext cx="3017160" cy="2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3. Decisão sanitária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15"/>
          <p:cNvSpPr/>
          <p:nvPr/>
        </p:nvSpPr>
        <p:spPr>
          <a:xfrm>
            <a:off x="8202240" y="1984320"/>
            <a:ext cx="3017160" cy="5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estima P(X &gt; limite seguro) de forma mais conservadora para praias sujeitas a picos.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6"/>
          <p:cNvSpPr/>
          <p:nvPr/>
        </p:nvSpPr>
        <p:spPr>
          <a:xfrm>
            <a:off x="960120" y="4069080"/>
            <a:ext cx="10286640" cy="4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↑  →  r(T) ↑  →  μ se aproxima de K  →  cauda de risco aumenta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7"/>
          <p:cNvSpPr/>
          <p:nvPr/>
        </p:nvSpPr>
        <p:spPr>
          <a:xfrm>
            <a:off x="960120" y="5074920"/>
            <a:ext cx="1024092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dce6f0"/>
                </a:solidFill>
                <a:effectLst/>
                <a:uFillTx/>
                <a:latin typeface="Aptos"/>
              </a:rPr>
              <a:t>Mensagem final: a temperatura não explica tudo, mas acelera processos bacterianos em um sistema costeiro limitado e altamente variável.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18"/>
          <p:cNvSpPr/>
          <p:nvPr/>
        </p:nvSpPr>
        <p:spPr>
          <a:xfrm>
            <a:off x="594360" y="6446520"/>
            <a:ext cx="411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2dce6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19"/>
          <p:cNvSpPr/>
          <p:nvPr/>
        </p:nvSpPr>
        <p:spPr>
          <a:xfrm>
            <a:off x="11292840" y="6446520"/>
            <a:ext cx="3196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2dce6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0"/>
          <p:cNvSpPr/>
          <p:nvPr/>
        </p:nvSpPr>
        <p:spPr>
          <a:xfrm>
            <a:off x="0" y="0"/>
            <a:ext cx="12190680" cy="65736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502920" y="146160"/>
            <a:ext cx="88686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 para adicionar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9555480" y="173880"/>
            <a:ext cx="20563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"/>
          <p:cNvSpPr/>
          <p:nvPr/>
        </p:nvSpPr>
        <p:spPr>
          <a:xfrm>
            <a:off x="502920" y="647388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914400" y="1188720"/>
            <a:ext cx="1024020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11475720" y="6473880"/>
            <a:ext cx="25488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"/>
          <p:cNvPicPr/>
          <p:nvPr/>
        </p:nvPicPr>
        <p:blipFill>
          <a:blip r:embed="rId1"/>
          <a:stretch/>
        </p:blipFill>
        <p:spPr>
          <a:xfrm>
            <a:off x="11373480" y="6400800"/>
            <a:ext cx="970920" cy="49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2026-05-31T21:16:28Z</dcterms:modified>
  <cp:revision>8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