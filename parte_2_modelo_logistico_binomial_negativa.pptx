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5.svg" ContentType="image/svg"/>
  <Override PartName="/ppt/media/image6.wmf" ContentType="image/x-wmf"/>
  <Override PartName="/ppt/media/image8.svg" ContentType="image/svg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3F912-DF56-4A9B-9AF3-6B721408ACA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1936F6-A668-4B3D-B507-8B1E2304D7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47D206-B3A2-41DD-B33A-22F1C455DF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5CEBF0-BB23-4034-9D17-ACB178C4A1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0CA080-59A1-419B-9EF6-9DDD925D7C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D1F6F8-8D06-49DF-AE3A-1C7D186130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998F39-E170-43A8-92AF-DEA65361BD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DE59F9-22F8-41B3-A063-840BB367A5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8D344D-38C2-4A03-9EF7-FF41FFD254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D1DC39-C2DC-4177-99DA-8E69DC876A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F29461-DD2B-497C-AF64-0E0CF3467C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45B3C50-4B9E-4638-86C6-07181FD893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/>
          <p:cNvSpPr/>
          <p:nvPr/>
        </p:nvSpPr>
        <p:spPr>
          <a:xfrm>
            <a:off x="777240" y="1828800"/>
            <a:ext cx="80452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822960" y="3063240"/>
            <a:ext cx="7770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822960" y="580644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7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8"/>
          <p:cNvSpPr/>
          <p:nvPr/>
        </p:nvSpPr>
        <p:spPr>
          <a:xfrm>
            <a:off x="457200" y="45720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9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0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1"/>
          <p:cNvSpPr/>
          <p:nvPr/>
        </p:nvSpPr>
        <p:spPr>
          <a:xfrm>
            <a:off x="-685800" y="80388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30"/>
          <p:cNvSpPr/>
          <p:nvPr/>
        </p:nvSpPr>
        <p:spPr>
          <a:xfrm>
            <a:off x="224028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2"/>
          <p:cNvSpPr/>
          <p:nvPr/>
        </p:nvSpPr>
        <p:spPr>
          <a:xfrm>
            <a:off x="2423160" y="2816280"/>
            <a:ext cx="329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3"/>
          <p:cNvSpPr/>
          <p:nvPr/>
        </p:nvSpPr>
        <p:spPr>
          <a:xfrm>
            <a:off x="2423160" y="3429000"/>
            <a:ext cx="2833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0"/>
          <p:cNvSpPr/>
          <p:nvPr/>
        </p:nvSpPr>
        <p:spPr>
          <a:xfrm>
            <a:off x="457200" y="1828800"/>
            <a:ext cx="85024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1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4"/>
          <p:cNvSpPr/>
          <p:nvPr/>
        </p:nvSpPr>
        <p:spPr>
          <a:xfrm>
            <a:off x="662940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1"/>
          <p:cNvSpPr/>
          <p:nvPr/>
        </p:nvSpPr>
        <p:spPr>
          <a:xfrm>
            <a:off x="22402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65836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85800" y="114300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868680" y="1993320"/>
            <a:ext cx="5210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868680" y="2880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1051560" y="3044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9"/>
          <p:cNvSpPr/>
          <p:nvPr/>
        </p:nvSpPr>
        <p:spPr>
          <a:xfrm>
            <a:off x="1051560" y="3383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429000" y="2880360"/>
            <a:ext cx="242172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3611880" y="3044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3611880" y="33832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868680" y="4023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4"/>
          <p:cNvSpPr/>
          <p:nvPr/>
        </p:nvSpPr>
        <p:spPr>
          <a:xfrm>
            <a:off x="1051560" y="4187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1051560" y="4526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3429000" y="4023360"/>
            <a:ext cx="2421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3611880" y="4187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8"/>
          <p:cNvSpPr/>
          <p:nvPr/>
        </p:nvSpPr>
        <p:spPr>
          <a:xfrm>
            <a:off x="3611880" y="4526280"/>
            <a:ext cx="2055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47600" y="2057400"/>
            <a:ext cx="5439240" cy="323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2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33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4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7"/>
          <p:cNvSpPr/>
          <p:nvPr/>
        </p:nvSpPr>
        <p:spPr>
          <a:xfrm>
            <a:off x="731520" y="105156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8"/>
          <p:cNvSpPr/>
          <p:nvPr/>
        </p:nvSpPr>
        <p:spPr>
          <a:xfrm>
            <a:off x="5486400" y="109872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9"/>
          <p:cNvSpPr/>
          <p:nvPr/>
        </p:nvSpPr>
        <p:spPr>
          <a:xfrm>
            <a:off x="868680" y="2487240"/>
            <a:ext cx="98755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/>
          <p:cNvSpPr/>
          <p:nvPr/>
        </p:nvSpPr>
        <p:spPr>
          <a:xfrm>
            <a:off x="6172200" y="3886200"/>
            <a:ext cx="4936320" cy="1371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6364080" y="4069080"/>
            <a:ext cx="45525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6364080" y="4445640"/>
            <a:ext cx="4552560" cy="6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8"/>
          <p:cNvSpPr/>
          <p:nvPr/>
        </p:nvSpPr>
        <p:spPr>
          <a:xfrm>
            <a:off x="457200" y="3886200"/>
            <a:ext cx="4707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40080" y="4050720"/>
            <a:ext cx="4341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40080" y="4389120"/>
            <a:ext cx="4341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476320" y="3115440"/>
            <a:ext cx="1269000" cy="6339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77240" y="1078920"/>
            <a:ext cx="43876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868680" y="1828800"/>
            <a:ext cx="46620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868680" y="2788920"/>
            <a:ext cx="205596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1051560" y="295344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1051560" y="3291840"/>
            <a:ext cx="169020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3246120" y="2788920"/>
            <a:ext cx="223884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3429000" y="2953440"/>
            <a:ext cx="1873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3429000" y="3291840"/>
            <a:ext cx="187308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868680" y="3886200"/>
            <a:ext cx="4616280" cy="1050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051560" y="4050720"/>
            <a:ext cx="4250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1051560" y="4389120"/>
            <a:ext cx="4250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0" y="2514600"/>
            <a:ext cx="5256360" cy="263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"/>
          <p:cNvPicPr/>
          <p:nvPr/>
        </p:nvPicPr>
        <p:blipFill>
          <a:blip r:embed="rId2"/>
          <a:stretch/>
        </p:blipFill>
        <p:spPr>
          <a:xfrm>
            <a:off x="109728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731520" y="960120"/>
            <a:ext cx="10605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82296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96012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98748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283464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29184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342900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345636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3"/>
          <p:cNvSpPr/>
          <p:nvPr/>
        </p:nvSpPr>
        <p:spPr>
          <a:xfrm>
            <a:off x="530352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576072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589788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592524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777240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822960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836676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0"/>
          <p:cNvSpPr/>
          <p:nvPr/>
        </p:nvSpPr>
        <p:spPr>
          <a:xfrm>
            <a:off x="839412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1965960" y="4297680"/>
            <a:ext cx="8228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2"/>
          <p:cNvSpPr/>
          <p:nvPr/>
        </p:nvSpPr>
        <p:spPr>
          <a:xfrm>
            <a:off x="1645920" y="5120640"/>
            <a:ext cx="89596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3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8229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9874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18745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36576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8229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9874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1"/>
          <p:cNvSpPr/>
          <p:nvPr/>
        </p:nvSpPr>
        <p:spPr>
          <a:xfrm>
            <a:off x="18745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2"/>
          <p:cNvSpPr/>
          <p:nvPr/>
        </p:nvSpPr>
        <p:spPr>
          <a:xfrm>
            <a:off x="36576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3"/>
          <p:cNvSpPr/>
          <p:nvPr/>
        </p:nvSpPr>
        <p:spPr>
          <a:xfrm>
            <a:off x="8229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4"/>
          <p:cNvSpPr/>
          <p:nvPr/>
        </p:nvSpPr>
        <p:spPr>
          <a:xfrm>
            <a:off x="9874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18745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36576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</a:t>
            </a: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7"/>
          <p:cNvSpPr/>
          <p:nvPr/>
        </p:nvSpPr>
        <p:spPr>
          <a:xfrm>
            <a:off x="822960" y="4480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8"/>
          <p:cNvSpPr/>
          <p:nvPr/>
        </p:nvSpPr>
        <p:spPr>
          <a:xfrm>
            <a:off x="987480" y="4645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1874520" y="4636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0"/>
          <p:cNvSpPr/>
          <p:nvPr/>
        </p:nvSpPr>
        <p:spPr>
          <a:xfrm>
            <a:off x="3657600" y="4645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1"/>
          <p:cNvSpPr/>
          <p:nvPr/>
        </p:nvSpPr>
        <p:spPr>
          <a:xfrm>
            <a:off x="63093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2"/>
          <p:cNvSpPr/>
          <p:nvPr/>
        </p:nvSpPr>
        <p:spPr>
          <a:xfrm>
            <a:off x="64738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3"/>
          <p:cNvSpPr/>
          <p:nvPr/>
        </p:nvSpPr>
        <p:spPr>
          <a:xfrm>
            <a:off x="73609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4"/>
          <p:cNvSpPr/>
          <p:nvPr/>
        </p:nvSpPr>
        <p:spPr>
          <a:xfrm>
            <a:off x="91440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5"/>
          <p:cNvSpPr/>
          <p:nvPr/>
        </p:nvSpPr>
        <p:spPr>
          <a:xfrm>
            <a:off x="63093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6"/>
          <p:cNvSpPr/>
          <p:nvPr/>
        </p:nvSpPr>
        <p:spPr>
          <a:xfrm>
            <a:off x="64738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7"/>
          <p:cNvSpPr/>
          <p:nvPr/>
        </p:nvSpPr>
        <p:spPr>
          <a:xfrm>
            <a:off x="73609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8"/>
          <p:cNvSpPr/>
          <p:nvPr/>
        </p:nvSpPr>
        <p:spPr>
          <a:xfrm>
            <a:off x="91440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9"/>
          <p:cNvSpPr/>
          <p:nvPr/>
        </p:nvSpPr>
        <p:spPr>
          <a:xfrm>
            <a:off x="63093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0"/>
          <p:cNvSpPr/>
          <p:nvPr/>
        </p:nvSpPr>
        <p:spPr>
          <a:xfrm>
            <a:off x="64738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1"/>
          <p:cNvSpPr/>
          <p:nvPr/>
        </p:nvSpPr>
        <p:spPr>
          <a:xfrm>
            <a:off x="73609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2"/>
          <p:cNvSpPr/>
          <p:nvPr/>
        </p:nvSpPr>
        <p:spPr>
          <a:xfrm>
            <a:off x="91440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3"/>
          <p:cNvSpPr/>
          <p:nvPr/>
        </p:nvSpPr>
        <p:spPr>
          <a:xfrm>
            <a:off x="960120" y="576072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"/>
          <p:cNvPicPr/>
          <p:nvPr/>
        </p:nvPicPr>
        <p:blipFill>
          <a:blip r:embed="rId1"/>
          <a:stretch/>
        </p:blipFill>
        <p:spPr>
          <a:xfrm>
            <a:off x="112212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2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9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muda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nos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result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9"/>
          <p:cNvSpPr/>
          <p:nvPr/>
        </p:nvSpPr>
        <p:spPr>
          <a:xfrm>
            <a:off x="82296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7"/>
          <p:cNvSpPr/>
          <p:nvPr/>
        </p:nvSpPr>
        <p:spPr>
          <a:xfrm>
            <a:off x="100584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9"/>
          <p:cNvSpPr/>
          <p:nvPr/>
        </p:nvSpPr>
        <p:spPr>
          <a:xfrm>
            <a:off x="100584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subestimado quando há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2"/>
          <p:cNvSpPr/>
          <p:nvPr/>
        </p:nvSpPr>
        <p:spPr>
          <a:xfrm>
            <a:off x="443484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0"/>
          <p:cNvSpPr/>
          <p:nvPr/>
        </p:nvSpPr>
        <p:spPr>
          <a:xfrm>
            <a:off x="461772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1"/>
          <p:cNvSpPr/>
          <p:nvPr/>
        </p:nvSpPr>
        <p:spPr>
          <a:xfrm>
            <a:off x="461772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realista para amostras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4"/>
          <p:cNvSpPr/>
          <p:nvPr/>
        </p:nvSpPr>
        <p:spPr>
          <a:xfrm>
            <a:off x="804672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2"/>
          <p:cNvSpPr/>
          <p:nvPr/>
        </p:nvSpPr>
        <p:spPr>
          <a:xfrm>
            <a:off x="822960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3"/>
          <p:cNvSpPr/>
          <p:nvPr/>
        </p:nvSpPr>
        <p:spPr>
          <a:xfrm>
            <a:off x="822960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“explosivo” no crescimento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médio, mas mais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conservador na cauda de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risco. Isso melhora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decisões como alerta pós-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chuva e interdição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"/>
          <p:cNvPicPr/>
          <p:nvPr/>
        </p:nvPicPr>
        <p:blipFill>
          <a:blip r:embed="rId1"/>
          <a:stretch/>
        </p:blipFill>
        <p:spPr>
          <a:xfrm>
            <a:off x="11201400" y="6473880"/>
            <a:ext cx="970560" cy="383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"/>
          <p:cNvPicPr/>
          <p:nvPr/>
        </p:nvPicPr>
        <p:blipFill>
          <a:blip r:embed="rId1"/>
          <a:stretch/>
        </p:blipFill>
        <p:spPr>
          <a:xfrm>
            <a:off x="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/>
          <p:cNvPicPr/>
          <p:nvPr/>
        </p:nvPicPr>
        <p:blipFill>
          <a:blip r:embed="rId2"/>
          <a:stretch/>
        </p:blipFill>
        <p:spPr>
          <a:xfrm>
            <a:off x="1467720" y="5486400"/>
            <a:ext cx="9047520" cy="6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"/>
          <p:cNvPicPr/>
          <p:nvPr/>
        </p:nvPicPr>
        <p:blipFill>
          <a:blip r:embed="rId3"/>
          <a:stretch/>
        </p:blipFill>
        <p:spPr>
          <a:xfrm>
            <a:off x="1114488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"/>
          <p:cNvPicPr/>
          <p:nvPr/>
        </p:nvPicPr>
        <p:blipFill>
          <a:blip r:embed="rId1"/>
          <a:stretch/>
        </p:blipFill>
        <p:spPr>
          <a:xfrm>
            <a:off x="-1728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2"/>
          <p:cNvSpPr/>
          <p:nvPr/>
        </p:nvSpPr>
        <p:spPr>
          <a:xfrm>
            <a:off x="594360" y="411480"/>
            <a:ext cx="9600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Conclusão da Parte 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612720" y="941760"/>
            <a:ext cx="77716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4"/>
          <p:cNvSpPr/>
          <p:nvPr/>
        </p:nvSpPr>
        <p:spPr>
          <a:xfrm>
            <a:off x="86868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106992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1. Crescimento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106992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5"/>
          <p:cNvSpPr/>
          <p:nvPr/>
        </p:nvSpPr>
        <p:spPr>
          <a:xfrm>
            <a:off x="443484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10"/>
          <p:cNvSpPr/>
          <p:nvPr/>
        </p:nvSpPr>
        <p:spPr>
          <a:xfrm>
            <a:off x="463608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2. Risco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1"/>
          <p:cNvSpPr/>
          <p:nvPr/>
        </p:nvSpPr>
        <p:spPr>
          <a:xfrm>
            <a:off x="463608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6"/>
          <p:cNvSpPr/>
          <p:nvPr/>
        </p:nvSpPr>
        <p:spPr>
          <a:xfrm>
            <a:off x="800100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14"/>
          <p:cNvSpPr/>
          <p:nvPr/>
        </p:nvSpPr>
        <p:spPr>
          <a:xfrm>
            <a:off x="820224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3. Decisão sanitária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5"/>
          <p:cNvSpPr/>
          <p:nvPr/>
        </p:nvSpPr>
        <p:spPr>
          <a:xfrm>
            <a:off x="820224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estima P(X &gt; limite seguro) de forma mais conservadora para praias sujeitas a picos.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6"/>
          <p:cNvSpPr/>
          <p:nvPr/>
        </p:nvSpPr>
        <p:spPr>
          <a:xfrm>
            <a:off x="960120" y="4069080"/>
            <a:ext cx="10286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↑  →  r(T) ↑  →  μ se aproxima de K  →  cauda de risco aumenta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7"/>
          <p:cNvSpPr/>
          <p:nvPr/>
        </p:nvSpPr>
        <p:spPr>
          <a:xfrm>
            <a:off x="960120" y="5074920"/>
            <a:ext cx="1024056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dce6f0"/>
                </a:solidFill>
                <a:effectLst/>
                <a:uFillTx/>
                <a:latin typeface="Aptos"/>
              </a:rPr>
              <a:t>Mensagem final: a temperatura não explica tudo, mas acelera processos bacterianos em um sistema costeiro limitado e altamente variável.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8"/>
          <p:cNvSpPr/>
          <p:nvPr/>
        </p:nvSpPr>
        <p:spPr>
          <a:xfrm>
            <a:off x="594360" y="6446520"/>
            <a:ext cx="41140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914400" y="1188720"/>
            <a:ext cx="102398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/>
          <p:cNvPicPr/>
          <p:nvPr/>
        </p:nvPicPr>
        <p:blipFill>
          <a:blip r:embed="rId1"/>
          <a:stretch/>
        </p:blipFill>
        <p:spPr>
          <a:xfrm>
            <a:off x="11373480" y="640080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2026-05-31T23:11:20Z</dcterms:modified>
  <cp:revision>12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