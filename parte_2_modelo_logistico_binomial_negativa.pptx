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5.svg" ContentType="image/svg"/>
  <Override PartName="/ppt/media/image6.wmf" ContentType="image/x-wmf"/>
  <Override PartName="/ppt/media/image8.svg" ContentType="image/svg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A8D7C6A-4155-4721-8CA7-EED8BF755C9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AA45BB-3593-46EB-ABF0-43581E1B04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8EF58F0-E974-4BC4-832E-FD9AD3FF34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7B568E-D6C4-4724-99E4-A301798974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F588AD-51CE-470D-9065-1BABFA54DD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8508D9-0DF9-4CB3-B925-E5C74C1D1F8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13464E-B2C6-4CA0-8814-A0F8806E71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EF0D33-103F-44C6-BC9C-AC7FDCECAC4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9B485B3-D64A-4E4C-83D1-4B9C672CC0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84AD83-5512-4AC9-A4AC-61738303C7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884D7E-C679-42CD-838F-968238E360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6299216C-467A-4CAB-B9B7-E16DA9B0C8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edit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wm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2"/>
          <p:cNvSpPr/>
          <p:nvPr/>
        </p:nvSpPr>
        <p:spPr>
          <a:xfrm>
            <a:off x="777240" y="1828800"/>
            <a:ext cx="804528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Parte 2: modelo logístico e binomial negativa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3"/>
          <p:cNvSpPr/>
          <p:nvPr/>
        </p:nvSpPr>
        <p:spPr>
          <a:xfrm>
            <a:off x="822960" y="3063240"/>
            <a:ext cx="7770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Refinando o modelo anterior para crescimento limitado e contagens superdispersas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4"/>
          <p:cNvSpPr/>
          <p:nvPr/>
        </p:nvSpPr>
        <p:spPr>
          <a:xfrm>
            <a:off x="822960" y="5806440"/>
            <a:ext cx="27417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Bruno Cavalli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27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38"/>
          <p:cNvSpPr/>
          <p:nvPr/>
        </p:nvSpPr>
        <p:spPr>
          <a:xfrm>
            <a:off x="457200" y="45720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Síntese da Parte 1 — Resultados encontrados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9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8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50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1"/>
          <p:cNvSpPr/>
          <p:nvPr/>
        </p:nvSpPr>
        <p:spPr>
          <a:xfrm>
            <a:off x="-685800" y="80388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Mensagem Principal: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30"/>
          <p:cNvSpPr/>
          <p:nvPr/>
        </p:nvSpPr>
        <p:spPr>
          <a:xfrm>
            <a:off x="224028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52"/>
          <p:cNvSpPr/>
          <p:nvPr/>
        </p:nvSpPr>
        <p:spPr>
          <a:xfrm>
            <a:off x="2423160" y="2816280"/>
            <a:ext cx="329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Temperatura impacta o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53"/>
          <p:cNvSpPr/>
          <p:nvPr/>
        </p:nvSpPr>
        <p:spPr>
          <a:xfrm>
            <a:off x="2423160" y="3429000"/>
            <a:ext cx="28339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25000" lnSpcReduction="1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40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Pequenos aumentos de temperatura geraram crescimento bacteriano não linear. 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60"/>
          <p:cNvSpPr/>
          <p:nvPr/>
        </p:nvSpPr>
        <p:spPr>
          <a:xfrm>
            <a:off x="457200" y="1828800"/>
            <a:ext cx="850248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8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Na primeira etapa, o modelo mostrou que o aumento da temperatura intensifica o crescimento bacteriano e amplia a variabilidade das contagens, elevando o risco microbiológico em praias costeiras.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61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4"/>
          <p:cNvSpPr/>
          <p:nvPr/>
        </p:nvSpPr>
        <p:spPr>
          <a:xfrm>
            <a:off x="6629400" y="26517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Ratkowsky conectou clima e crescimento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taxa de crescimento passou a depender diretamente da temperatura da água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31"/>
          <p:cNvSpPr/>
          <p:nvPr/>
        </p:nvSpPr>
        <p:spPr>
          <a:xfrm>
            <a:off x="22402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Poisson representou a variabilidade inicial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contagens bacterianas foram tratadas como eventos aleatórios em torno de uma média esperada.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2"/>
          <p:cNvSpPr/>
          <p:nvPr/>
        </p:nvSpPr>
        <p:spPr>
          <a:xfrm>
            <a:off x="6583680" y="4480560"/>
            <a:ext cx="3474000" cy="14623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rial"/>
              </a:rPr>
              <a:t>Risco aumenta em águas mais quentes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 faixa típica do verão carioca, o modelo indicou maior chance de exceder limites seguros.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3840" cy="685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" name=""/>
          <p:cNvPicPr/>
          <p:nvPr/>
        </p:nvPicPr>
        <p:blipFill>
          <a:blip r:embed="rId2"/>
          <a:stretch/>
        </p:blipFill>
        <p:spPr>
          <a:xfrm>
            <a:off x="11430000" y="6400800"/>
            <a:ext cx="561240" cy="380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1: crescimento logístico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5"/>
          <p:cNvSpPr/>
          <p:nvPr/>
        </p:nvSpPr>
        <p:spPr>
          <a:xfrm>
            <a:off x="685800" y="1143000"/>
            <a:ext cx="557640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dN/dt = r(T) · N · (1 − N/K)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6"/>
          <p:cNvSpPr/>
          <p:nvPr/>
        </p:nvSpPr>
        <p:spPr>
          <a:xfrm>
            <a:off x="868680" y="1993320"/>
            <a:ext cx="521064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termo (1 − N/K) reduz o crescimento quando a população se aproxima da capacidade de suporte do ambiente.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7"/>
          <p:cNvSpPr/>
          <p:nvPr/>
        </p:nvSpPr>
        <p:spPr>
          <a:xfrm>
            <a:off x="868680" y="2880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8"/>
          <p:cNvSpPr/>
          <p:nvPr/>
        </p:nvSpPr>
        <p:spPr>
          <a:xfrm>
            <a:off x="1051560" y="3044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9"/>
          <p:cNvSpPr/>
          <p:nvPr/>
        </p:nvSpPr>
        <p:spPr>
          <a:xfrm>
            <a:off x="1051560" y="3383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concentração bacteriana no tempo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0"/>
          <p:cNvSpPr/>
          <p:nvPr/>
        </p:nvSpPr>
        <p:spPr>
          <a:xfrm>
            <a:off x="3429000" y="2880360"/>
            <a:ext cx="242172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1"/>
          <p:cNvSpPr/>
          <p:nvPr/>
        </p:nvSpPr>
        <p:spPr>
          <a:xfrm>
            <a:off x="3611880" y="3044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r(T)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2"/>
          <p:cNvSpPr/>
          <p:nvPr/>
        </p:nvSpPr>
        <p:spPr>
          <a:xfrm>
            <a:off x="3611880" y="33832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taxa de crescimento dependente da temperatura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3"/>
          <p:cNvSpPr/>
          <p:nvPr/>
        </p:nvSpPr>
        <p:spPr>
          <a:xfrm>
            <a:off x="868680" y="4023360"/>
            <a:ext cx="2330280" cy="8672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4"/>
          <p:cNvSpPr/>
          <p:nvPr/>
        </p:nvSpPr>
        <p:spPr>
          <a:xfrm>
            <a:off x="1051560" y="41878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5"/>
          <p:cNvSpPr/>
          <p:nvPr/>
        </p:nvSpPr>
        <p:spPr>
          <a:xfrm>
            <a:off x="1051560" y="4526280"/>
            <a:ext cx="1964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capacidade de suporte do ambiente costeiro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6"/>
          <p:cNvSpPr/>
          <p:nvPr/>
        </p:nvSpPr>
        <p:spPr>
          <a:xfrm>
            <a:off x="3429000" y="4023360"/>
            <a:ext cx="2421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7"/>
          <p:cNvSpPr/>
          <p:nvPr/>
        </p:nvSpPr>
        <p:spPr>
          <a:xfrm>
            <a:off x="3611880" y="4187880"/>
            <a:ext cx="2055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Interpretação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8"/>
          <p:cNvSpPr/>
          <p:nvPr/>
        </p:nvSpPr>
        <p:spPr>
          <a:xfrm>
            <a:off x="3611880" y="4526280"/>
            <a:ext cx="2055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K resume recursos disponíveis: nutrientes, espaço, oxigênio, luz, salinidade e competição microbiana.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Image 0" descr="/mnt/data/logistico_vs_exp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47600" y="2057400"/>
            <a:ext cx="5439240" cy="323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Text 2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33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54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Mantendo Ratkowsky: temperatura entra em r(T)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ponte entre clima e crescimento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5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5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7"/>
          <p:cNvSpPr/>
          <p:nvPr/>
        </p:nvSpPr>
        <p:spPr>
          <a:xfrm>
            <a:off x="731520" y="1051560"/>
            <a:ext cx="5347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√r(T) = a · (T − T_min)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8"/>
          <p:cNvSpPr/>
          <p:nvPr/>
        </p:nvSpPr>
        <p:spPr>
          <a:xfrm>
            <a:off x="5486400" y="1098720"/>
            <a:ext cx="5347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e6ba8"/>
                </a:solidFill>
                <a:effectLst/>
                <a:uFillTx/>
                <a:latin typeface="Aptos Display"/>
                <a:ea typeface="Aptos Display"/>
              </a:rPr>
              <a:t>r(T) = [a · (T − T_min)]²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59"/>
          <p:cNvSpPr/>
          <p:nvPr/>
        </p:nvSpPr>
        <p:spPr>
          <a:xfrm>
            <a:off x="868680" y="2487240"/>
            <a:ext cx="987552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diferença agora é que r(T) não alimenta mais um crescimento ilimitado. Ele acelera a chegada à saturação K.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37"/>
          <p:cNvSpPr/>
          <p:nvPr/>
        </p:nvSpPr>
        <p:spPr>
          <a:xfrm>
            <a:off x="6172200" y="3886200"/>
            <a:ext cx="4936320" cy="1371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6364080" y="4069080"/>
            <a:ext cx="45525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Equação integrada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5"/>
          <p:cNvSpPr/>
          <p:nvPr/>
        </p:nvSpPr>
        <p:spPr>
          <a:xfrm>
            <a:off x="6364080" y="4445640"/>
            <a:ext cx="4552560" cy="65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N(t,T) = K / [1 + ((K−N₀)/N₀) · e^(−r(T)t)]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8"/>
          <p:cNvSpPr/>
          <p:nvPr/>
        </p:nvSpPr>
        <p:spPr>
          <a:xfrm>
            <a:off x="457200" y="3886200"/>
            <a:ext cx="4707720" cy="1324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66"/>
          <p:cNvSpPr/>
          <p:nvPr/>
        </p:nvSpPr>
        <p:spPr>
          <a:xfrm>
            <a:off x="640080" y="4050720"/>
            <a:ext cx="43419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Comparação com a Parte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67"/>
          <p:cNvSpPr/>
          <p:nvPr/>
        </p:nvSpPr>
        <p:spPr>
          <a:xfrm>
            <a:off x="640080" y="4389120"/>
            <a:ext cx="43419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Antes: λ crescia exponencialmente sem limite. Agora: λ cresce até uma concentração máxima plausível definida por 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70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476320" y="3115440"/>
            <a:ext cx="1269000" cy="6339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Novo Modelo 2: binomial negativa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777240" y="1078920"/>
            <a:ext cx="43876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4c956c"/>
                </a:solidFill>
                <a:effectLst/>
                <a:uFillTx/>
                <a:latin typeface="Aptos Display"/>
                <a:ea typeface="Aptos Display"/>
              </a:rPr>
              <a:t>X ~ NegBin(μ,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868680" y="1828800"/>
            <a:ext cx="466200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binomial negativa modela contagens quando os dados apresentam superdispersão: Var(X) &gt; E[X].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7"/>
          <p:cNvSpPr/>
          <p:nvPr/>
        </p:nvSpPr>
        <p:spPr>
          <a:xfrm>
            <a:off x="868680" y="2788920"/>
            <a:ext cx="205596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8"/>
          <p:cNvSpPr/>
          <p:nvPr/>
        </p:nvSpPr>
        <p:spPr>
          <a:xfrm>
            <a:off x="1051560" y="295344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Média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9"/>
          <p:cNvSpPr/>
          <p:nvPr/>
        </p:nvSpPr>
        <p:spPr>
          <a:xfrm>
            <a:off x="1051560" y="3291840"/>
            <a:ext cx="1690200" cy="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E[X] =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10"/>
          <p:cNvSpPr/>
          <p:nvPr/>
        </p:nvSpPr>
        <p:spPr>
          <a:xfrm>
            <a:off x="3246120" y="2788920"/>
            <a:ext cx="2238840" cy="73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1"/>
          <p:cNvSpPr/>
          <p:nvPr/>
        </p:nvSpPr>
        <p:spPr>
          <a:xfrm>
            <a:off x="3429000" y="2953440"/>
            <a:ext cx="1873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Variância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3429000" y="3291840"/>
            <a:ext cx="1873080" cy="9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62500" lnSpcReduction="1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Var(X) = μ + μ²/k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868680" y="3886200"/>
            <a:ext cx="4616280" cy="1050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4"/>
          <p:cNvSpPr/>
          <p:nvPr/>
        </p:nvSpPr>
        <p:spPr>
          <a:xfrm>
            <a:off x="1051560" y="4050720"/>
            <a:ext cx="42505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Papel de 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5"/>
          <p:cNvSpPr/>
          <p:nvPr/>
        </p:nvSpPr>
        <p:spPr>
          <a:xfrm>
            <a:off x="1051560" y="4389120"/>
            <a:ext cx="425052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quanto menor k, maior a agregação e a incerteza nas contagens.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Image 0" descr="/mnt/data/poisson_vs_nb.sv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400800" y="2514600"/>
            <a:ext cx="5256360" cy="263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Text 1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560" cy="6857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"/>
          <p:cNvPicPr/>
          <p:nvPr/>
        </p:nvPicPr>
        <p:blipFill>
          <a:blip r:embed="rId2"/>
          <a:stretch/>
        </p:blipFill>
        <p:spPr>
          <a:xfrm>
            <a:off x="109728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Modelo final da Parte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integração dos componentes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5"/>
          <p:cNvSpPr/>
          <p:nvPr/>
        </p:nvSpPr>
        <p:spPr>
          <a:xfrm>
            <a:off x="731520" y="960120"/>
            <a:ext cx="106056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 nova estrutura mantém o encadeamento da apresentação original, mas troca os blocos responsáveis por crescimento e variabilidade.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6"/>
          <p:cNvSpPr/>
          <p:nvPr/>
        </p:nvSpPr>
        <p:spPr>
          <a:xfrm>
            <a:off x="82296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e6ba8"/>
          </a:solidFill>
          <a:ln w="12700">
            <a:solidFill>
              <a:srgbClr val="0e6b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7"/>
          <p:cNvSpPr/>
          <p:nvPr/>
        </p:nvSpPr>
        <p:spPr>
          <a:xfrm>
            <a:off x="96012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Temperatura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8"/>
          <p:cNvSpPr/>
          <p:nvPr/>
        </p:nvSpPr>
        <p:spPr>
          <a:xfrm>
            <a:off x="98748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da água costeira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9"/>
          <p:cNvSpPr/>
          <p:nvPr/>
        </p:nvSpPr>
        <p:spPr>
          <a:xfrm>
            <a:off x="283464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0"/>
          <p:cNvSpPr/>
          <p:nvPr/>
        </p:nvSpPr>
        <p:spPr>
          <a:xfrm>
            <a:off x="329184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00a6a6"/>
          </a:solidFill>
          <a:ln w="12700">
            <a:solidFill>
              <a:srgbClr val="00a6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1"/>
          <p:cNvSpPr/>
          <p:nvPr/>
        </p:nvSpPr>
        <p:spPr>
          <a:xfrm>
            <a:off x="342900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Ratkowsky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2"/>
          <p:cNvSpPr/>
          <p:nvPr/>
        </p:nvSpPr>
        <p:spPr>
          <a:xfrm>
            <a:off x="345636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r(T) = [a(T−Tmin)]²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3"/>
          <p:cNvSpPr/>
          <p:nvPr/>
        </p:nvSpPr>
        <p:spPr>
          <a:xfrm>
            <a:off x="530352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14"/>
          <p:cNvSpPr/>
          <p:nvPr/>
        </p:nvSpPr>
        <p:spPr>
          <a:xfrm>
            <a:off x="576072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5"/>
          <p:cNvSpPr/>
          <p:nvPr/>
        </p:nvSpPr>
        <p:spPr>
          <a:xfrm>
            <a:off x="589788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Logístico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6"/>
          <p:cNvSpPr/>
          <p:nvPr/>
        </p:nvSpPr>
        <p:spPr>
          <a:xfrm>
            <a:off x="592524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μ = N(t,T) limitado por 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7"/>
          <p:cNvSpPr/>
          <p:nvPr/>
        </p:nvSpPr>
        <p:spPr>
          <a:xfrm>
            <a:off x="7772400" y="2423160"/>
            <a:ext cx="318600" cy="547200"/>
          </a:xfrm>
          <a:prstGeom prst="chevron">
            <a:avLst>
              <a:gd name="adj" fmla="val 50000"/>
            </a:avLst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8"/>
          <p:cNvSpPr/>
          <p:nvPr/>
        </p:nvSpPr>
        <p:spPr>
          <a:xfrm>
            <a:off x="8229600" y="2011680"/>
            <a:ext cx="1964520" cy="1415880"/>
          </a:xfrm>
          <a:prstGeom prst="roundRect">
            <a:avLst>
              <a:gd name="adj" fmla="val 3226"/>
            </a:avLst>
          </a:prstGeom>
          <a:solidFill>
            <a:srgbClr val="4c956c"/>
          </a:solidFill>
          <a:ln w="12700">
            <a:solidFill>
              <a:srgbClr val="4c956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9"/>
          <p:cNvSpPr/>
          <p:nvPr/>
        </p:nvSpPr>
        <p:spPr>
          <a:xfrm>
            <a:off x="8366760" y="2240280"/>
            <a:ext cx="16902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Binomial Negativa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0"/>
          <p:cNvSpPr/>
          <p:nvPr/>
        </p:nvSpPr>
        <p:spPr>
          <a:xfrm>
            <a:off x="8394120" y="2697480"/>
            <a:ext cx="164448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X ~ NegBin(μ,k)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1"/>
          <p:cNvSpPr/>
          <p:nvPr/>
        </p:nvSpPr>
        <p:spPr>
          <a:xfrm>
            <a:off x="1965960" y="4297680"/>
            <a:ext cx="822816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400" b="1" u="none" strike="noStrike">
                <a:solidFill>
                  <a:srgbClr val="16324f"/>
                </a:solidFill>
                <a:effectLst/>
                <a:uFillTx/>
                <a:latin typeface="Aptos Display"/>
                <a:ea typeface="Aptos Display"/>
              </a:rPr>
              <a:t>P(X &gt; c) = 1 − F_NegBin(c; μ, k)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2"/>
          <p:cNvSpPr/>
          <p:nvPr/>
        </p:nvSpPr>
        <p:spPr>
          <a:xfrm>
            <a:off x="1645920" y="5120640"/>
            <a:ext cx="8959680" cy="54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 representa o limite seguro de contaminação. A probabilidade de risco agora depende da temperatura, do tempo, da capacidade de suporte e da superdispersão.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3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Parâmetros da nova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simulação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sugestão para apresentar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5"/>
          <p:cNvSpPr/>
          <p:nvPr/>
        </p:nvSpPr>
        <p:spPr>
          <a:xfrm>
            <a:off x="8229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9874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N₀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7"/>
          <p:cNvSpPr/>
          <p:nvPr/>
        </p:nvSpPr>
        <p:spPr>
          <a:xfrm>
            <a:off x="18745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8"/>
          <p:cNvSpPr/>
          <p:nvPr/>
        </p:nvSpPr>
        <p:spPr>
          <a:xfrm>
            <a:off x="36576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concentração inicial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9"/>
          <p:cNvSpPr/>
          <p:nvPr/>
        </p:nvSpPr>
        <p:spPr>
          <a:xfrm>
            <a:off x="8229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0"/>
          <p:cNvSpPr/>
          <p:nvPr/>
        </p:nvSpPr>
        <p:spPr>
          <a:xfrm>
            <a:off x="9874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1"/>
          <p:cNvSpPr/>
          <p:nvPr/>
        </p:nvSpPr>
        <p:spPr>
          <a:xfrm>
            <a:off x="18745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0,02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2"/>
          <p:cNvSpPr/>
          <p:nvPr/>
        </p:nvSpPr>
        <p:spPr>
          <a:xfrm>
            <a:off x="36576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constante de Ratkowsky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3"/>
          <p:cNvSpPr/>
          <p:nvPr/>
        </p:nvSpPr>
        <p:spPr>
          <a:xfrm>
            <a:off x="8229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4"/>
          <p:cNvSpPr/>
          <p:nvPr/>
        </p:nvSpPr>
        <p:spPr>
          <a:xfrm>
            <a:off x="9874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Tmin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5"/>
          <p:cNvSpPr/>
          <p:nvPr/>
        </p:nvSpPr>
        <p:spPr>
          <a:xfrm>
            <a:off x="18745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6"/>
          <p:cNvSpPr/>
          <p:nvPr/>
        </p:nvSpPr>
        <p:spPr>
          <a:xfrm>
            <a:off x="36576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temperatura </a:t>
            </a: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mínima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7"/>
          <p:cNvSpPr/>
          <p:nvPr/>
        </p:nvSpPr>
        <p:spPr>
          <a:xfrm>
            <a:off x="822960" y="4480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8"/>
          <p:cNvSpPr/>
          <p:nvPr/>
        </p:nvSpPr>
        <p:spPr>
          <a:xfrm>
            <a:off x="987480" y="4645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9"/>
          <p:cNvSpPr/>
          <p:nvPr/>
        </p:nvSpPr>
        <p:spPr>
          <a:xfrm>
            <a:off x="1874520" y="4636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10.000 UFC/100 mL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0"/>
          <p:cNvSpPr/>
          <p:nvPr/>
        </p:nvSpPr>
        <p:spPr>
          <a:xfrm>
            <a:off x="3657600" y="4645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capacidade de suporte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1"/>
          <p:cNvSpPr/>
          <p:nvPr/>
        </p:nvSpPr>
        <p:spPr>
          <a:xfrm>
            <a:off x="6309360" y="1051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2"/>
          <p:cNvSpPr/>
          <p:nvPr/>
        </p:nvSpPr>
        <p:spPr>
          <a:xfrm>
            <a:off x="6473880" y="1216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3"/>
          <p:cNvSpPr/>
          <p:nvPr/>
        </p:nvSpPr>
        <p:spPr>
          <a:xfrm>
            <a:off x="7360920" y="1207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5, 20, 100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24"/>
          <p:cNvSpPr/>
          <p:nvPr/>
        </p:nvSpPr>
        <p:spPr>
          <a:xfrm>
            <a:off x="9144000" y="1216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grau de superdispersão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25"/>
          <p:cNvSpPr/>
          <p:nvPr/>
        </p:nvSpPr>
        <p:spPr>
          <a:xfrm>
            <a:off x="6309360" y="2194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6"/>
          <p:cNvSpPr/>
          <p:nvPr/>
        </p:nvSpPr>
        <p:spPr>
          <a:xfrm>
            <a:off x="6473880" y="2359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7"/>
          <p:cNvSpPr/>
          <p:nvPr/>
        </p:nvSpPr>
        <p:spPr>
          <a:xfrm>
            <a:off x="7360920" y="2350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15–30°C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8"/>
          <p:cNvSpPr/>
          <p:nvPr/>
        </p:nvSpPr>
        <p:spPr>
          <a:xfrm>
            <a:off x="9144000" y="2359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faixa simulada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29"/>
          <p:cNvSpPr/>
          <p:nvPr/>
        </p:nvSpPr>
        <p:spPr>
          <a:xfrm>
            <a:off x="6309360" y="3337560"/>
            <a:ext cx="4890600" cy="78480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30"/>
          <p:cNvSpPr/>
          <p:nvPr/>
        </p:nvSpPr>
        <p:spPr>
          <a:xfrm>
            <a:off x="6473880" y="3502080"/>
            <a:ext cx="7758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1"/>
          <p:cNvSpPr/>
          <p:nvPr/>
        </p:nvSpPr>
        <p:spPr>
          <a:xfrm>
            <a:off x="7360920" y="3493080"/>
            <a:ext cx="169020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e6ba8"/>
                </a:solidFill>
                <a:effectLst/>
                <a:uFillTx/>
                <a:latin typeface="Aptos"/>
              </a:rPr>
              <a:t>20 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2"/>
          <p:cNvSpPr/>
          <p:nvPr/>
        </p:nvSpPr>
        <p:spPr>
          <a:xfrm>
            <a:off x="9144000" y="3502080"/>
            <a:ext cx="182736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tempo de crescimento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33"/>
          <p:cNvSpPr/>
          <p:nvPr/>
        </p:nvSpPr>
        <p:spPr>
          <a:xfrm>
            <a:off x="960120" y="5760720"/>
            <a:ext cx="1005696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2500" lnSpcReduction="9999"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3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8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"/>
          <p:cNvPicPr/>
          <p:nvPr/>
        </p:nvPicPr>
        <p:blipFill>
          <a:blip r:embed="rId1"/>
          <a:stretch/>
        </p:blipFill>
        <p:spPr>
          <a:xfrm>
            <a:off x="1122120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2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9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O que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muda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nos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result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ados?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5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comparação conceitual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Shape 19"/>
          <p:cNvSpPr/>
          <p:nvPr/>
        </p:nvSpPr>
        <p:spPr>
          <a:xfrm>
            <a:off x="82296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37"/>
          <p:cNvSpPr/>
          <p:nvPr/>
        </p:nvSpPr>
        <p:spPr>
          <a:xfrm>
            <a:off x="100584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Poisson + exponencial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39"/>
          <p:cNvSpPr/>
          <p:nvPr/>
        </p:nvSpPr>
        <p:spPr>
          <a:xfrm>
            <a:off x="100584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sem limite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= λ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estreitas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pode ser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subestimado quando há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agregação bacteriana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2"/>
          <p:cNvSpPr/>
          <p:nvPr/>
        </p:nvSpPr>
        <p:spPr>
          <a:xfrm>
            <a:off x="443484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40"/>
          <p:cNvSpPr/>
          <p:nvPr/>
        </p:nvSpPr>
        <p:spPr>
          <a:xfrm>
            <a:off x="461772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Com binomial negativa + logístico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41"/>
          <p:cNvSpPr/>
          <p:nvPr/>
        </p:nvSpPr>
        <p:spPr>
          <a:xfrm>
            <a:off x="461772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crescimento limitado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por 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Var(X) &gt; μ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caudas mais pesadas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risco extremo fica mais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realista para amostras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ambientais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24"/>
          <p:cNvSpPr/>
          <p:nvPr/>
        </p:nvSpPr>
        <p:spPr>
          <a:xfrm>
            <a:off x="8046720" y="1143000"/>
            <a:ext cx="3381840" cy="411336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0160">
            <a:solidFill>
              <a:srgbClr val="d9e2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42"/>
          <p:cNvSpPr/>
          <p:nvPr/>
        </p:nvSpPr>
        <p:spPr>
          <a:xfrm>
            <a:off x="8229600" y="1307520"/>
            <a:ext cx="3016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6324f"/>
                </a:solidFill>
                <a:effectLst/>
                <a:uFillTx/>
                <a:latin typeface="Aptos"/>
              </a:rPr>
              <a:t>Conclusão prática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43"/>
          <p:cNvSpPr/>
          <p:nvPr/>
        </p:nvSpPr>
        <p:spPr>
          <a:xfrm>
            <a:off x="8229600" y="1645920"/>
            <a:ext cx="3016080" cy="347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O novo modelo é menos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“explosivo” no crescimento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médio, mas mais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conservador na cauda de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risco. Isso melhora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decisões como alerta pós-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chuva e interdição </a:t>
            </a:r>
            <a:r>
              <a:rPr lang="en-US" sz="11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temporária.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44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7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8" name=""/>
          <p:cNvPicPr/>
          <p:nvPr/>
        </p:nvPicPr>
        <p:blipFill>
          <a:blip r:embed="rId1"/>
          <a:stretch/>
        </p:blipFill>
        <p:spPr>
          <a:xfrm>
            <a:off x="11201400" y="6473880"/>
            <a:ext cx="970560" cy="383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"/>
          <p:cNvPicPr/>
          <p:nvPr/>
        </p:nvPicPr>
        <p:blipFill>
          <a:blip r:embed="rId1"/>
          <a:stretch/>
        </p:blipFill>
        <p:spPr>
          <a:xfrm>
            <a:off x="0" y="3960"/>
            <a:ext cx="12184200" cy="6856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"/>
          <p:cNvPicPr/>
          <p:nvPr/>
        </p:nvPicPr>
        <p:blipFill>
          <a:blip r:embed="rId2"/>
          <a:stretch/>
        </p:blipFill>
        <p:spPr>
          <a:xfrm>
            <a:off x="1467720" y="5486400"/>
            <a:ext cx="9047520" cy="68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"/>
          <p:cNvPicPr/>
          <p:nvPr/>
        </p:nvPicPr>
        <p:blipFill>
          <a:blip r:embed="rId3"/>
          <a:stretch/>
        </p:blipFill>
        <p:spPr>
          <a:xfrm>
            <a:off x="11144880" y="636336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"/>
          <p:cNvPicPr/>
          <p:nvPr/>
        </p:nvPicPr>
        <p:blipFill>
          <a:blip r:embed="rId1"/>
          <a:stretch/>
        </p:blipFill>
        <p:spPr>
          <a:xfrm>
            <a:off x="-1728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"/>
          <p:cNvPicPr/>
          <p:nvPr/>
        </p:nvPicPr>
        <p:blipFill>
          <a:blip r:embed="rId1"/>
          <a:stretch/>
        </p:blipFill>
        <p:spPr>
          <a:xfrm>
            <a:off x="18720" y="3960"/>
            <a:ext cx="1218492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Rectangle 1"/>
          <p:cNvSpPr/>
          <p:nvPr/>
        </p:nvSpPr>
        <p:spPr>
          <a:xfrm>
            <a:off x="0" y="0"/>
            <a:ext cx="12191040" cy="6857280"/>
          </a:xfrm>
          <a:prstGeom prst="rect">
            <a:avLst/>
          </a:prstGeom>
          <a:solidFill>
            <a:srgbClr val="1223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2"/>
          <p:cNvSpPr/>
          <p:nvPr/>
        </p:nvSpPr>
        <p:spPr>
          <a:xfrm>
            <a:off x="594360" y="411480"/>
            <a:ext cx="96004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Conclusão da Parte 2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3"/>
          <p:cNvSpPr/>
          <p:nvPr/>
        </p:nvSpPr>
        <p:spPr>
          <a:xfrm>
            <a:off x="612720" y="941760"/>
            <a:ext cx="77716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Rounded Rectangle 4"/>
          <p:cNvSpPr/>
          <p:nvPr/>
        </p:nvSpPr>
        <p:spPr>
          <a:xfrm>
            <a:off x="86868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6"/>
          <p:cNvSpPr/>
          <p:nvPr/>
        </p:nvSpPr>
        <p:spPr>
          <a:xfrm>
            <a:off x="106992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1. Crescimento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7"/>
          <p:cNvSpPr/>
          <p:nvPr/>
        </p:nvSpPr>
        <p:spPr>
          <a:xfrm>
            <a:off x="106992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logístico representa a desaceleração natural quando recursos e espaço se tornam limitantes.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5"/>
          <p:cNvSpPr/>
          <p:nvPr/>
        </p:nvSpPr>
        <p:spPr>
          <a:xfrm>
            <a:off x="443484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10"/>
          <p:cNvSpPr/>
          <p:nvPr/>
        </p:nvSpPr>
        <p:spPr>
          <a:xfrm>
            <a:off x="463608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2. Risco mais realista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11"/>
          <p:cNvSpPr/>
          <p:nvPr/>
        </p:nvSpPr>
        <p:spPr>
          <a:xfrm>
            <a:off x="463608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A binomial negativa incorpora superdispersão, comum em contagens bacterianas ambientais.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6"/>
          <p:cNvSpPr/>
          <p:nvPr/>
        </p:nvSpPr>
        <p:spPr>
          <a:xfrm>
            <a:off x="8001000" y="1417320"/>
            <a:ext cx="3336840" cy="191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ce3e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14"/>
          <p:cNvSpPr/>
          <p:nvPr/>
        </p:nvSpPr>
        <p:spPr>
          <a:xfrm>
            <a:off x="8202240" y="1572840"/>
            <a:ext cx="30168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2233a"/>
                </a:solidFill>
                <a:effectLst/>
                <a:uFillTx/>
                <a:latin typeface="Aptos"/>
              </a:rPr>
              <a:t>3. Decisão sanitária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5"/>
          <p:cNvSpPr/>
          <p:nvPr/>
        </p:nvSpPr>
        <p:spPr>
          <a:xfrm>
            <a:off x="8202240" y="1984320"/>
            <a:ext cx="3016800" cy="5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a6370"/>
                </a:solidFill>
                <a:effectLst/>
                <a:uFillTx/>
                <a:latin typeface="Aptos"/>
              </a:rPr>
              <a:t>O modelo estima P(X &gt; limite seguro) de forma mais conservadora para praias sujeitas a picos.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6"/>
          <p:cNvSpPr/>
          <p:nvPr/>
        </p:nvSpPr>
        <p:spPr>
          <a:xfrm>
            <a:off x="960120" y="4069080"/>
            <a:ext cx="102862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 ↑  →  r(T) ↑  →  μ se aproxima de K  →  cauda de risco aumenta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7"/>
          <p:cNvSpPr/>
          <p:nvPr/>
        </p:nvSpPr>
        <p:spPr>
          <a:xfrm>
            <a:off x="960120" y="5074920"/>
            <a:ext cx="10240560" cy="55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dce6f0"/>
                </a:solidFill>
                <a:effectLst/>
                <a:uFillTx/>
                <a:latin typeface="Aptos"/>
              </a:rPr>
              <a:t>Mensagem final: a temperatura não explica tudo, mas acelera processos bacterianos em um sistema costeiro limitado e altamente variável.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8"/>
          <p:cNvSpPr/>
          <p:nvPr/>
        </p:nvSpPr>
        <p:spPr>
          <a:xfrm>
            <a:off x="594360" y="6446520"/>
            <a:ext cx="4114080" cy="1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18360" bIns="1836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d2dce6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0"/>
          <p:cNvSpPr/>
          <p:nvPr/>
        </p:nvSpPr>
        <p:spPr>
          <a:xfrm>
            <a:off x="0" y="0"/>
            <a:ext cx="12190320" cy="657000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"/>
          <p:cNvSpPr/>
          <p:nvPr/>
        </p:nvSpPr>
        <p:spPr>
          <a:xfrm>
            <a:off x="502920" y="146160"/>
            <a:ext cx="886824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 Display"/>
                <a:ea typeface="Aptos Display"/>
              </a:rPr>
              <a:t>Referências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"/>
          <p:cNvSpPr/>
          <p:nvPr/>
        </p:nvSpPr>
        <p:spPr>
          <a:xfrm>
            <a:off x="9555480" y="173880"/>
            <a:ext cx="2055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ddeaf6"/>
                </a:solidFill>
                <a:effectLst/>
                <a:uFillTx/>
                <a:latin typeface="Aptos"/>
              </a:rPr>
              <a:t>base teórica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3"/>
          <p:cNvSpPr/>
          <p:nvPr/>
        </p:nvSpPr>
        <p:spPr>
          <a:xfrm>
            <a:off x="502920" y="6382440"/>
            <a:ext cx="11201400" cy="360"/>
          </a:xfrm>
          <a:prstGeom prst="line">
            <a:avLst/>
          </a:prstGeom>
          <a:ln w="1016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4"/>
          <p:cNvSpPr/>
          <p:nvPr/>
        </p:nvSpPr>
        <p:spPr>
          <a:xfrm>
            <a:off x="502920" y="6473880"/>
            <a:ext cx="329040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Modelo logístico + binomial negativa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5"/>
          <p:cNvSpPr/>
          <p:nvPr/>
        </p:nvSpPr>
        <p:spPr>
          <a:xfrm>
            <a:off x="914400" y="1188720"/>
            <a:ext cx="10239840" cy="20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Ratkowsky et al. (1982) — relação entre temperatura e taxa de crescimento bacteriano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Verhulst (1838) — modelo logístico de crescimento populacional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Hilbe (2011) — Negative Binomial Regression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Haas, Rose &amp; Gerba — Quantitative Microbial Risk Assessment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0" u="none" strike="noStrike">
                <a:solidFill>
                  <a:srgbClr val="1f2937"/>
                </a:solidFill>
                <a:effectLst/>
                <a:uFillTx/>
                <a:latin typeface="Aptos"/>
              </a:rPr>
              <a:t>• Casella &amp; Berger — Statistical Inference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11475720" y="6473880"/>
            <a:ext cx="254520" cy="13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trike="noStrike">
                <a:solidFill>
                  <a:srgbClr val="64748b"/>
                </a:solidFill>
                <a:effectLst/>
                <a:uFillTx/>
                <a:latin typeface="Aptos"/>
              </a:rPr>
              <a:t>12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"/>
          <p:cNvPicPr/>
          <p:nvPr/>
        </p:nvPicPr>
        <p:blipFill>
          <a:blip r:embed="rId1"/>
          <a:stretch/>
        </p:blipFill>
        <p:spPr>
          <a:xfrm>
            <a:off x="11373480" y="6400800"/>
            <a:ext cx="970560" cy="494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</TotalTime>
  <Application>LibreOffice/25.8.7.3$Linux_X86_64 LibreOffice_project/580$Build-3</Application>
  <AppVersion>15.0000</AppVersion>
  <Words>0</Words>
  <Paragraphs>0</Paragraphs>
  <Company>ChatGPT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2026-05-29T23:49:18Z</dcterms:created>
  <dc:creator>Bruno Cavalli</dc:creator>
  <dc:description/>
  <dc:language>en-US</dc:language>
  <cp:lastModifiedBy/>
  <dcterms:modified xsi:type="dcterms:W3CDTF">2026-05-31T23:12:24Z</dcterms:modified>
  <cp:revision>13</cp:revision>
  <dc:subject>Parte 2 - Modelo logístico e binomial negativa</dc:subject>
  <dc:title>Modelagem matemática do impacto do crescimento bacteriano - Parte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On-screen Show (16:9)</vt:lpwstr>
  </property>
  <property fmtid="{D5CDD505-2E9C-101B-9397-08002B2CF9AE}" pid="4" name="Slides">
    <vt:i4>12</vt:i4>
  </property>
</Properties>
</file>