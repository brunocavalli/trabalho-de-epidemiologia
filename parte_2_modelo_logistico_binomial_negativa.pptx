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4.svg" ContentType="image/svg"/>
  <Override PartName="/ppt/media/image6.svg" ContentType="image/svg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CB893AA-F89C-4AE5-9861-FB63796F7FA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5EF2993-D0CF-4113-88BE-049213EBDF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8DA07C-8452-4BF6-92E4-DF361040F4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068595-65DA-4C93-B153-6CF59AA5CF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519C6C-5059-4CE6-81D7-1578561252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0A800B-764B-463B-B07E-F5E7068F26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6DCABE-2018-4272-B7C1-1D895C3AD1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77A131-3F87-4FEA-B5B7-87B80ECEB7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C96E9-C65A-44CE-8C49-EFE0193AEE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4EF3E5-6662-4DA0-B456-F54727F715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238CFC-B877-4FB4-B4A8-473CF10431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659FCD-09C3-47DB-B15F-7DFEC5DB9B9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9829800" y="777240"/>
            <a:ext cx="1645560" cy="164556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0e6ba8">
              <a:alpha val="65000"/>
            </a:srgbClr>
          </a:solidFill>
          <a:ln w="12700">
            <a:solidFill>
              <a:srgbClr val="0e6ba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326880" y="4480560"/>
            <a:ext cx="1645560" cy="137124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00a6a6">
              <a:alpha val="35000"/>
            </a:srgbClr>
          </a:solidFill>
          <a:ln w="12700">
            <a:solidFill>
              <a:srgbClr val="00a6a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777240" y="182880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Parte 2: modelo logístico e binomial negativa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822960" y="3063240"/>
            <a:ext cx="7772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Refinando o modelo anterior para crescimento limitado e contagens superdispersas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22960" y="58064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Bruno Cavalli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11475720" y="6473880"/>
            <a:ext cx="255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0" y="0"/>
            <a:ext cx="12191400" cy="65808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02920" y="146160"/>
            <a:ext cx="8869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1: crescimento logístico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2"/>
          <p:cNvSpPr/>
          <p:nvPr/>
        </p:nvSpPr>
        <p:spPr>
          <a:xfrm>
            <a:off x="9555480" y="173880"/>
            <a:ext cx="2057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substitui o exponencial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502920" y="6473880"/>
            <a:ext cx="32914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"/>
          <p:cNvSpPr/>
          <p:nvPr/>
        </p:nvSpPr>
        <p:spPr>
          <a:xfrm>
            <a:off x="685800" y="1143000"/>
            <a:ext cx="5577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dN/dt = r(T) · N · (1 − N/K)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6"/>
          <p:cNvSpPr/>
          <p:nvPr/>
        </p:nvSpPr>
        <p:spPr>
          <a:xfrm>
            <a:off x="868680" y="1993320"/>
            <a:ext cx="5211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termo (1 − N/K) reduz o crescimento quando a população se aproxima da capacidade de suporte do ambiente.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7"/>
          <p:cNvSpPr/>
          <p:nvPr/>
        </p:nvSpPr>
        <p:spPr>
          <a:xfrm>
            <a:off x="868680" y="2880360"/>
            <a:ext cx="2331360" cy="868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8"/>
          <p:cNvSpPr/>
          <p:nvPr/>
        </p:nvSpPr>
        <p:spPr>
          <a:xfrm>
            <a:off x="1051560" y="3044880"/>
            <a:ext cx="196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9"/>
          <p:cNvSpPr/>
          <p:nvPr/>
        </p:nvSpPr>
        <p:spPr>
          <a:xfrm>
            <a:off x="1051560" y="3383280"/>
            <a:ext cx="196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concentração bacteriana no tempo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0"/>
          <p:cNvSpPr/>
          <p:nvPr/>
        </p:nvSpPr>
        <p:spPr>
          <a:xfrm>
            <a:off x="3429000" y="2880360"/>
            <a:ext cx="2422800" cy="868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1"/>
          <p:cNvSpPr/>
          <p:nvPr/>
        </p:nvSpPr>
        <p:spPr>
          <a:xfrm>
            <a:off x="3611880" y="3044880"/>
            <a:ext cx="2057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2"/>
          <p:cNvSpPr/>
          <p:nvPr/>
        </p:nvSpPr>
        <p:spPr>
          <a:xfrm>
            <a:off x="3611880" y="3383280"/>
            <a:ext cx="2057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taxa de crescimento dependente da temperatura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3"/>
          <p:cNvSpPr/>
          <p:nvPr/>
        </p:nvSpPr>
        <p:spPr>
          <a:xfrm>
            <a:off x="868680" y="4023360"/>
            <a:ext cx="2331360" cy="868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4"/>
          <p:cNvSpPr/>
          <p:nvPr/>
        </p:nvSpPr>
        <p:spPr>
          <a:xfrm>
            <a:off x="1051560" y="4187880"/>
            <a:ext cx="196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5"/>
          <p:cNvSpPr/>
          <p:nvPr/>
        </p:nvSpPr>
        <p:spPr>
          <a:xfrm>
            <a:off x="1051560" y="4526280"/>
            <a:ext cx="196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capacidade de suporte do ambiente costeiro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6"/>
          <p:cNvSpPr/>
          <p:nvPr/>
        </p:nvSpPr>
        <p:spPr>
          <a:xfrm>
            <a:off x="3429000" y="4023360"/>
            <a:ext cx="2422800" cy="1325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7"/>
          <p:cNvSpPr/>
          <p:nvPr/>
        </p:nvSpPr>
        <p:spPr>
          <a:xfrm>
            <a:off x="3611880" y="4187880"/>
            <a:ext cx="2057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Interpretação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8"/>
          <p:cNvSpPr/>
          <p:nvPr/>
        </p:nvSpPr>
        <p:spPr>
          <a:xfrm>
            <a:off x="3611880" y="4526280"/>
            <a:ext cx="2057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K resume recursos disponíveis: nutrientes, espaço, oxigênio, luz, salinidade e competição microbiana.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0" descr="/mnt/data/logistico_vs_exp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92240" y="1143000"/>
            <a:ext cx="4983120" cy="248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 19"/>
          <p:cNvSpPr/>
          <p:nvPr/>
        </p:nvSpPr>
        <p:spPr>
          <a:xfrm>
            <a:off x="6629400" y="3977640"/>
            <a:ext cx="4617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Resultado esperado: a curva cresce rápido no início, mas desacelera até estabilizar em K, evitando previsões irreais para tempos longos.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0"/>
          <p:cNvSpPr/>
          <p:nvPr/>
        </p:nvSpPr>
        <p:spPr>
          <a:xfrm>
            <a:off x="11475720" y="6473880"/>
            <a:ext cx="255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3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2191400" cy="65808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502920" y="146160"/>
            <a:ext cx="8869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Mantendo Ratkowsky: temperatura entra em r(T)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"/>
          <p:cNvSpPr/>
          <p:nvPr/>
        </p:nvSpPr>
        <p:spPr>
          <a:xfrm>
            <a:off x="9555480" y="173880"/>
            <a:ext cx="2057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ponte entre clima e crescimento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502920" y="6473880"/>
            <a:ext cx="32914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731520" y="1051560"/>
            <a:ext cx="5348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√r(T) = a · (T − T_min)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6"/>
          <p:cNvSpPr/>
          <p:nvPr/>
        </p:nvSpPr>
        <p:spPr>
          <a:xfrm>
            <a:off x="731520" y="1691640"/>
            <a:ext cx="5348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e6ba8"/>
                </a:solidFill>
                <a:effectLst/>
                <a:uFillTx/>
                <a:latin typeface="Aptos Display"/>
                <a:ea typeface="Aptos Display"/>
              </a:rPr>
              <a:t>r(T) = [a · (T − T_min)]²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7"/>
          <p:cNvSpPr/>
          <p:nvPr/>
        </p:nvSpPr>
        <p:spPr>
          <a:xfrm>
            <a:off x="868680" y="2487240"/>
            <a:ext cx="5074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diferença agora é que r(T) não alimenta mais um crescimento ilimitado. Ele acelera a chegada à saturação K.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8"/>
          <p:cNvSpPr/>
          <p:nvPr/>
        </p:nvSpPr>
        <p:spPr>
          <a:xfrm>
            <a:off x="868680" y="3657600"/>
            <a:ext cx="5074560" cy="1051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9"/>
          <p:cNvSpPr/>
          <p:nvPr/>
        </p:nvSpPr>
        <p:spPr>
          <a:xfrm>
            <a:off x="1051560" y="3822120"/>
            <a:ext cx="4708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Leitura ambiental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0"/>
          <p:cNvSpPr/>
          <p:nvPr/>
        </p:nvSpPr>
        <p:spPr>
          <a:xfrm>
            <a:off x="1051560" y="4160520"/>
            <a:ext cx="4708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temperaturas maiores aumentam a velocidade de crescimento, mas não eliminam limites ecológicos.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1"/>
          <p:cNvSpPr/>
          <p:nvPr/>
        </p:nvSpPr>
        <p:spPr>
          <a:xfrm>
            <a:off x="6400800" y="1097280"/>
            <a:ext cx="4708800" cy="12340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2"/>
          <p:cNvSpPr/>
          <p:nvPr/>
        </p:nvSpPr>
        <p:spPr>
          <a:xfrm>
            <a:off x="6583680" y="1261800"/>
            <a:ext cx="4343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Equação integrada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3"/>
          <p:cNvSpPr/>
          <p:nvPr/>
        </p:nvSpPr>
        <p:spPr>
          <a:xfrm>
            <a:off x="6583680" y="1600200"/>
            <a:ext cx="4343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N(t,T) = K / [1 + ((K−N₀)/N₀) · e^(−r(T)t)]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4"/>
          <p:cNvSpPr/>
          <p:nvPr/>
        </p:nvSpPr>
        <p:spPr>
          <a:xfrm>
            <a:off x="6400800" y="2743200"/>
            <a:ext cx="4708800" cy="1325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5"/>
          <p:cNvSpPr/>
          <p:nvPr/>
        </p:nvSpPr>
        <p:spPr>
          <a:xfrm>
            <a:off x="6583680" y="2907720"/>
            <a:ext cx="4343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Comparação com a Parte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6"/>
          <p:cNvSpPr/>
          <p:nvPr/>
        </p:nvSpPr>
        <p:spPr>
          <a:xfrm>
            <a:off x="6583680" y="3246120"/>
            <a:ext cx="4343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Antes: λ crescia exponencialmente sem limite. Agora: λ cresce até uma concentração máxima plausível definida por 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7"/>
          <p:cNvSpPr/>
          <p:nvPr/>
        </p:nvSpPr>
        <p:spPr>
          <a:xfrm>
            <a:off x="6400800" y="4526280"/>
            <a:ext cx="4708800" cy="1096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8"/>
          <p:cNvSpPr/>
          <p:nvPr/>
        </p:nvSpPr>
        <p:spPr>
          <a:xfrm>
            <a:off x="6583680" y="4690800"/>
            <a:ext cx="4343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Mensagem para apresentar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9"/>
          <p:cNvSpPr/>
          <p:nvPr/>
        </p:nvSpPr>
        <p:spPr>
          <a:xfrm>
            <a:off x="6583680" y="502920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aquecimento continua importante, mas o novo modelo separa velocidade de crescimento e limite ambiental.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0"/>
          <p:cNvSpPr/>
          <p:nvPr/>
        </p:nvSpPr>
        <p:spPr>
          <a:xfrm>
            <a:off x="11475720" y="6473880"/>
            <a:ext cx="255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4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0"/>
          <p:cNvSpPr/>
          <p:nvPr/>
        </p:nvSpPr>
        <p:spPr>
          <a:xfrm>
            <a:off x="0" y="0"/>
            <a:ext cx="12191400" cy="65808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02920" y="146160"/>
            <a:ext cx="8869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2: binomial negativa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9555480" y="173880"/>
            <a:ext cx="2057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substitui a Poisson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502920" y="6473880"/>
            <a:ext cx="32914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777240" y="1078920"/>
            <a:ext cx="4388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4c956c"/>
                </a:solidFill>
                <a:effectLst/>
                <a:uFillTx/>
                <a:latin typeface="Aptos Display"/>
                <a:ea typeface="Aptos Display"/>
              </a:rPr>
              <a:t>X ~ NegBin(μ,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868680" y="182880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binomial negativa modela contagens quando os dados apresentam superdispersão: Var(X) &gt; E[X].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7"/>
          <p:cNvSpPr/>
          <p:nvPr/>
        </p:nvSpPr>
        <p:spPr>
          <a:xfrm>
            <a:off x="868680" y="2788920"/>
            <a:ext cx="2057040" cy="731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1051560" y="295344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Média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9"/>
          <p:cNvSpPr/>
          <p:nvPr/>
        </p:nvSpPr>
        <p:spPr>
          <a:xfrm>
            <a:off x="1051560" y="3291840"/>
            <a:ext cx="1691280" cy="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E[X] =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3246120" y="2788920"/>
            <a:ext cx="2239920" cy="731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1"/>
          <p:cNvSpPr/>
          <p:nvPr/>
        </p:nvSpPr>
        <p:spPr>
          <a:xfrm>
            <a:off x="3429000" y="2953440"/>
            <a:ext cx="1874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Variância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2"/>
          <p:cNvSpPr/>
          <p:nvPr/>
        </p:nvSpPr>
        <p:spPr>
          <a:xfrm>
            <a:off x="3429000" y="3291840"/>
            <a:ext cx="1874160" cy="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Var(X) = μ + μ²/k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3"/>
          <p:cNvSpPr/>
          <p:nvPr/>
        </p:nvSpPr>
        <p:spPr>
          <a:xfrm>
            <a:off x="868680" y="3886200"/>
            <a:ext cx="4617360" cy="1051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4"/>
          <p:cNvSpPr/>
          <p:nvPr/>
        </p:nvSpPr>
        <p:spPr>
          <a:xfrm>
            <a:off x="1051560" y="40507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Papel de 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5"/>
          <p:cNvSpPr/>
          <p:nvPr/>
        </p:nvSpPr>
        <p:spPr>
          <a:xfrm>
            <a:off x="1051560" y="4389120"/>
            <a:ext cx="4251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quanto menor k, maior a agregação e a incerteza nas contagens.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Image 0" descr="/mnt/data/poisson_vs_nb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172200" y="1024200"/>
            <a:ext cx="5257440" cy="263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 16"/>
          <p:cNvSpPr/>
          <p:nvPr/>
        </p:nvSpPr>
        <p:spPr>
          <a:xfrm>
            <a:off x="6355080" y="3977640"/>
            <a:ext cx="48002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Interpretação: mesmo com a mesma média μ, a binomial negativa coloca mais probabilidade em valores extremos. Isso é essencial para estimar risco de ultrapassar limites sanitários.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11475720" y="6473880"/>
            <a:ext cx="255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0" y="0"/>
            <a:ext cx="12191400" cy="65808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502920" y="146160"/>
            <a:ext cx="8869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Modelo final da Parte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9555480" y="173880"/>
            <a:ext cx="2057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integração dos componentes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4"/>
          <p:cNvSpPr/>
          <p:nvPr/>
        </p:nvSpPr>
        <p:spPr>
          <a:xfrm>
            <a:off x="502920" y="6473880"/>
            <a:ext cx="32914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731520" y="9601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nova estrutura mantém o encadeamento da apresentação original, mas troca os blocos responsáveis por crescimento e variabilidade.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6"/>
          <p:cNvSpPr/>
          <p:nvPr/>
        </p:nvSpPr>
        <p:spPr>
          <a:xfrm>
            <a:off x="822960" y="2011680"/>
            <a:ext cx="1965600" cy="1416960"/>
          </a:xfrm>
          <a:prstGeom prst="roundRect">
            <a:avLst>
              <a:gd name="adj" fmla="val 3226"/>
            </a:avLst>
          </a:prstGeom>
          <a:solidFill>
            <a:srgbClr val="0e6ba8"/>
          </a:solidFill>
          <a:ln w="127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7"/>
          <p:cNvSpPr/>
          <p:nvPr/>
        </p:nvSpPr>
        <p:spPr>
          <a:xfrm>
            <a:off x="960120" y="22402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Temperatura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8"/>
          <p:cNvSpPr/>
          <p:nvPr/>
        </p:nvSpPr>
        <p:spPr>
          <a:xfrm>
            <a:off x="987480" y="2697480"/>
            <a:ext cx="1645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da água costeira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9"/>
          <p:cNvSpPr/>
          <p:nvPr/>
        </p:nvSpPr>
        <p:spPr>
          <a:xfrm>
            <a:off x="2834640" y="2423160"/>
            <a:ext cx="319680" cy="54828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0"/>
          <p:cNvSpPr/>
          <p:nvPr/>
        </p:nvSpPr>
        <p:spPr>
          <a:xfrm>
            <a:off x="3291840" y="2011680"/>
            <a:ext cx="1965600" cy="1416960"/>
          </a:xfrm>
          <a:prstGeom prst="roundRect">
            <a:avLst>
              <a:gd name="adj" fmla="val 3226"/>
            </a:avLst>
          </a:prstGeom>
          <a:solidFill>
            <a:srgbClr val="00a6a6"/>
          </a:solidFill>
          <a:ln w="12700">
            <a:solidFill>
              <a:srgbClr val="00a6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1"/>
          <p:cNvSpPr/>
          <p:nvPr/>
        </p:nvSpPr>
        <p:spPr>
          <a:xfrm>
            <a:off x="3429000" y="22402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Ratkowsky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2"/>
          <p:cNvSpPr/>
          <p:nvPr/>
        </p:nvSpPr>
        <p:spPr>
          <a:xfrm>
            <a:off x="3456360" y="2697480"/>
            <a:ext cx="1645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r(T) = [a(T−Tmin)]²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3"/>
          <p:cNvSpPr/>
          <p:nvPr/>
        </p:nvSpPr>
        <p:spPr>
          <a:xfrm>
            <a:off x="5303520" y="2423160"/>
            <a:ext cx="319680" cy="54828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4"/>
          <p:cNvSpPr/>
          <p:nvPr/>
        </p:nvSpPr>
        <p:spPr>
          <a:xfrm>
            <a:off x="5760720" y="2011680"/>
            <a:ext cx="1965600" cy="1416960"/>
          </a:xfrm>
          <a:prstGeom prst="roundRect">
            <a:avLst>
              <a:gd name="adj" fmla="val 3226"/>
            </a:avLst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5"/>
          <p:cNvSpPr/>
          <p:nvPr/>
        </p:nvSpPr>
        <p:spPr>
          <a:xfrm>
            <a:off x="5897880" y="22402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Logístico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6"/>
          <p:cNvSpPr/>
          <p:nvPr/>
        </p:nvSpPr>
        <p:spPr>
          <a:xfrm>
            <a:off x="5925240" y="2697480"/>
            <a:ext cx="1645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μ = N(t,T) limitado por 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7"/>
          <p:cNvSpPr/>
          <p:nvPr/>
        </p:nvSpPr>
        <p:spPr>
          <a:xfrm>
            <a:off x="7772400" y="2423160"/>
            <a:ext cx="319680" cy="54828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8"/>
          <p:cNvSpPr/>
          <p:nvPr/>
        </p:nvSpPr>
        <p:spPr>
          <a:xfrm>
            <a:off x="8229600" y="2011680"/>
            <a:ext cx="1965600" cy="1416960"/>
          </a:xfrm>
          <a:prstGeom prst="roundRect">
            <a:avLst>
              <a:gd name="adj" fmla="val 3226"/>
            </a:avLst>
          </a:prstGeom>
          <a:solidFill>
            <a:srgbClr val="4c956c"/>
          </a:solidFill>
          <a:ln w="127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9"/>
          <p:cNvSpPr/>
          <p:nvPr/>
        </p:nvSpPr>
        <p:spPr>
          <a:xfrm>
            <a:off x="8366760" y="22402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Binomial Negativa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0"/>
          <p:cNvSpPr/>
          <p:nvPr/>
        </p:nvSpPr>
        <p:spPr>
          <a:xfrm>
            <a:off x="8394120" y="2697480"/>
            <a:ext cx="1645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X ~ NegBin(μ,k)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1"/>
          <p:cNvSpPr/>
          <p:nvPr/>
        </p:nvSpPr>
        <p:spPr>
          <a:xfrm>
            <a:off x="1965960" y="429768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P(X &gt; c) = 1 − F_NegBin(c; 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2"/>
          <p:cNvSpPr/>
          <p:nvPr/>
        </p:nvSpPr>
        <p:spPr>
          <a:xfrm>
            <a:off x="1645920" y="5120640"/>
            <a:ext cx="8960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 representa o limite seguro de contaminação. A probabilidade de risco agora depende da temperatura, do tempo, da capacidade de suporte e da superdispersão.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3"/>
          <p:cNvSpPr/>
          <p:nvPr/>
        </p:nvSpPr>
        <p:spPr>
          <a:xfrm>
            <a:off x="11475720" y="6473880"/>
            <a:ext cx="255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6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0" y="0"/>
            <a:ext cx="12191400" cy="65808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502920" y="146160"/>
            <a:ext cx="8869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que muda nos resultados?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"/>
          <p:cNvSpPr/>
          <p:nvPr/>
        </p:nvSpPr>
        <p:spPr>
          <a:xfrm>
            <a:off x="9555480" y="173880"/>
            <a:ext cx="2057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comparação conceitual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502920" y="6473880"/>
            <a:ext cx="32914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5"/>
          <p:cNvSpPr/>
          <p:nvPr/>
        </p:nvSpPr>
        <p:spPr>
          <a:xfrm>
            <a:off x="822960" y="1143000"/>
            <a:ext cx="3382920" cy="411444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1005840" y="1307520"/>
            <a:ext cx="3017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Poisson + exponencial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7"/>
          <p:cNvSpPr/>
          <p:nvPr/>
        </p:nvSpPr>
        <p:spPr>
          <a:xfrm>
            <a:off x="1005840" y="1645920"/>
            <a:ext cx="301716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sem limite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= λ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estreitas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pode ser subestimado quando há agregação bacteriana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8"/>
          <p:cNvSpPr/>
          <p:nvPr/>
        </p:nvSpPr>
        <p:spPr>
          <a:xfrm>
            <a:off x="4434840" y="1143000"/>
            <a:ext cx="3382920" cy="411444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9"/>
          <p:cNvSpPr/>
          <p:nvPr/>
        </p:nvSpPr>
        <p:spPr>
          <a:xfrm>
            <a:off x="4617720" y="1307520"/>
            <a:ext cx="3017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binomial negativa + logístico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0"/>
          <p:cNvSpPr/>
          <p:nvPr/>
        </p:nvSpPr>
        <p:spPr>
          <a:xfrm>
            <a:off x="4617720" y="1645920"/>
            <a:ext cx="301716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limitado por 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&gt;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pesadas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extremo fica mais realista para amostras ambientais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1"/>
          <p:cNvSpPr/>
          <p:nvPr/>
        </p:nvSpPr>
        <p:spPr>
          <a:xfrm>
            <a:off x="8046720" y="1143000"/>
            <a:ext cx="3382920" cy="411444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2"/>
          <p:cNvSpPr/>
          <p:nvPr/>
        </p:nvSpPr>
        <p:spPr>
          <a:xfrm>
            <a:off x="8229600" y="1307520"/>
            <a:ext cx="3017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Conclusão prática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3"/>
          <p:cNvSpPr/>
          <p:nvPr/>
        </p:nvSpPr>
        <p:spPr>
          <a:xfrm>
            <a:off x="8229600" y="1645920"/>
            <a:ext cx="301716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novo modelo é menos “explosivo” no crescimento médio, mas mais conservador na cauda de risco. Isso melhora decisões como alerta pós-chuva e interdição temporária.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4"/>
          <p:cNvSpPr/>
          <p:nvPr/>
        </p:nvSpPr>
        <p:spPr>
          <a:xfrm>
            <a:off x="11475720" y="6473880"/>
            <a:ext cx="255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7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0"/>
          <p:cNvSpPr/>
          <p:nvPr/>
        </p:nvSpPr>
        <p:spPr>
          <a:xfrm>
            <a:off x="0" y="0"/>
            <a:ext cx="12191400" cy="65808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502920" y="146160"/>
            <a:ext cx="8869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Parâmetros da nova simulação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9555480" y="173880"/>
            <a:ext cx="2057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sugestão para apresentar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502920" y="6473880"/>
            <a:ext cx="32914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5"/>
          <p:cNvSpPr/>
          <p:nvPr/>
        </p:nvSpPr>
        <p:spPr>
          <a:xfrm>
            <a:off x="822960" y="1051560"/>
            <a:ext cx="4891680" cy="78588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987480" y="1216080"/>
            <a:ext cx="776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1874520" y="1207080"/>
            <a:ext cx="1691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8"/>
          <p:cNvSpPr/>
          <p:nvPr/>
        </p:nvSpPr>
        <p:spPr>
          <a:xfrm>
            <a:off x="3657600" y="121608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concentração inicial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9"/>
          <p:cNvSpPr/>
          <p:nvPr/>
        </p:nvSpPr>
        <p:spPr>
          <a:xfrm>
            <a:off x="822960" y="2194560"/>
            <a:ext cx="4891680" cy="78588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0"/>
          <p:cNvSpPr/>
          <p:nvPr/>
        </p:nvSpPr>
        <p:spPr>
          <a:xfrm>
            <a:off x="987480" y="2359080"/>
            <a:ext cx="776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1"/>
          <p:cNvSpPr/>
          <p:nvPr/>
        </p:nvSpPr>
        <p:spPr>
          <a:xfrm>
            <a:off x="1874520" y="2350080"/>
            <a:ext cx="1691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0,02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2"/>
          <p:cNvSpPr/>
          <p:nvPr/>
        </p:nvSpPr>
        <p:spPr>
          <a:xfrm>
            <a:off x="3657600" y="235908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constante de Ratkowsky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3"/>
          <p:cNvSpPr/>
          <p:nvPr/>
        </p:nvSpPr>
        <p:spPr>
          <a:xfrm>
            <a:off x="822960" y="3337560"/>
            <a:ext cx="4891680" cy="78588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4"/>
          <p:cNvSpPr/>
          <p:nvPr/>
        </p:nvSpPr>
        <p:spPr>
          <a:xfrm>
            <a:off x="987480" y="3502080"/>
            <a:ext cx="776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5"/>
          <p:cNvSpPr/>
          <p:nvPr/>
        </p:nvSpPr>
        <p:spPr>
          <a:xfrm>
            <a:off x="1874520" y="3493080"/>
            <a:ext cx="1691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6"/>
          <p:cNvSpPr/>
          <p:nvPr/>
        </p:nvSpPr>
        <p:spPr>
          <a:xfrm>
            <a:off x="3657600" y="350208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mínima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7"/>
          <p:cNvSpPr/>
          <p:nvPr/>
        </p:nvSpPr>
        <p:spPr>
          <a:xfrm>
            <a:off x="822960" y="4480560"/>
            <a:ext cx="4891680" cy="78588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8"/>
          <p:cNvSpPr/>
          <p:nvPr/>
        </p:nvSpPr>
        <p:spPr>
          <a:xfrm>
            <a:off x="987480" y="4645080"/>
            <a:ext cx="776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9"/>
          <p:cNvSpPr/>
          <p:nvPr/>
        </p:nvSpPr>
        <p:spPr>
          <a:xfrm>
            <a:off x="1874520" y="4636080"/>
            <a:ext cx="1691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10.000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0"/>
          <p:cNvSpPr/>
          <p:nvPr/>
        </p:nvSpPr>
        <p:spPr>
          <a:xfrm>
            <a:off x="3657600" y="464508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capacidade de suporte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1"/>
          <p:cNvSpPr/>
          <p:nvPr/>
        </p:nvSpPr>
        <p:spPr>
          <a:xfrm>
            <a:off x="6309360" y="1051560"/>
            <a:ext cx="4891680" cy="78588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2"/>
          <p:cNvSpPr/>
          <p:nvPr/>
        </p:nvSpPr>
        <p:spPr>
          <a:xfrm>
            <a:off x="6473880" y="1216080"/>
            <a:ext cx="776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3"/>
          <p:cNvSpPr/>
          <p:nvPr/>
        </p:nvSpPr>
        <p:spPr>
          <a:xfrm>
            <a:off x="7360920" y="1207080"/>
            <a:ext cx="1691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5, 20, 100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4"/>
          <p:cNvSpPr/>
          <p:nvPr/>
        </p:nvSpPr>
        <p:spPr>
          <a:xfrm>
            <a:off x="9144000" y="121608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grau de superdispersão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25"/>
          <p:cNvSpPr/>
          <p:nvPr/>
        </p:nvSpPr>
        <p:spPr>
          <a:xfrm>
            <a:off x="6309360" y="2194560"/>
            <a:ext cx="4891680" cy="78588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6"/>
          <p:cNvSpPr/>
          <p:nvPr/>
        </p:nvSpPr>
        <p:spPr>
          <a:xfrm>
            <a:off x="6473880" y="2359080"/>
            <a:ext cx="776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7"/>
          <p:cNvSpPr/>
          <p:nvPr/>
        </p:nvSpPr>
        <p:spPr>
          <a:xfrm>
            <a:off x="7360920" y="2350080"/>
            <a:ext cx="1691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15–30°C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8"/>
          <p:cNvSpPr/>
          <p:nvPr/>
        </p:nvSpPr>
        <p:spPr>
          <a:xfrm>
            <a:off x="9144000" y="235908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faixa simulada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9"/>
          <p:cNvSpPr/>
          <p:nvPr/>
        </p:nvSpPr>
        <p:spPr>
          <a:xfrm>
            <a:off x="6309360" y="3337560"/>
            <a:ext cx="4891680" cy="78588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0"/>
          <p:cNvSpPr/>
          <p:nvPr/>
        </p:nvSpPr>
        <p:spPr>
          <a:xfrm>
            <a:off x="6473880" y="3502080"/>
            <a:ext cx="776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1"/>
          <p:cNvSpPr/>
          <p:nvPr/>
        </p:nvSpPr>
        <p:spPr>
          <a:xfrm>
            <a:off x="7360920" y="3493080"/>
            <a:ext cx="1691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20 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32"/>
          <p:cNvSpPr/>
          <p:nvPr/>
        </p:nvSpPr>
        <p:spPr>
          <a:xfrm>
            <a:off x="9144000" y="350208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tempo de crescimento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3"/>
          <p:cNvSpPr/>
          <p:nvPr/>
        </p:nvSpPr>
        <p:spPr>
          <a:xfrm>
            <a:off x="960120" y="576072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Sugestão: mostrar três cenários de k. k alto ≈ Poisson; k baixo = maior agregação e maior chance de eventos extremos.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34"/>
          <p:cNvSpPr/>
          <p:nvPr/>
        </p:nvSpPr>
        <p:spPr>
          <a:xfrm>
            <a:off x="11475720" y="6473880"/>
            <a:ext cx="255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8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0"/>
          <p:cNvSpPr/>
          <p:nvPr/>
        </p:nvSpPr>
        <p:spPr>
          <a:xfrm>
            <a:off x="0" y="0"/>
            <a:ext cx="12191400" cy="65808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502920" y="146160"/>
            <a:ext cx="8869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Gráfico-chave para a nova apresentação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9555480" y="173880"/>
            <a:ext cx="2057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probabilidade de ultrapassar o limite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4"/>
          <p:cNvSpPr/>
          <p:nvPr/>
        </p:nvSpPr>
        <p:spPr>
          <a:xfrm>
            <a:off x="502920" y="6473880"/>
            <a:ext cx="32914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5"/>
          <p:cNvSpPr/>
          <p:nvPr/>
        </p:nvSpPr>
        <p:spPr>
          <a:xfrm>
            <a:off x="868680" y="1051560"/>
            <a:ext cx="6400440" cy="434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6"/>
          <p:cNvSpPr/>
          <p:nvPr/>
        </p:nvSpPr>
        <p:spPr>
          <a:xfrm>
            <a:off x="1325880" y="4892040"/>
            <a:ext cx="5257800" cy="360"/>
          </a:xfrm>
          <a:prstGeom prst="line">
            <a:avLst/>
          </a:prstGeom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7"/>
          <p:cNvSpPr/>
          <p:nvPr/>
        </p:nvSpPr>
        <p:spPr>
          <a:xfrm>
            <a:off x="1325880" y="1417320"/>
            <a:ext cx="360" cy="3474720"/>
          </a:xfrm>
          <a:prstGeom prst="line">
            <a:avLst/>
          </a:prstGeom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8"/>
          <p:cNvSpPr/>
          <p:nvPr/>
        </p:nvSpPr>
        <p:spPr>
          <a:xfrm>
            <a:off x="3291840" y="507492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(°C)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9"/>
          <p:cNvSpPr/>
          <p:nvPr/>
        </p:nvSpPr>
        <p:spPr>
          <a:xfrm rot="16200000">
            <a:off x="896040" y="1234800"/>
            <a:ext cx="914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P(X &gt; limite)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0"/>
          <p:cNvSpPr/>
          <p:nvPr/>
        </p:nvSpPr>
        <p:spPr>
          <a:xfrm flipV="1">
            <a:off x="1417320" y="4389120"/>
            <a:ext cx="1051560" cy="2743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1"/>
          <p:cNvSpPr/>
          <p:nvPr/>
        </p:nvSpPr>
        <p:spPr>
          <a:xfrm flipV="1">
            <a:off x="2468880" y="3657600"/>
            <a:ext cx="1005840" cy="7315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2"/>
          <p:cNvSpPr/>
          <p:nvPr/>
        </p:nvSpPr>
        <p:spPr>
          <a:xfrm flipV="1">
            <a:off x="3474720" y="2560320"/>
            <a:ext cx="1005840" cy="109728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3"/>
          <p:cNvSpPr/>
          <p:nvPr/>
        </p:nvSpPr>
        <p:spPr>
          <a:xfrm flipV="1">
            <a:off x="4480560" y="1828800"/>
            <a:ext cx="960120" cy="7315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4"/>
          <p:cNvSpPr/>
          <p:nvPr/>
        </p:nvSpPr>
        <p:spPr>
          <a:xfrm flipV="1">
            <a:off x="1417320" y="4343400"/>
            <a:ext cx="960120" cy="13716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5"/>
          <p:cNvSpPr/>
          <p:nvPr/>
        </p:nvSpPr>
        <p:spPr>
          <a:xfrm flipV="1">
            <a:off x="2377440" y="3840480"/>
            <a:ext cx="914400" cy="50292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6"/>
          <p:cNvSpPr/>
          <p:nvPr/>
        </p:nvSpPr>
        <p:spPr>
          <a:xfrm flipV="1">
            <a:off x="3291840" y="2788920"/>
            <a:ext cx="868680" cy="105156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7"/>
          <p:cNvSpPr/>
          <p:nvPr/>
        </p:nvSpPr>
        <p:spPr>
          <a:xfrm flipV="1">
            <a:off x="4160520" y="1463040"/>
            <a:ext cx="868680" cy="132588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8"/>
          <p:cNvSpPr/>
          <p:nvPr/>
        </p:nvSpPr>
        <p:spPr>
          <a:xfrm>
            <a:off x="5440680" y="1234440"/>
            <a:ext cx="15084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4c956c"/>
                </a:solidFill>
                <a:effectLst/>
                <a:uFillTx/>
                <a:latin typeface="Aptos"/>
              </a:rPr>
              <a:t>Binomial negativa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9"/>
          <p:cNvSpPr/>
          <p:nvPr/>
        </p:nvSpPr>
        <p:spPr>
          <a:xfrm>
            <a:off x="5440680" y="1828800"/>
            <a:ext cx="1005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Poisson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0"/>
          <p:cNvSpPr/>
          <p:nvPr/>
        </p:nvSpPr>
        <p:spPr>
          <a:xfrm>
            <a:off x="7635240" y="1188720"/>
            <a:ext cx="3611520" cy="150840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1"/>
          <p:cNvSpPr/>
          <p:nvPr/>
        </p:nvSpPr>
        <p:spPr>
          <a:xfrm>
            <a:off x="7818120" y="1353240"/>
            <a:ext cx="3245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Mensagem central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2"/>
          <p:cNvSpPr/>
          <p:nvPr/>
        </p:nvSpPr>
        <p:spPr>
          <a:xfrm>
            <a:off x="7818120" y="1691640"/>
            <a:ext cx="32457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Para a mesma média μ, a binomial negativa tende a estimar maior probabilidade de exceder limites seguros, principalmente quando há superdispersão.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23"/>
          <p:cNvSpPr/>
          <p:nvPr/>
        </p:nvSpPr>
        <p:spPr>
          <a:xfrm>
            <a:off x="7635240" y="3063240"/>
            <a:ext cx="3611520" cy="150840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4"/>
          <p:cNvSpPr/>
          <p:nvPr/>
        </p:nvSpPr>
        <p:spPr>
          <a:xfrm>
            <a:off x="7818120" y="3227760"/>
            <a:ext cx="3245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Como explicar no seminário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5"/>
          <p:cNvSpPr/>
          <p:nvPr/>
        </p:nvSpPr>
        <p:spPr>
          <a:xfrm>
            <a:off x="7818120" y="3566160"/>
            <a:ext cx="32457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“O crescimento logístico evita exageros na média, mas a binomial negativa reconhece que amostras ambientais podem ter picos extremos.”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6"/>
          <p:cNvSpPr/>
          <p:nvPr/>
        </p:nvSpPr>
        <p:spPr>
          <a:xfrm>
            <a:off x="11475720" y="6473880"/>
            <a:ext cx="255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9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Shape 0"/>
          <p:cNvSpPr/>
          <p:nvPr/>
        </p:nvSpPr>
        <p:spPr>
          <a:xfrm>
            <a:off x="0" y="0"/>
            <a:ext cx="12191400" cy="65808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502920" y="146160"/>
            <a:ext cx="8869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Estrutura sugerida para a fala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"/>
          <p:cNvSpPr/>
          <p:nvPr/>
        </p:nvSpPr>
        <p:spPr>
          <a:xfrm>
            <a:off x="9555480" y="173880"/>
            <a:ext cx="2057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roteiro de apresentação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4"/>
          <p:cNvSpPr/>
          <p:nvPr/>
        </p:nvSpPr>
        <p:spPr>
          <a:xfrm>
            <a:off x="502920" y="6473880"/>
            <a:ext cx="32914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5"/>
          <p:cNvSpPr/>
          <p:nvPr/>
        </p:nvSpPr>
        <p:spPr>
          <a:xfrm>
            <a:off x="868680" y="1005840"/>
            <a:ext cx="529920" cy="52992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6"/>
          <p:cNvSpPr/>
          <p:nvPr/>
        </p:nvSpPr>
        <p:spPr>
          <a:xfrm>
            <a:off x="1024200" y="1152000"/>
            <a:ext cx="2192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7"/>
          <p:cNvSpPr/>
          <p:nvPr/>
        </p:nvSpPr>
        <p:spPr>
          <a:xfrm>
            <a:off x="1645920" y="1033200"/>
            <a:ext cx="2742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Retomar a Parte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8"/>
          <p:cNvSpPr/>
          <p:nvPr/>
        </p:nvSpPr>
        <p:spPr>
          <a:xfrm>
            <a:off x="4434840" y="1078920"/>
            <a:ext cx="6309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exponencial + Poisson foram úteis, mas simplificam demais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9"/>
          <p:cNvSpPr/>
          <p:nvPr/>
        </p:nvSpPr>
        <p:spPr>
          <a:xfrm>
            <a:off x="868680" y="1965960"/>
            <a:ext cx="529920" cy="52992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0"/>
          <p:cNvSpPr/>
          <p:nvPr/>
        </p:nvSpPr>
        <p:spPr>
          <a:xfrm>
            <a:off x="1024200" y="2112120"/>
            <a:ext cx="2192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1"/>
          <p:cNvSpPr/>
          <p:nvPr/>
        </p:nvSpPr>
        <p:spPr>
          <a:xfrm>
            <a:off x="1645920" y="1993320"/>
            <a:ext cx="2742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Apresentar o logístico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2"/>
          <p:cNvSpPr/>
          <p:nvPr/>
        </p:nvSpPr>
        <p:spPr>
          <a:xfrm>
            <a:off x="4434840" y="2039040"/>
            <a:ext cx="6309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crescimento limitado por capacidade de suporte 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13"/>
          <p:cNvSpPr/>
          <p:nvPr/>
        </p:nvSpPr>
        <p:spPr>
          <a:xfrm>
            <a:off x="868680" y="2926080"/>
            <a:ext cx="529920" cy="52992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4"/>
          <p:cNvSpPr/>
          <p:nvPr/>
        </p:nvSpPr>
        <p:spPr>
          <a:xfrm>
            <a:off x="1024200" y="3072240"/>
            <a:ext cx="2192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5"/>
          <p:cNvSpPr/>
          <p:nvPr/>
        </p:nvSpPr>
        <p:spPr>
          <a:xfrm>
            <a:off x="1645920" y="2953440"/>
            <a:ext cx="2742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Apresentar a binomial negativa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6"/>
          <p:cNvSpPr/>
          <p:nvPr/>
        </p:nvSpPr>
        <p:spPr>
          <a:xfrm>
            <a:off x="4434840" y="2999160"/>
            <a:ext cx="6309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contagens ambientais têm superdispersão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7"/>
          <p:cNvSpPr/>
          <p:nvPr/>
        </p:nvSpPr>
        <p:spPr>
          <a:xfrm>
            <a:off x="868680" y="3886200"/>
            <a:ext cx="529920" cy="52992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8"/>
          <p:cNvSpPr/>
          <p:nvPr/>
        </p:nvSpPr>
        <p:spPr>
          <a:xfrm>
            <a:off x="1024200" y="4032360"/>
            <a:ext cx="2192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9"/>
          <p:cNvSpPr/>
          <p:nvPr/>
        </p:nvSpPr>
        <p:spPr>
          <a:xfrm>
            <a:off x="1645920" y="3913560"/>
            <a:ext cx="2742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Integrar os modelos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0"/>
          <p:cNvSpPr/>
          <p:nvPr/>
        </p:nvSpPr>
        <p:spPr>
          <a:xfrm>
            <a:off x="4434840" y="3959280"/>
            <a:ext cx="6309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 → r(T) → μ(t,T) → P(risco)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21"/>
          <p:cNvSpPr/>
          <p:nvPr/>
        </p:nvSpPr>
        <p:spPr>
          <a:xfrm>
            <a:off x="868680" y="4846320"/>
            <a:ext cx="529920" cy="52992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2"/>
          <p:cNvSpPr/>
          <p:nvPr/>
        </p:nvSpPr>
        <p:spPr>
          <a:xfrm>
            <a:off x="1024200" y="4992480"/>
            <a:ext cx="2192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3"/>
          <p:cNvSpPr/>
          <p:nvPr/>
        </p:nvSpPr>
        <p:spPr>
          <a:xfrm>
            <a:off x="1645920" y="4873680"/>
            <a:ext cx="2742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Comparar resultados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24"/>
          <p:cNvSpPr/>
          <p:nvPr/>
        </p:nvSpPr>
        <p:spPr>
          <a:xfrm>
            <a:off x="4434840" y="4919400"/>
            <a:ext cx="6309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novo modelo é mais realista para praias e dados de campo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25"/>
          <p:cNvSpPr/>
          <p:nvPr/>
        </p:nvSpPr>
        <p:spPr>
          <a:xfrm>
            <a:off x="1097280" y="580644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Fechamento: “A segunda parte melhora a modelagem porque troca crescimento infinito por saturação ecológica e troca variabilidade idealizada por superdispersão.”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6"/>
          <p:cNvSpPr/>
          <p:nvPr/>
        </p:nvSpPr>
        <p:spPr>
          <a:xfrm>
            <a:off x="11475720" y="6473880"/>
            <a:ext cx="255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10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0"/>
          <p:cNvSpPr/>
          <p:nvPr/>
        </p:nvSpPr>
        <p:spPr>
          <a:xfrm>
            <a:off x="0" y="0"/>
            <a:ext cx="12191400" cy="65808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502920" y="146160"/>
            <a:ext cx="8869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Conclusão da Parte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"/>
          <p:cNvSpPr/>
          <p:nvPr/>
        </p:nvSpPr>
        <p:spPr>
          <a:xfrm>
            <a:off x="9555480" y="173880"/>
            <a:ext cx="2057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síntese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4"/>
          <p:cNvSpPr/>
          <p:nvPr/>
        </p:nvSpPr>
        <p:spPr>
          <a:xfrm>
            <a:off x="502920" y="6473880"/>
            <a:ext cx="32914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5"/>
          <p:cNvSpPr/>
          <p:nvPr/>
        </p:nvSpPr>
        <p:spPr>
          <a:xfrm>
            <a:off x="822960" y="1143000"/>
            <a:ext cx="3291480" cy="1828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6"/>
          <p:cNvSpPr/>
          <p:nvPr/>
        </p:nvSpPr>
        <p:spPr>
          <a:xfrm>
            <a:off x="1005840" y="1307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1. Crescimento mais realista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7"/>
          <p:cNvSpPr/>
          <p:nvPr/>
        </p:nvSpPr>
        <p:spPr>
          <a:xfrm>
            <a:off x="1005840" y="1645920"/>
            <a:ext cx="29257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modelo logístico representa a desaceleração natural quando recursos e espaço se tornam limitantes.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8"/>
          <p:cNvSpPr/>
          <p:nvPr/>
        </p:nvSpPr>
        <p:spPr>
          <a:xfrm>
            <a:off x="4434840" y="1143000"/>
            <a:ext cx="3291480" cy="1828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9"/>
          <p:cNvSpPr/>
          <p:nvPr/>
        </p:nvSpPr>
        <p:spPr>
          <a:xfrm>
            <a:off x="4617720" y="1307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2. Risco mais realista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0"/>
          <p:cNvSpPr/>
          <p:nvPr/>
        </p:nvSpPr>
        <p:spPr>
          <a:xfrm>
            <a:off x="4617720" y="1645920"/>
            <a:ext cx="29257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binomial negativa incorpora superdispersão, comum em contagens bacterianas ambientais.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1"/>
          <p:cNvSpPr/>
          <p:nvPr/>
        </p:nvSpPr>
        <p:spPr>
          <a:xfrm>
            <a:off x="8046720" y="1143000"/>
            <a:ext cx="3291480" cy="1828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2"/>
          <p:cNvSpPr/>
          <p:nvPr/>
        </p:nvSpPr>
        <p:spPr>
          <a:xfrm>
            <a:off x="8229600" y="1307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3. Decisão sanitária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3"/>
          <p:cNvSpPr/>
          <p:nvPr/>
        </p:nvSpPr>
        <p:spPr>
          <a:xfrm>
            <a:off x="8229600" y="1645920"/>
            <a:ext cx="29257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modelo passa a estimar P(X &gt; limite seguro) de forma mais conservadora para praias sujeitas a picos de contaminação.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4"/>
          <p:cNvSpPr/>
          <p:nvPr/>
        </p:nvSpPr>
        <p:spPr>
          <a:xfrm>
            <a:off x="1143000" y="39776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3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T ↑  →  r(T) ↑  →  μ aproxima K  →  cauda de risco aumenta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5"/>
          <p:cNvSpPr/>
          <p:nvPr/>
        </p:nvSpPr>
        <p:spPr>
          <a:xfrm>
            <a:off x="1463040" y="4983480"/>
            <a:ext cx="914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mensagem final não é que temperatura explica tudo, mas que ela acelera processos bacterianos em um sistema costeiro limitado e altamente variável.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6"/>
          <p:cNvSpPr/>
          <p:nvPr/>
        </p:nvSpPr>
        <p:spPr>
          <a:xfrm>
            <a:off x="11475720" y="6473880"/>
            <a:ext cx="255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11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0"/>
          <p:cNvSpPr/>
          <p:nvPr/>
        </p:nvSpPr>
        <p:spPr>
          <a:xfrm>
            <a:off x="0" y="0"/>
            <a:ext cx="12191400" cy="65808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"/>
          <p:cNvSpPr/>
          <p:nvPr/>
        </p:nvSpPr>
        <p:spPr>
          <a:xfrm>
            <a:off x="502920" y="146160"/>
            <a:ext cx="8869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Referências para adicionar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"/>
          <p:cNvSpPr/>
          <p:nvPr/>
        </p:nvSpPr>
        <p:spPr>
          <a:xfrm>
            <a:off x="9555480" y="173880"/>
            <a:ext cx="2057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base teórica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4"/>
          <p:cNvSpPr/>
          <p:nvPr/>
        </p:nvSpPr>
        <p:spPr>
          <a:xfrm>
            <a:off x="502920" y="6473880"/>
            <a:ext cx="32914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5"/>
          <p:cNvSpPr/>
          <p:nvPr/>
        </p:nvSpPr>
        <p:spPr>
          <a:xfrm>
            <a:off x="914400" y="1188720"/>
            <a:ext cx="102409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Ratkowsky et al. (1982) — relação entre temperatura e taxa de crescimento bacteriano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Verhulst (1838) — modelo logístico de crescimento populacional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Hilbe (2011) — Negative Binomial Regression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Haas, Rose &amp; Gerba — Quantitative Microbial Risk Assessment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Casella &amp; Berger — Statistical Inference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6"/>
          <p:cNvSpPr/>
          <p:nvPr/>
        </p:nvSpPr>
        <p:spPr>
          <a:xfrm>
            <a:off x="914400" y="416052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Sugestão: manter as referências da Parte 1 e acrescentar fontes específicas sobre crescimento logístico e binomial negativa.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7"/>
          <p:cNvSpPr/>
          <p:nvPr/>
        </p:nvSpPr>
        <p:spPr>
          <a:xfrm>
            <a:off x="11475720" y="6473880"/>
            <a:ext cx="255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12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LibreOffice/25.8.7.3$Linux_X86_64 LibreOffice_project/580$Build-3</Application>
  <AppVersion>15.0000</AppVersion>
  <Words>0</Words>
  <Paragraphs>0</Paragraphs>
  <Company>ChatGPT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2026-05-29T23:49:18Z</dcterms:created>
  <dc:creator>Bruno Cavalli</dc:creator>
  <dc:description/>
  <dc:language>en-US</dc:language>
  <cp:lastModifiedBy/>
  <dcterms:modified xsi:type="dcterms:W3CDTF">2026-05-29T22:45:29Z</dcterms:modified>
  <cp:revision>2</cp:revision>
  <dc:subject>Parte 2 - Modelo logístico e binomial negativa</dc:subject>
  <dc:title>Modelagem matemática do impacto do crescimento bacteriano - Parte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